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Quattrocento Sans" charset="-122" pitchFamily="34"/>
      <p:regular r:id="rId22"/>
    </p:embeddedFont>
    <p:embeddedFont>
      <p:font typeface="Liter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功能完整度</c:v>
                </c:pt>
              </c:strCache>
            </c:strRef>
          </c:tx>
          <c:spPr>
            <a:solidFill>
              <a:srgbClr val="D4AF37"/>
            </a:solidFill>
            <a:ln w="25400" cap="flat">
              <a:solidFill>
                <a:srgbClr val="D4AF37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D4AF37"/>
              </a:solidFill>
              <a:ln w="9525" cap="flat">
                <a:solidFill>
                  <a:srgbClr val="D4AF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便签管理</c:v>
                  </c:pt>
                  <c:pt idx="1">
                    <c:v>知识管理</c:v>
                  </c:pt>
                  <c:pt idx="2">
                    <c:v>任务管理</c:v>
                  </c:pt>
                  <c:pt idx="3">
                    <c:v>记忆复习</c:v>
                  </c:pt>
                  <c:pt idx="4">
                    <c:v>协作分享</c:v>
                  </c:pt>
                  <c:pt idx="5">
                    <c:v>搜索标签</c:v>
                  </c:pt>
                  <c:pt idx="6">
                    <c:v>导入导出</c:v>
                  </c:pt>
                  <c:pt idx="7">
                    <c:v>番茄钟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95</c:v>
                </c:pt>
                <c:pt idx="1">
                  <c:v>90</c:v>
                </c:pt>
                <c:pt idx="2">
                  <c:v>88</c:v>
                </c:pt>
                <c:pt idx="3">
                  <c:v>75</c:v>
                </c:pt>
                <c:pt idx="4">
                  <c:v>70</c:v>
                </c:pt>
                <c:pt idx="5">
                  <c:v>72</c:v>
                </c:pt>
                <c:pt idx="6">
                  <c:v>68</c:v>
                </c:pt>
                <c:pt idx="7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大家好，我们是第三小组。今天为大家带来流知·FlowNote软件需求规格说明的展示。FlowNote是一款面向个人开发者、学生与小团队的一体化知识与任务协作平台，旨在打通从信息捕获到协作分享的完整工作流。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本次展示分为七个部分：项目背景、产品定位、用户与需求、核心功能、分析模型、非功能需求、总结展望。总时长约15分钟。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日常学习和工作中，我们面临四大痛点。第一，碎片信息难以沉淀，灵感和笔记分散在多处。第二，知识管理与任务管理割裂，笔记工具和任务工具互不连通。第三，多工具切换带来效率损耗。第四，学习内容缺少长期记忆机制。这些痛点正是FlowNote要解决的核心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FlowNote的定位是一体化知识与任务协作平台。我们的核心创新在于打通了从便签捕获到知识整理、任务执行、记忆复习、协作分享的完整闭环。这五个环节在一个平台内无缝衔接，消除了多工具切换的成本。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Note面向四类核心用户。项目经理需要快速将会议决策转化为任务；开发者需要代码片段管理和Markdown兼容；学生需要简洁界面和自动复习；创作者需要极低门槛的快速输入。我们针对每类用户的核心需求进行了深度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Note包含八大功能模块。便签管理是最基础的入口，知识管理实现碎片到结构的转化，任务管理连接知识到行动，记忆复习强化长期记忆，协作分享支持团队协同，搜索标签提供全局检索，导入导出保障数据兼容，番茄钟辅助专注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便签管理是FlowNote的入口模块。我们强调低门槛信息捕获，从点击到开始输入平均不超过1步。便签以动态时间线展示，支持标签分类、编辑、归档和删除的完整生命周期管理。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管理模块是FlowNote的核心差异化功能。便签可以一键转化为知识页面，通过Markdown编辑器进行深度整理。双向链接功能让用户输入[[即可建立知识关联，系统自动维护反向链接。知识图谱以力导向图可视化展示所有知识实体间的关联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管理模块实现了从知识到行动的转化。用户可以在笔记中选中文本，一键转化为任务，系统会在看板的待办列中自动创建任务卡片。看板默认包含待办、进行中、已完成三列，支持拖拽改变任务状态。每个任务还可以设置截止日期、优先级和预估工时，并与番茄钟联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记忆复习和协作分享是FlowNote的两个特色功能。记忆复习基于SM-2间隔重复算法，用户从笔记创建问答卡片，系统根据记忆效果动态调整复习间隔。协作分享则通过生成含唯一Token的链接实现，支持只读/可编辑权限控制和有效期设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展示五个核心用例。UC-01创建与查看便签是最基础的入口用例；UC-02便签转知识页面实现了碎片到结构的转化；UC-03创建双向链接建立了知识网络；UC-05笔记内容转任务连接了知识到行动；UC-06任务看板管理提供了可视化的任务追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展示系统的核心数据流。顶层DFD展示了FlowNote系统与外部协作平台的交互边界。第一层DFD将系统分解为四个核心处理过程：P1便签管理、P2知识管理、P3任务管理和P4用户认证。五个数据存储分别对应用户、便签、知识页面、链接关系和任务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展示系统的核心数据模型。主要实体包括User、Note、KnowledgePage、BidirectionalLink、Task、MemoryCard、ShareLink和Tag。关键关系包括：用户与各类内容的1:N创建关系、便签到知识页面的1:0..1转化关系、知识实体间的N:M双向链接关系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功能需求从四个维度保障系统质量。性能方面，便签创建95%请求在1秒内完成；安全方面，采用bcrypt密码加密、HTTPS传输、Token分享链接；可用性方面，提供统一Toast反馈、快捷键支持和浏览器兼容；可维护性方面，采用前后端分层架构和模块化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来看，FlowNote的核心价值在于四个方面：降低信息捕获成本、打通知识与任务、支持长期记忆、支持轻量协作。未来我们计划引入AI辅助整理、跨设备同步、插件市场和团队协作增强等功能。让碎片信息自然流动为知识与行动，这是我们的愿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 flip="none">
          <a:gsLst>
            <a:gs pos="0">
              <a:srgbClr val="0B1426"/>
            </a:gs>
            <a:gs pos="100000">
              <a:srgbClr val="162544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588000" y="2286000"/>
            <a:ext cx="5080000" cy="0"/>
          </a:xfrm>
          <a:prstGeom prst="straightConnector1">
            <a:avLst/>
          </a:prstGeom>
          <a:noFill/>
          <a:ln w="12700">
            <a:solidFill>
              <a:srgbClr val="D4AF37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Text 1"/>
          <p:cNvSpPr/>
          <p:nvPr/>
        </p:nvSpPr>
        <p:spPr>
          <a:xfrm>
            <a:off x="1778000" y="2667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流知·FlowNote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3048000" y="3810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软件需求规格说明展示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83000" y="457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一体化知识与任务协作平台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88000" y="5334000"/>
            <a:ext cx="5080000" cy="0"/>
          </a:xfrm>
          <a:prstGeom prst="straightConnector1">
            <a:avLst/>
          </a:prstGeom>
          <a:noFill/>
          <a:ln w="12700">
            <a:solidFill>
              <a:srgbClr val="D4AF37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/>
          <p:nvPr/>
        </p:nvSpPr>
        <p:spPr>
          <a:xfrm>
            <a:off x="3048000" y="5842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第三小组：全坤 杜承敖 肖昌珅 金奕辰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软件工程课程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59050" y="7366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285750"/>
                </a:moveTo>
                <a:cubicBezTo>
                  <a:pt x="17085" y="285750"/>
                  <a:pt x="0" y="268665"/>
                  <a:pt x="0" y="247650"/>
                </a:cubicBezTo>
                <a:lnTo>
                  <a:pt x="0" y="57150"/>
                </a:lnTo>
                <a:cubicBezTo>
                  <a:pt x="0" y="36135"/>
                  <a:pt x="17085" y="19050"/>
                  <a:pt x="38100" y="19050"/>
                </a:cubicBezTo>
                <a:lnTo>
                  <a:pt x="228600" y="19050"/>
                </a:lnTo>
                <a:cubicBezTo>
                  <a:pt x="249615" y="19050"/>
                  <a:pt x="266700" y="36135"/>
                  <a:pt x="266700" y="57150"/>
                </a:cubicBezTo>
                <a:lnTo>
                  <a:pt x="266700" y="184249"/>
                </a:lnTo>
                <a:cubicBezTo>
                  <a:pt x="266700" y="194370"/>
                  <a:pt x="262711" y="204073"/>
                  <a:pt x="255568" y="211217"/>
                </a:cubicBezTo>
                <a:lnTo>
                  <a:pt x="192107" y="274618"/>
                </a:lnTo>
                <a:cubicBezTo>
                  <a:pt x="184964" y="281761"/>
                  <a:pt x="175260" y="285750"/>
                  <a:pt x="165140" y="285750"/>
                </a:cubicBezTo>
                <a:lnTo>
                  <a:pt x="38100" y="285750"/>
                </a:lnTo>
                <a:close/>
                <a:moveTo>
                  <a:pt x="231874" y="180975"/>
                </a:moveTo>
                <a:lnTo>
                  <a:pt x="176212" y="180975"/>
                </a:lnTo>
                <a:cubicBezTo>
                  <a:pt x="168295" y="180975"/>
                  <a:pt x="161925" y="187345"/>
                  <a:pt x="161925" y="195263"/>
                </a:cubicBezTo>
                <a:lnTo>
                  <a:pt x="161925" y="250924"/>
                </a:lnTo>
                <a:lnTo>
                  <a:pt x="231874" y="180975"/>
                </a:lnTo>
                <a:close/>
              </a:path>
            </a:pathLst>
          </a:custGeom>
          <a:solidFill>
            <a:srgbClr val="D4AF37">
              <a:alpha val="25098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9756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7625"/>
                </a:moveTo>
                <a:cubicBezTo>
                  <a:pt x="0" y="31849"/>
                  <a:pt x="12799" y="19050"/>
                  <a:pt x="28575" y="19050"/>
                </a:cubicBezTo>
                <a:lnTo>
                  <a:pt x="85725" y="19050"/>
                </a:lnTo>
                <a:cubicBezTo>
                  <a:pt x="101501" y="19050"/>
                  <a:pt x="114300" y="31849"/>
                  <a:pt x="114300" y="47625"/>
                </a:cubicBezTo>
                <a:lnTo>
                  <a:pt x="114300" y="57150"/>
                </a:lnTo>
                <a:lnTo>
                  <a:pt x="190500" y="57150"/>
                </a:lnTo>
                <a:lnTo>
                  <a:pt x="190500" y="47625"/>
                </a:lnTo>
                <a:cubicBezTo>
                  <a:pt x="190500" y="31849"/>
                  <a:pt x="203299" y="19050"/>
                  <a:pt x="219075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104775"/>
                </a:lnTo>
                <a:cubicBezTo>
                  <a:pt x="304800" y="120551"/>
                  <a:pt x="292001" y="133350"/>
                  <a:pt x="276225" y="133350"/>
                </a:cubicBezTo>
                <a:lnTo>
                  <a:pt x="219075" y="133350"/>
                </a:lnTo>
                <a:cubicBezTo>
                  <a:pt x="203299" y="133350"/>
                  <a:pt x="190500" y="120551"/>
                  <a:pt x="190500" y="104775"/>
                </a:cubicBezTo>
                <a:lnTo>
                  <a:pt x="190500" y="95250"/>
                </a:lnTo>
                <a:lnTo>
                  <a:pt x="114300" y="95250"/>
                </a:lnTo>
                <a:lnTo>
                  <a:pt x="114300" y="104775"/>
                </a:lnTo>
                <a:cubicBezTo>
                  <a:pt x="114300" y="109121"/>
                  <a:pt x="113288" y="113288"/>
                  <a:pt x="111562" y="116979"/>
                </a:cubicBezTo>
                <a:lnTo>
                  <a:pt x="152400" y="171450"/>
                </a:lnTo>
                <a:lnTo>
                  <a:pt x="200025" y="171450"/>
                </a:lnTo>
                <a:cubicBezTo>
                  <a:pt x="215801" y="171450"/>
                  <a:pt x="228600" y="184249"/>
                  <a:pt x="228600" y="200025"/>
                </a:cubicBezTo>
                <a:lnTo>
                  <a:pt x="228600" y="257175"/>
                </a:lnTo>
                <a:cubicBezTo>
                  <a:pt x="228600" y="272951"/>
                  <a:pt x="215801" y="285750"/>
                  <a:pt x="200025" y="285750"/>
                </a:cubicBezTo>
                <a:lnTo>
                  <a:pt x="142875" y="285750"/>
                </a:lnTo>
                <a:cubicBezTo>
                  <a:pt x="127099" y="285750"/>
                  <a:pt x="114300" y="272951"/>
                  <a:pt x="114300" y="257175"/>
                </a:cubicBezTo>
                <a:lnTo>
                  <a:pt x="114300" y="200025"/>
                </a:lnTo>
                <a:cubicBezTo>
                  <a:pt x="114300" y="195679"/>
                  <a:pt x="115312" y="191512"/>
                  <a:pt x="117038" y="187821"/>
                </a:cubicBezTo>
                <a:lnTo>
                  <a:pt x="76200" y="133350"/>
                </a:lnTo>
                <a:lnTo>
                  <a:pt x="28575" y="133350"/>
                </a:lnTo>
                <a:cubicBezTo>
                  <a:pt x="12799" y="133350"/>
                  <a:pt x="0" y="120551"/>
                  <a:pt x="0" y="104775"/>
                </a:cubicBezTo>
                <a:lnTo>
                  <a:pt x="0" y="47625"/>
                </a:lnTo>
                <a:close/>
              </a:path>
            </a:pathLst>
          </a:custGeom>
          <a:solidFill>
            <a:srgbClr val="D4AF37">
              <a:alpha val="25098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3373100" y="7366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D4AF37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rotWithShape="1" flip="none">
          <a:gsLst>
            <a:gs pos="0">
              <a:srgbClr val="0B1426"/>
            </a:gs>
            <a:gs pos="100000">
              <a:srgbClr val="162544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65200" y="635000"/>
            <a:ext cx="4876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展示目录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651000"/>
            <a:ext cx="4572000" cy="1524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6000" y="18415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41500" y="1968500"/>
            <a:ext cx="317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项目背景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41500" y="2476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痛点分析与问题定义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42000" y="1651000"/>
            <a:ext cx="4572000" cy="1524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96000" y="18415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12000" y="1968500"/>
            <a:ext cx="2984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产品定位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12000" y="2476500"/>
            <a:ext cx="298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核心闭环与工作流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922000" y="1651000"/>
            <a:ext cx="4572000" cy="1524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6000" y="18415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192000" y="1968500"/>
            <a:ext cx="2984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用户与需求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192000" y="2476500"/>
            <a:ext cx="298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目标用户画像分析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3683000"/>
            <a:ext cx="4572000" cy="1524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16000" y="38735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032000" y="4000500"/>
            <a:ext cx="2984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032000" y="4508500"/>
            <a:ext cx="298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四大核心模块详解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842000" y="3683000"/>
            <a:ext cx="4572000" cy="1524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96000" y="38735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112000" y="4000500"/>
            <a:ext cx="2984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分析模型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112000" y="4508500"/>
            <a:ext cx="298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用例、数据流与实体模型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0922000" y="3683000"/>
            <a:ext cx="4572000" cy="1524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176000" y="38735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2192000" y="4000500"/>
            <a:ext cx="2984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非功能需求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2192000" y="4508500"/>
            <a:ext cx="298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性能、安全与可用性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842000" y="5715000"/>
            <a:ext cx="4572000" cy="1524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96000" y="59055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112000" y="6032500"/>
            <a:ext cx="2984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总结展望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112000" y="6540500"/>
            <a:ext cx="298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核心价值与未来规划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rotWithShape="1" flip="none">
          <a:gsLst>
            <a:gs pos="0">
              <a:srgbClr val="0B1426"/>
            </a:gs>
            <a:gs pos="100000">
              <a:srgbClr val="162544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1"/>
          <p:cNvSpPr/>
          <p:nvPr/>
        </p:nvSpPr>
        <p:spPr>
          <a:xfrm>
            <a:off x="965200" y="63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项目背景与痛点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62000" y="1651000"/>
            <a:ext cx="7112000" cy="2921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2250" y="0"/>
                </a:moveTo>
                <a:cubicBezTo>
                  <a:pt x="257274" y="0"/>
                  <a:pt x="285750" y="21332"/>
                  <a:pt x="285750" y="47625"/>
                </a:cubicBezTo>
                <a:cubicBezTo>
                  <a:pt x="285750" y="57944"/>
                  <a:pt x="281384" y="67469"/>
                  <a:pt x="273844" y="75307"/>
                </a:cubicBezTo>
                <a:cubicBezTo>
                  <a:pt x="267295" y="82153"/>
                  <a:pt x="261937" y="90488"/>
                  <a:pt x="261937" y="100013"/>
                </a:cubicBezTo>
                <a:cubicBezTo>
                  <a:pt x="261937" y="114895"/>
                  <a:pt x="274042" y="127000"/>
                  <a:pt x="288925" y="127000"/>
                </a:cubicBezTo>
                <a:lnTo>
                  <a:pt x="333375" y="127000"/>
                </a:lnTo>
                <a:cubicBezTo>
                  <a:pt x="359668" y="127000"/>
                  <a:pt x="381000" y="148332"/>
                  <a:pt x="381000" y="174625"/>
                </a:cubicBezTo>
                <a:lnTo>
                  <a:pt x="381000" y="219075"/>
                </a:lnTo>
                <a:cubicBezTo>
                  <a:pt x="381000" y="233958"/>
                  <a:pt x="393105" y="246063"/>
                  <a:pt x="407988" y="246063"/>
                </a:cubicBezTo>
                <a:cubicBezTo>
                  <a:pt x="417413" y="246063"/>
                  <a:pt x="425847" y="240705"/>
                  <a:pt x="432693" y="234156"/>
                </a:cubicBezTo>
                <a:cubicBezTo>
                  <a:pt x="440531" y="226715"/>
                  <a:pt x="450056" y="222250"/>
                  <a:pt x="460375" y="222250"/>
                </a:cubicBezTo>
                <a:cubicBezTo>
                  <a:pt x="486668" y="222250"/>
                  <a:pt x="508000" y="250726"/>
                  <a:pt x="508000" y="285750"/>
                </a:cubicBezTo>
                <a:cubicBezTo>
                  <a:pt x="508000" y="320774"/>
                  <a:pt x="486668" y="349250"/>
                  <a:pt x="460375" y="349250"/>
                </a:cubicBezTo>
                <a:cubicBezTo>
                  <a:pt x="450056" y="349250"/>
                  <a:pt x="440432" y="344884"/>
                  <a:pt x="432693" y="337344"/>
                </a:cubicBezTo>
                <a:cubicBezTo>
                  <a:pt x="425847" y="330795"/>
                  <a:pt x="417513" y="325438"/>
                  <a:pt x="407988" y="325438"/>
                </a:cubicBezTo>
                <a:cubicBezTo>
                  <a:pt x="393105" y="325438"/>
                  <a:pt x="381000" y="337542"/>
                  <a:pt x="381000" y="352425"/>
                </a:cubicBezTo>
                <a:lnTo>
                  <a:pt x="381000" y="460375"/>
                </a:lnTo>
                <a:cubicBezTo>
                  <a:pt x="381000" y="486668"/>
                  <a:pt x="359668" y="508000"/>
                  <a:pt x="333375" y="508000"/>
                </a:cubicBezTo>
                <a:lnTo>
                  <a:pt x="277019" y="508000"/>
                </a:lnTo>
                <a:cubicBezTo>
                  <a:pt x="264319" y="508000"/>
                  <a:pt x="254000" y="497681"/>
                  <a:pt x="254000" y="484981"/>
                </a:cubicBezTo>
                <a:cubicBezTo>
                  <a:pt x="254000" y="475853"/>
                  <a:pt x="259755" y="467816"/>
                  <a:pt x="267097" y="462359"/>
                </a:cubicBezTo>
                <a:cubicBezTo>
                  <a:pt x="278606" y="453727"/>
                  <a:pt x="285750" y="441821"/>
                  <a:pt x="285750" y="428625"/>
                </a:cubicBezTo>
                <a:cubicBezTo>
                  <a:pt x="285750" y="402332"/>
                  <a:pt x="257274" y="381000"/>
                  <a:pt x="222250" y="381000"/>
                </a:cubicBezTo>
                <a:cubicBezTo>
                  <a:pt x="187226" y="381000"/>
                  <a:pt x="158750" y="402332"/>
                  <a:pt x="158750" y="428625"/>
                </a:cubicBezTo>
                <a:cubicBezTo>
                  <a:pt x="158750" y="441821"/>
                  <a:pt x="165894" y="453727"/>
                  <a:pt x="177403" y="462359"/>
                </a:cubicBezTo>
                <a:cubicBezTo>
                  <a:pt x="184745" y="467816"/>
                  <a:pt x="190500" y="475754"/>
                  <a:pt x="190500" y="484981"/>
                </a:cubicBezTo>
                <a:cubicBezTo>
                  <a:pt x="190500" y="497681"/>
                  <a:pt x="180181" y="508000"/>
                  <a:pt x="167481" y="508000"/>
                </a:cubicBezTo>
                <a:lnTo>
                  <a:pt x="47625" y="508000"/>
                </a:lnTo>
                <a:cubicBezTo>
                  <a:pt x="21332" y="508000"/>
                  <a:pt x="0" y="486668"/>
                  <a:pt x="0" y="460375"/>
                </a:cubicBezTo>
                <a:lnTo>
                  <a:pt x="0" y="340519"/>
                </a:lnTo>
                <a:cubicBezTo>
                  <a:pt x="0" y="327819"/>
                  <a:pt x="10319" y="317500"/>
                  <a:pt x="23019" y="317500"/>
                </a:cubicBezTo>
                <a:cubicBezTo>
                  <a:pt x="32147" y="317500"/>
                  <a:pt x="40184" y="323255"/>
                  <a:pt x="45641" y="330597"/>
                </a:cubicBezTo>
                <a:cubicBezTo>
                  <a:pt x="54273" y="342106"/>
                  <a:pt x="66179" y="349250"/>
                  <a:pt x="79375" y="349250"/>
                </a:cubicBezTo>
                <a:cubicBezTo>
                  <a:pt x="105668" y="349250"/>
                  <a:pt x="127000" y="320774"/>
                  <a:pt x="127000" y="285750"/>
                </a:cubicBezTo>
                <a:cubicBezTo>
                  <a:pt x="127000" y="250726"/>
                  <a:pt x="105668" y="222250"/>
                  <a:pt x="79375" y="222250"/>
                </a:cubicBezTo>
                <a:cubicBezTo>
                  <a:pt x="66179" y="222250"/>
                  <a:pt x="54273" y="229394"/>
                  <a:pt x="45641" y="240903"/>
                </a:cubicBezTo>
                <a:cubicBezTo>
                  <a:pt x="40184" y="248245"/>
                  <a:pt x="32246" y="254000"/>
                  <a:pt x="23019" y="254000"/>
                </a:cubicBezTo>
                <a:cubicBezTo>
                  <a:pt x="10319" y="254000"/>
                  <a:pt x="0" y="243681"/>
                  <a:pt x="0" y="230981"/>
                </a:cubicBezTo>
                <a:lnTo>
                  <a:pt x="0" y="174625"/>
                </a:lnTo>
                <a:cubicBezTo>
                  <a:pt x="0" y="148332"/>
                  <a:pt x="21332" y="127000"/>
                  <a:pt x="47625" y="127000"/>
                </a:cubicBezTo>
                <a:lnTo>
                  <a:pt x="155575" y="127000"/>
                </a:lnTo>
                <a:cubicBezTo>
                  <a:pt x="170458" y="127000"/>
                  <a:pt x="182563" y="114895"/>
                  <a:pt x="182563" y="100013"/>
                </a:cubicBezTo>
                <a:cubicBezTo>
                  <a:pt x="182563" y="90587"/>
                  <a:pt x="177205" y="82153"/>
                  <a:pt x="170656" y="75307"/>
                </a:cubicBezTo>
                <a:cubicBezTo>
                  <a:pt x="163215" y="67469"/>
                  <a:pt x="158750" y="57944"/>
                  <a:pt x="158750" y="47625"/>
                </a:cubicBezTo>
                <a:cubicBezTo>
                  <a:pt x="158750" y="21332"/>
                  <a:pt x="187226" y="0"/>
                  <a:pt x="22225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1905000" y="2032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碎片信息难以沉淀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27305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灵感、笔记分散在多处，缺乏统一入口。会议记录、代码片段、学习心得散落在不同应用中，需要时难以快速找到。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382000" y="1651000"/>
            <a:ext cx="7112000" cy="2921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94750" y="2032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79375" y="103188"/>
                </a:moveTo>
                <a:cubicBezTo>
                  <a:pt x="92517" y="103188"/>
                  <a:pt x="103188" y="92517"/>
                  <a:pt x="103188" y="79375"/>
                </a:cubicBezTo>
                <a:cubicBezTo>
                  <a:pt x="103188" y="66233"/>
                  <a:pt x="92517" y="55563"/>
                  <a:pt x="79375" y="55563"/>
                </a:cubicBezTo>
                <a:cubicBezTo>
                  <a:pt x="66233" y="55563"/>
                  <a:pt x="55563" y="66233"/>
                  <a:pt x="55563" y="79375"/>
                </a:cubicBezTo>
                <a:cubicBezTo>
                  <a:pt x="55563" y="92517"/>
                  <a:pt x="66233" y="103188"/>
                  <a:pt x="79375" y="103188"/>
                </a:cubicBezTo>
                <a:close/>
                <a:moveTo>
                  <a:pt x="158750" y="79375"/>
                </a:moveTo>
                <a:cubicBezTo>
                  <a:pt x="158750" y="111919"/>
                  <a:pt x="139204" y="139898"/>
                  <a:pt x="111125" y="152102"/>
                </a:cubicBezTo>
                <a:lnTo>
                  <a:pt x="111125" y="222250"/>
                </a:lnTo>
                <a:lnTo>
                  <a:pt x="285750" y="222250"/>
                </a:lnTo>
                <a:cubicBezTo>
                  <a:pt x="312043" y="222250"/>
                  <a:pt x="333375" y="200918"/>
                  <a:pt x="333375" y="174625"/>
                </a:cubicBezTo>
                <a:lnTo>
                  <a:pt x="333375" y="152102"/>
                </a:lnTo>
                <a:cubicBezTo>
                  <a:pt x="305296" y="139898"/>
                  <a:pt x="285750" y="111919"/>
                  <a:pt x="285750" y="79375"/>
                </a:cubicBezTo>
                <a:cubicBezTo>
                  <a:pt x="285750" y="35520"/>
                  <a:pt x="321270" y="0"/>
                  <a:pt x="365125" y="0"/>
                </a:cubicBezTo>
                <a:cubicBezTo>
                  <a:pt x="408980" y="0"/>
                  <a:pt x="444500" y="35520"/>
                  <a:pt x="444500" y="79375"/>
                </a:cubicBezTo>
                <a:cubicBezTo>
                  <a:pt x="444500" y="111919"/>
                  <a:pt x="424954" y="139898"/>
                  <a:pt x="396875" y="152102"/>
                </a:cubicBezTo>
                <a:lnTo>
                  <a:pt x="396875" y="174625"/>
                </a:lnTo>
                <a:cubicBezTo>
                  <a:pt x="396875" y="236041"/>
                  <a:pt x="347166" y="285750"/>
                  <a:pt x="285750" y="285750"/>
                </a:cubicBezTo>
                <a:lnTo>
                  <a:pt x="111125" y="285750"/>
                </a:lnTo>
                <a:lnTo>
                  <a:pt x="111125" y="355898"/>
                </a:lnTo>
                <a:cubicBezTo>
                  <a:pt x="139204" y="368102"/>
                  <a:pt x="158750" y="396081"/>
                  <a:pt x="158750" y="428625"/>
                </a:cubicBezTo>
                <a:cubicBezTo>
                  <a:pt x="158750" y="472480"/>
                  <a:pt x="123230" y="508000"/>
                  <a:pt x="79375" y="508000"/>
                </a:cubicBezTo>
                <a:cubicBezTo>
                  <a:pt x="35520" y="508000"/>
                  <a:pt x="0" y="472480"/>
                  <a:pt x="0" y="428625"/>
                </a:cubicBezTo>
                <a:cubicBezTo>
                  <a:pt x="0" y="396081"/>
                  <a:pt x="19546" y="368102"/>
                  <a:pt x="47625" y="355898"/>
                </a:cubicBezTo>
                <a:lnTo>
                  <a:pt x="47625" y="152202"/>
                </a:lnTo>
                <a:cubicBezTo>
                  <a:pt x="19546" y="139898"/>
                  <a:pt x="0" y="111919"/>
                  <a:pt x="0" y="79375"/>
                </a:cubicBezTo>
                <a:cubicBezTo>
                  <a:pt x="0" y="35520"/>
                  <a:pt x="35520" y="0"/>
                  <a:pt x="79375" y="0"/>
                </a:cubicBezTo>
                <a:cubicBezTo>
                  <a:pt x="123230" y="0"/>
                  <a:pt x="158750" y="35520"/>
                  <a:pt x="158750" y="79375"/>
                </a:cubicBezTo>
                <a:close/>
                <a:moveTo>
                  <a:pt x="388938" y="79375"/>
                </a:moveTo>
                <a:cubicBezTo>
                  <a:pt x="388938" y="66233"/>
                  <a:pt x="378267" y="55563"/>
                  <a:pt x="365125" y="55563"/>
                </a:cubicBezTo>
                <a:cubicBezTo>
                  <a:pt x="351983" y="55563"/>
                  <a:pt x="341313" y="66233"/>
                  <a:pt x="341313" y="79375"/>
                </a:cubicBezTo>
                <a:cubicBezTo>
                  <a:pt x="341313" y="92517"/>
                  <a:pt x="351983" y="103188"/>
                  <a:pt x="365125" y="103188"/>
                </a:cubicBezTo>
                <a:cubicBezTo>
                  <a:pt x="378267" y="103188"/>
                  <a:pt x="388938" y="92517"/>
                  <a:pt x="388938" y="79375"/>
                </a:cubicBezTo>
                <a:close/>
                <a:moveTo>
                  <a:pt x="79375" y="452437"/>
                </a:moveTo>
                <a:cubicBezTo>
                  <a:pt x="92517" y="452437"/>
                  <a:pt x="103188" y="441767"/>
                  <a:pt x="103188" y="428625"/>
                </a:cubicBezTo>
                <a:cubicBezTo>
                  <a:pt x="103188" y="415483"/>
                  <a:pt x="92517" y="404813"/>
                  <a:pt x="79375" y="404813"/>
                </a:cubicBezTo>
                <a:cubicBezTo>
                  <a:pt x="66233" y="404813"/>
                  <a:pt x="55563" y="415483"/>
                  <a:pt x="55563" y="428625"/>
                </a:cubicBezTo>
                <a:cubicBezTo>
                  <a:pt x="55563" y="441767"/>
                  <a:pt x="66233" y="452437"/>
                  <a:pt x="79375" y="452437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0" y="2032000"/>
            <a:ext cx="444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知识管理与任务管理割裂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763000" y="27305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笔记工具与任务工具互不连通，知识沉淀与行动执行之间缺少桥梁，导致"记了笔记却忘了行动"。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2000" y="5080000"/>
            <a:ext cx="7112000" cy="2921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430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5385" y="226715"/>
                </a:moveTo>
                <a:cubicBezTo>
                  <a:pt x="78581" y="134441"/>
                  <a:pt x="158055" y="63500"/>
                  <a:pt x="254000" y="63500"/>
                </a:cubicBezTo>
                <a:cubicBezTo>
                  <a:pt x="306586" y="63500"/>
                  <a:pt x="354211" y="84832"/>
                  <a:pt x="388739" y="119261"/>
                </a:cubicBezTo>
                <a:cubicBezTo>
                  <a:pt x="388938" y="119459"/>
                  <a:pt x="389136" y="119658"/>
                  <a:pt x="389334" y="119856"/>
                </a:cubicBezTo>
                <a:lnTo>
                  <a:pt x="396875" y="127000"/>
                </a:lnTo>
                <a:lnTo>
                  <a:pt x="349349" y="127000"/>
                </a:lnTo>
                <a:cubicBezTo>
                  <a:pt x="331788" y="127000"/>
                  <a:pt x="317599" y="141188"/>
                  <a:pt x="317599" y="158750"/>
                </a:cubicBezTo>
                <a:cubicBezTo>
                  <a:pt x="317599" y="176312"/>
                  <a:pt x="331788" y="190500"/>
                  <a:pt x="349349" y="190500"/>
                </a:cubicBezTo>
                <a:lnTo>
                  <a:pt x="476349" y="190500"/>
                </a:lnTo>
                <a:cubicBezTo>
                  <a:pt x="493911" y="190500"/>
                  <a:pt x="508099" y="176312"/>
                  <a:pt x="508099" y="158750"/>
                </a:cubicBezTo>
                <a:lnTo>
                  <a:pt x="508099" y="31750"/>
                </a:lnTo>
                <a:cubicBezTo>
                  <a:pt x="508099" y="14188"/>
                  <a:pt x="493911" y="0"/>
                  <a:pt x="476349" y="0"/>
                </a:cubicBezTo>
                <a:cubicBezTo>
                  <a:pt x="458788" y="0"/>
                  <a:pt x="444599" y="14188"/>
                  <a:pt x="444599" y="31750"/>
                </a:cubicBezTo>
                <a:lnTo>
                  <a:pt x="444599" y="84733"/>
                </a:lnTo>
                <a:lnTo>
                  <a:pt x="433388" y="74116"/>
                </a:lnTo>
                <a:cubicBezTo>
                  <a:pt x="387449" y="28377"/>
                  <a:pt x="323949" y="0"/>
                  <a:pt x="254000" y="0"/>
                </a:cubicBezTo>
                <a:cubicBezTo>
                  <a:pt x="126008" y="0"/>
                  <a:pt x="20141" y="94655"/>
                  <a:pt x="2580" y="217785"/>
                </a:cubicBezTo>
                <a:cubicBezTo>
                  <a:pt x="99" y="235148"/>
                  <a:pt x="12105" y="251222"/>
                  <a:pt x="29468" y="253702"/>
                </a:cubicBezTo>
                <a:cubicBezTo>
                  <a:pt x="46831" y="256183"/>
                  <a:pt x="62905" y="244078"/>
                  <a:pt x="65385" y="226814"/>
                </a:cubicBezTo>
                <a:close/>
                <a:moveTo>
                  <a:pt x="505420" y="290215"/>
                </a:moveTo>
                <a:cubicBezTo>
                  <a:pt x="507901" y="272852"/>
                  <a:pt x="495796" y="256778"/>
                  <a:pt x="478532" y="254298"/>
                </a:cubicBezTo>
                <a:cubicBezTo>
                  <a:pt x="461268" y="251817"/>
                  <a:pt x="445095" y="263922"/>
                  <a:pt x="442615" y="281186"/>
                </a:cubicBezTo>
                <a:cubicBezTo>
                  <a:pt x="429419" y="373459"/>
                  <a:pt x="349945" y="444401"/>
                  <a:pt x="254000" y="444401"/>
                </a:cubicBezTo>
                <a:cubicBezTo>
                  <a:pt x="201414" y="444401"/>
                  <a:pt x="153789" y="423069"/>
                  <a:pt x="119261" y="388640"/>
                </a:cubicBezTo>
                <a:cubicBezTo>
                  <a:pt x="119062" y="388441"/>
                  <a:pt x="118864" y="388243"/>
                  <a:pt x="118666" y="388045"/>
                </a:cubicBezTo>
                <a:lnTo>
                  <a:pt x="111125" y="380901"/>
                </a:lnTo>
                <a:lnTo>
                  <a:pt x="158651" y="380901"/>
                </a:lnTo>
                <a:cubicBezTo>
                  <a:pt x="176212" y="380901"/>
                  <a:pt x="190401" y="366713"/>
                  <a:pt x="190401" y="349151"/>
                </a:cubicBezTo>
                <a:cubicBezTo>
                  <a:pt x="190401" y="331589"/>
                  <a:pt x="176212" y="317401"/>
                  <a:pt x="158651" y="317401"/>
                </a:cubicBezTo>
                <a:lnTo>
                  <a:pt x="31750" y="317500"/>
                </a:lnTo>
                <a:cubicBezTo>
                  <a:pt x="23316" y="317500"/>
                  <a:pt x="15180" y="320873"/>
                  <a:pt x="9227" y="326926"/>
                </a:cubicBezTo>
                <a:cubicBezTo>
                  <a:pt x="3274" y="332978"/>
                  <a:pt x="-99" y="341015"/>
                  <a:pt x="0" y="349548"/>
                </a:cubicBezTo>
                <a:lnTo>
                  <a:pt x="992" y="475555"/>
                </a:lnTo>
                <a:cubicBezTo>
                  <a:pt x="1091" y="493117"/>
                  <a:pt x="15478" y="507206"/>
                  <a:pt x="33040" y="507008"/>
                </a:cubicBezTo>
                <a:cubicBezTo>
                  <a:pt x="50602" y="506809"/>
                  <a:pt x="64691" y="492522"/>
                  <a:pt x="64492" y="474960"/>
                </a:cubicBezTo>
                <a:lnTo>
                  <a:pt x="64095" y="423863"/>
                </a:lnTo>
                <a:lnTo>
                  <a:pt x="74712" y="433884"/>
                </a:lnTo>
                <a:cubicBezTo>
                  <a:pt x="120650" y="479623"/>
                  <a:pt x="184051" y="508000"/>
                  <a:pt x="254000" y="508000"/>
                </a:cubicBezTo>
                <a:cubicBezTo>
                  <a:pt x="381992" y="508000"/>
                  <a:pt x="487859" y="413345"/>
                  <a:pt x="505420" y="29021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5" name="Text 12"/>
          <p:cNvSpPr/>
          <p:nvPr/>
        </p:nvSpPr>
        <p:spPr>
          <a:xfrm>
            <a:off x="1905000" y="5461000"/>
            <a:ext cx="444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多工具切换带来效率损耗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43000" y="61595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频繁在不同应用间切换，上下文不断丢失。据统计，工具切换每次平均消耗23分钟来重新进入心流状态。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82000" y="5080000"/>
            <a:ext cx="7112000" cy="2921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7630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9" name="Text 16"/>
          <p:cNvSpPr/>
          <p:nvPr/>
        </p:nvSpPr>
        <p:spPr>
          <a:xfrm>
            <a:off x="9525000" y="5461000"/>
            <a:ext cx="444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学习内容缺少长期记忆机制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763000" y="61595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学过就忘，缺乏科学的复习体系。艾宾浩斯遗忘曲线表明，不复习的内容24小时后遗忘率高达70%。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0" y="8686800"/>
            <a:ext cx="16256000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2" name="Shape 19"/>
          <p:cNvSpPr/>
          <p:nvPr/>
        </p:nvSpPr>
        <p:spPr>
          <a:xfrm>
            <a:off x="0" y="8686800"/>
            <a:ext cx="16256000" cy="0"/>
          </a:xfrm>
          <a:prstGeom prst="straightConnector1">
            <a:avLst/>
          </a:prstGeom>
          <a:noFill/>
          <a:ln w="12700">
            <a:solidFill>
              <a:srgbClr val="1E3A8A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/>
          <p:nvPr/>
        </p:nvSpPr>
        <p:spPr>
          <a:xfrm>
            <a:off x="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9105900"/>
            <a:ext cx="23241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Text 22"/>
          <p:cNvSpPr/>
          <p:nvPr/>
        </p:nvSpPr>
        <p:spPr>
          <a:xfrm>
            <a:off x="23241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产品定位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6482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用户与需求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9723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2964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分析模型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6205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非功能需求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3944600" y="8686800"/>
            <a:ext cx="2311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总结展望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rotWithShape="1" flip="none">
          <a:gsLst>
            <a:gs pos="0">
              <a:srgbClr val="0B1426"/>
            </a:gs>
            <a:gs pos="100000">
              <a:srgbClr val="162544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1"/>
          <p:cNvSpPr/>
          <p:nvPr/>
        </p:nvSpPr>
        <p:spPr>
          <a:xfrm>
            <a:off x="965200" y="63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产品定位与核心闭环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65200" y="1270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面向个人开发者、学生与小团队的一体化知识与任务协作平台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778000" y="4762500"/>
            <a:ext cx="12700000" cy="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7" name="Shape 4"/>
          <p:cNvSpPr/>
          <p:nvPr/>
        </p:nvSpPr>
        <p:spPr>
          <a:xfrm>
            <a:off x="1016000" y="2794000"/>
            <a:ext cx="2286000" cy="2032000"/>
          </a:xfrm>
          <a:prstGeom prst="roundRect">
            <a:avLst>
              <a:gd name="adj" fmla="val 8000"/>
            </a:avLst>
          </a:prstGeom>
          <a:solidFill>
            <a:srgbClr val="1E3A8A">
              <a:alpha val="37647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92300" y="3048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571500"/>
                </a:move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368498"/>
                </a:lnTo>
                <a:cubicBezTo>
                  <a:pt x="533400" y="388739"/>
                  <a:pt x="525423" y="408146"/>
                  <a:pt x="511135" y="422434"/>
                </a:cubicBezTo>
                <a:lnTo>
                  <a:pt x="384215" y="549235"/>
                </a:lnTo>
                <a:cubicBezTo>
                  <a:pt x="369927" y="563523"/>
                  <a:pt x="350520" y="571500"/>
                  <a:pt x="330279" y="571500"/>
                </a:cubicBezTo>
                <a:lnTo>
                  <a:pt x="76200" y="571500"/>
                </a:lnTo>
                <a:close/>
                <a:moveTo>
                  <a:pt x="463748" y="361950"/>
                </a:moveTo>
                <a:lnTo>
                  <a:pt x="352425" y="361950"/>
                </a:lnTo>
                <a:cubicBezTo>
                  <a:pt x="336590" y="361950"/>
                  <a:pt x="323850" y="374690"/>
                  <a:pt x="323850" y="390525"/>
                </a:cubicBezTo>
                <a:lnTo>
                  <a:pt x="323850" y="501848"/>
                </a:lnTo>
                <a:lnTo>
                  <a:pt x="463748" y="36195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3810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便签捕获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" y="4254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低门槛记录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10000" y="2794000"/>
            <a:ext cx="2286000" cy="2032000"/>
          </a:xfrm>
          <a:prstGeom prst="roundRect">
            <a:avLst>
              <a:gd name="adj" fmla="val 8000"/>
            </a:avLst>
          </a:prstGeom>
          <a:solidFill>
            <a:srgbClr val="1E3A8A">
              <a:alpha val="37647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86300" y="3048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457200" y="609600"/>
                </a:moveTo>
                <a:lnTo>
                  <a:pt x="114300" y="609600"/>
                </a:lnTo>
                <a:cubicBezTo>
                  <a:pt x="51197" y="609600"/>
                  <a:pt x="0" y="558403"/>
                  <a:pt x="0" y="495300"/>
                </a:cubicBezTo>
                <a:lnTo>
                  <a:pt x="0" y="114300"/>
                </a:lnTo>
                <a:cubicBezTo>
                  <a:pt x="0" y="51197"/>
                  <a:pt x="51197" y="0"/>
                  <a:pt x="114300" y="0"/>
                </a:cubicBezTo>
                <a:lnTo>
                  <a:pt x="476250" y="0"/>
                </a:lnTo>
                <a:cubicBezTo>
                  <a:pt x="507802" y="0"/>
                  <a:pt x="533400" y="25598"/>
                  <a:pt x="533400" y="57150"/>
                </a:cubicBezTo>
                <a:lnTo>
                  <a:pt x="533400" y="400050"/>
                </a:lnTo>
                <a:cubicBezTo>
                  <a:pt x="533400" y="424934"/>
                  <a:pt x="517446" y="446127"/>
                  <a:pt x="495300" y="453985"/>
                </a:cubicBezTo>
                <a:lnTo>
                  <a:pt x="495300" y="533400"/>
                </a:lnTo>
                <a:cubicBezTo>
                  <a:pt x="516374" y="533400"/>
                  <a:pt x="533400" y="550426"/>
                  <a:pt x="533400" y="571500"/>
                </a:cubicBezTo>
                <a:cubicBezTo>
                  <a:pt x="533400" y="592574"/>
                  <a:pt x="516374" y="609600"/>
                  <a:pt x="495300" y="609600"/>
                </a:cubicBezTo>
                <a:lnTo>
                  <a:pt x="457200" y="609600"/>
                </a:lnTo>
                <a:close/>
                <a:moveTo>
                  <a:pt x="114300" y="457200"/>
                </a:moveTo>
                <a:cubicBezTo>
                  <a:pt x="93226" y="457200"/>
                  <a:pt x="76200" y="474226"/>
                  <a:pt x="76200" y="495300"/>
                </a:cubicBezTo>
                <a:cubicBezTo>
                  <a:pt x="76200" y="516374"/>
                  <a:pt x="93226" y="533400"/>
                  <a:pt x="114300" y="533400"/>
                </a:cubicBezTo>
                <a:lnTo>
                  <a:pt x="419100" y="533400"/>
                </a:lnTo>
                <a:lnTo>
                  <a:pt x="419100" y="457200"/>
                </a:lnTo>
                <a:lnTo>
                  <a:pt x="114300" y="457200"/>
                </a:lnTo>
                <a:close/>
                <a:moveTo>
                  <a:pt x="152400" y="180975"/>
                </a:moveTo>
                <a:cubicBezTo>
                  <a:pt x="152400" y="196810"/>
                  <a:pt x="165140" y="209550"/>
                  <a:pt x="180975" y="209550"/>
                </a:cubicBezTo>
                <a:lnTo>
                  <a:pt x="390525" y="209550"/>
                </a:lnTo>
                <a:cubicBezTo>
                  <a:pt x="406360" y="209550"/>
                  <a:pt x="419100" y="196810"/>
                  <a:pt x="419100" y="180975"/>
                </a:cubicBezTo>
                <a:cubicBezTo>
                  <a:pt x="419100" y="165140"/>
                  <a:pt x="406360" y="152400"/>
                  <a:pt x="390525" y="152400"/>
                </a:cubicBezTo>
                <a:lnTo>
                  <a:pt x="180975" y="152400"/>
                </a:lnTo>
                <a:cubicBezTo>
                  <a:pt x="165140" y="152400"/>
                  <a:pt x="152400" y="165140"/>
                  <a:pt x="152400" y="180975"/>
                </a:cubicBezTo>
                <a:close/>
                <a:moveTo>
                  <a:pt x="180975" y="266700"/>
                </a:moveTo>
                <a:cubicBezTo>
                  <a:pt x="165140" y="266700"/>
                  <a:pt x="152400" y="279440"/>
                  <a:pt x="152400" y="295275"/>
                </a:cubicBezTo>
                <a:cubicBezTo>
                  <a:pt x="152400" y="311110"/>
                  <a:pt x="165140" y="323850"/>
                  <a:pt x="180975" y="323850"/>
                </a:cubicBezTo>
                <a:lnTo>
                  <a:pt x="390525" y="323850"/>
                </a:lnTo>
                <a:cubicBezTo>
                  <a:pt x="406360" y="323850"/>
                  <a:pt x="419100" y="311110"/>
                  <a:pt x="419100" y="295275"/>
                </a:cubicBezTo>
                <a:cubicBezTo>
                  <a:pt x="419100" y="279440"/>
                  <a:pt x="406360" y="266700"/>
                  <a:pt x="390525" y="266700"/>
                </a:cubicBezTo>
                <a:lnTo>
                  <a:pt x="180975" y="26670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3" name="Text 10"/>
          <p:cNvSpPr/>
          <p:nvPr/>
        </p:nvSpPr>
        <p:spPr>
          <a:xfrm>
            <a:off x="3937000" y="3810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知识整理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937000" y="4254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结构化沉淀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604000" y="2794000"/>
            <a:ext cx="2286000" cy="2032000"/>
          </a:xfrm>
          <a:prstGeom prst="roundRect">
            <a:avLst>
              <a:gd name="adj" fmla="val 8000"/>
            </a:avLst>
          </a:prstGeom>
          <a:solidFill>
            <a:srgbClr val="1E3A8A">
              <a:alpha val="37647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42200" y="304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9306" y="43220"/>
                </a:moveTo>
                <a:cubicBezTo>
                  <a:pt x="172283" y="52268"/>
                  <a:pt x="175379" y="70128"/>
                  <a:pt x="166330" y="82987"/>
                </a:cubicBezTo>
                <a:lnTo>
                  <a:pt x="99655" y="178237"/>
                </a:lnTo>
                <a:cubicBezTo>
                  <a:pt x="94774" y="185142"/>
                  <a:pt x="87154" y="189548"/>
                  <a:pt x="78700" y="190262"/>
                </a:cubicBezTo>
                <a:cubicBezTo>
                  <a:pt x="70247" y="190976"/>
                  <a:pt x="61912" y="188119"/>
                  <a:pt x="55959" y="182166"/>
                </a:cubicBezTo>
                <a:lnTo>
                  <a:pt x="8334" y="134541"/>
                </a:lnTo>
                <a:cubicBezTo>
                  <a:pt x="-2738" y="123349"/>
                  <a:pt x="-2738" y="105251"/>
                  <a:pt x="8334" y="94059"/>
                </a:cubicBezTo>
                <a:cubicBezTo>
                  <a:pt x="19407" y="82867"/>
                  <a:pt x="37624" y="82987"/>
                  <a:pt x="48816" y="94059"/>
                </a:cubicBezTo>
                <a:lnTo>
                  <a:pt x="72390" y="117634"/>
                </a:lnTo>
                <a:lnTo>
                  <a:pt x="119539" y="50244"/>
                </a:lnTo>
                <a:cubicBezTo>
                  <a:pt x="128588" y="37267"/>
                  <a:pt x="146447" y="34171"/>
                  <a:pt x="159306" y="43220"/>
                </a:cubicBezTo>
                <a:close/>
                <a:moveTo>
                  <a:pt x="159306" y="233720"/>
                </a:moveTo>
                <a:cubicBezTo>
                  <a:pt x="172283" y="242768"/>
                  <a:pt x="175379" y="260628"/>
                  <a:pt x="166330" y="273487"/>
                </a:cubicBezTo>
                <a:lnTo>
                  <a:pt x="99655" y="368737"/>
                </a:lnTo>
                <a:cubicBezTo>
                  <a:pt x="94774" y="375642"/>
                  <a:pt x="87154" y="380048"/>
                  <a:pt x="78700" y="380762"/>
                </a:cubicBezTo>
                <a:cubicBezTo>
                  <a:pt x="70247" y="381476"/>
                  <a:pt x="61912" y="378619"/>
                  <a:pt x="55959" y="372666"/>
                </a:cubicBezTo>
                <a:lnTo>
                  <a:pt x="8334" y="325041"/>
                </a:lnTo>
                <a:cubicBezTo>
                  <a:pt x="-2858" y="313849"/>
                  <a:pt x="-2858" y="295751"/>
                  <a:pt x="8334" y="284678"/>
                </a:cubicBezTo>
                <a:cubicBezTo>
                  <a:pt x="19526" y="273606"/>
                  <a:pt x="37624" y="273487"/>
                  <a:pt x="48697" y="284678"/>
                </a:cubicBezTo>
                <a:lnTo>
                  <a:pt x="72271" y="308253"/>
                </a:lnTo>
                <a:lnTo>
                  <a:pt x="119420" y="240863"/>
                </a:lnTo>
                <a:cubicBezTo>
                  <a:pt x="128468" y="227886"/>
                  <a:pt x="146328" y="224790"/>
                  <a:pt x="159187" y="233839"/>
                </a:cubicBezTo>
                <a:close/>
                <a:moveTo>
                  <a:pt x="266700" y="114300"/>
                </a:moveTo>
                <a:cubicBezTo>
                  <a:pt x="266700" y="93226"/>
                  <a:pt x="283726" y="76200"/>
                  <a:pt x="304800" y="76200"/>
                </a:cubicBezTo>
                <a:lnTo>
                  <a:pt x="571500" y="76200"/>
                </a:lnTo>
                <a:cubicBezTo>
                  <a:pt x="592574" y="76200"/>
                  <a:pt x="609600" y="93226"/>
                  <a:pt x="609600" y="114300"/>
                </a:cubicBezTo>
                <a:cubicBezTo>
                  <a:pt x="609600" y="135374"/>
                  <a:pt x="592574" y="152400"/>
                  <a:pt x="571500" y="152400"/>
                </a:cubicBezTo>
                <a:lnTo>
                  <a:pt x="304800" y="152400"/>
                </a:lnTo>
                <a:cubicBezTo>
                  <a:pt x="283726" y="152400"/>
                  <a:pt x="266700" y="135374"/>
                  <a:pt x="266700" y="114300"/>
                </a:cubicBezTo>
                <a:close/>
                <a:moveTo>
                  <a:pt x="266700" y="304800"/>
                </a:moveTo>
                <a:cubicBezTo>
                  <a:pt x="266700" y="283726"/>
                  <a:pt x="283726" y="266700"/>
                  <a:pt x="304800" y="266700"/>
                </a:cubicBezTo>
                <a:lnTo>
                  <a:pt x="571500" y="266700"/>
                </a:lnTo>
                <a:cubicBezTo>
                  <a:pt x="592574" y="266700"/>
                  <a:pt x="609600" y="283726"/>
                  <a:pt x="609600" y="304800"/>
                </a:cubicBezTo>
                <a:cubicBezTo>
                  <a:pt x="609600" y="325874"/>
                  <a:pt x="592574" y="342900"/>
                  <a:pt x="571500" y="342900"/>
                </a:cubicBezTo>
                <a:lnTo>
                  <a:pt x="304800" y="342900"/>
                </a:lnTo>
                <a:cubicBezTo>
                  <a:pt x="283726" y="342900"/>
                  <a:pt x="266700" y="325874"/>
                  <a:pt x="266700" y="304800"/>
                </a:cubicBezTo>
                <a:close/>
                <a:moveTo>
                  <a:pt x="190500" y="495300"/>
                </a:moveTo>
                <a:cubicBezTo>
                  <a:pt x="190500" y="474226"/>
                  <a:pt x="207526" y="457200"/>
                  <a:pt x="228600" y="457200"/>
                </a:cubicBezTo>
                <a:lnTo>
                  <a:pt x="571500" y="457200"/>
                </a:lnTo>
                <a:cubicBezTo>
                  <a:pt x="592574" y="457200"/>
                  <a:pt x="609600" y="474226"/>
                  <a:pt x="609600" y="495300"/>
                </a:cubicBezTo>
                <a:cubicBezTo>
                  <a:pt x="609600" y="516374"/>
                  <a:pt x="592574" y="533400"/>
                  <a:pt x="571500" y="533400"/>
                </a:cubicBezTo>
                <a:lnTo>
                  <a:pt x="228600" y="533400"/>
                </a:lnTo>
                <a:cubicBezTo>
                  <a:pt x="207526" y="533400"/>
                  <a:pt x="190500" y="516374"/>
                  <a:pt x="190500" y="495300"/>
                </a:cubicBezTo>
                <a:close/>
                <a:moveTo>
                  <a:pt x="76200" y="447675"/>
                </a:moveTo>
                <a:cubicBezTo>
                  <a:pt x="102485" y="447675"/>
                  <a:pt x="123825" y="469015"/>
                  <a:pt x="123825" y="495300"/>
                </a:cubicBezTo>
                <a:cubicBezTo>
                  <a:pt x="123825" y="521585"/>
                  <a:pt x="102485" y="542925"/>
                  <a:pt x="76200" y="542925"/>
                </a:cubicBezTo>
                <a:cubicBezTo>
                  <a:pt x="49915" y="542925"/>
                  <a:pt x="28575" y="521585"/>
                  <a:pt x="28575" y="495300"/>
                </a:cubicBezTo>
                <a:cubicBezTo>
                  <a:pt x="28575" y="469015"/>
                  <a:pt x="49915" y="447675"/>
                  <a:pt x="76200" y="44767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7" name="Text 14"/>
          <p:cNvSpPr/>
          <p:nvPr/>
        </p:nvSpPr>
        <p:spPr>
          <a:xfrm>
            <a:off x="6731000" y="3810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任务执行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731000" y="4254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看板追踪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398000" y="2794000"/>
            <a:ext cx="2286000" cy="2032000"/>
          </a:xfrm>
          <a:prstGeom prst="roundRect">
            <a:avLst>
              <a:gd name="adj" fmla="val 8000"/>
            </a:avLst>
          </a:prstGeom>
          <a:solidFill>
            <a:srgbClr val="1E3A8A">
              <a:alpha val="37647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236200" y="304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71619" y="228600"/>
                </a:moveTo>
                <a:lnTo>
                  <a:pt x="581025" y="228600"/>
                </a:lnTo>
                <a:cubicBezTo>
                  <a:pt x="596860" y="228600"/>
                  <a:pt x="609600" y="215860"/>
                  <a:pt x="609600" y="200025"/>
                </a:cubicBezTo>
                <a:lnTo>
                  <a:pt x="609600" y="28575"/>
                </a:lnTo>
                <a:cubicBezTo>
                  <a:pt x="609600" y="17026"/>
                  <a:pt x="602694" y="6548"/>
                  <a:pt x="591979" y="2143"/>
                </a:cubicBezTo>
                <a:cubicBezTo>
                  <a:pt x="581263" y="-2262"/>
                  <a:pt x="569000" y="238"/>
                  <a:pt x="560784" y="8334"/>
                </a:cubicBezTo>
                <a:lnTo>
                  <a:pt x="499229" y="70009"/>
                </a:lnTo>
                <a:cubicBezTo>
                  <a:pt x="446484" y="26313"/>
                  <a:pt x="378619" y="0"/>
                  <a:pt x="304800" y="0"/>
                </a:cubicBezTo>
                <a:cubicBezTo>
                  <a:pt x="151209" y="0"/>
                  <a:pt x="24170" y="113586"/>
                  <a:pt x="3096" y="261342"/>
                </a:cubicBezTo>
                <a:cubicBezTo>
                  <a:pt x="119" y="282178"/>
                  <a:pt x="14526" y="301466"/>
                  <a:pt x="35362" y="304443"/>
                </a:cubicBezTo>
                <a:cubicBezTo>
                  <a:pt x="56198" y="307419"/>
                  <a:pt x="75486" y="292894"/>
                  <a:pt x="78462" y="272177"/>
                </a:cubicBezTo>
                <a:cubicBezTo>
                  <a:pt x="94298" y="161330"/>
                  <a:pt x="189667" y="76200"/>
                  <a:pt x="304800" y="76200"/>
                </a:cubicBezTo>
                <a:cubicBezTo>
                  <a:pt x="357664" y="76200"/>
                  <a:pt x="406241" y="94059"/>
                  <a:pt x="444937" y="124182"/>
                </a:cubicBezTo>
                <a:lnTo>
                  <a:pt x="389334" y="179784"/>
                </a:lnTo>
                <a:cubicBezTo>
                  <a:pt x="381119" y="188000"/>
                  <a:pt x="378738" y="200263"/>
                  <a:pt x="383143" y="210979"/>
                </a:cubicBezTo>
                <a:cubicBezTo>
                  <a:pt x="387548" y="221694"/>
                  <a:pt x="398026" y="228600"/>
                  <a:pt x="409575" y="228600"/>
                </a:cubicBezTo>
                <a:lnTo>
                  <a:pt x="571619" y="228600"/>
                </a:lnTo>
                <a:close/>
                <a:moveTo>
                  <a:pt x="606623" y="348258"/>
                </a:moveTo>
                <a:cubicBezTo>
                  <a:pt x="609600" y="327422"/>
                  <a:pt x="595074" y="308134"/>
                  <a:pt x="574357" y="305157"/>
                </a:cubicBezTo>
                <a:cubicBezTo>
                  <a:pt x="553641" y="302181"/>
                  <a:pt x="534233" y="316706"/>
                  <a:pt x="531257" y="337423"/>
                </a:cubicBezTo>
                <a:cubicBezTo>
                  <a:pt x="515422" y="448151"/>
                  <a:pt x="420053" y="533281"/>
                  <a:pt x="304919" y="533281"/>
                </a:cubicBezTo>
                <a:cubicBezTo>
                  <a:pt x="252055" y="533281"/>
                  <a:pt x="203478" y="515422"/>
                  <a:pt x="164783" y="485299"/>
                </a:cubicBezTo>
                <a:lnTo>
                  <a:pt x="220266" y="429816"/>
                </a:lnTo>
                <a:cubicBezTo>
                  <a:pt x="228481" y="421600"/>
                  <a:pt x="230862" y="409337"/>
                  <a:pt x="226457" y="398621"/>
                </a:cubicBezTo>
                <a:cubicBezTo>
                  <a:pt x="222052" y="387906"/>
                  <a:pt x="211574" y="381000"/>
                  <a:pt x="200025" y="381000"/>
                </a:cubicBezTo>
                <a:lnTo>
                  <a:pt x="28575" y="381000"/>
                </a:lnTo>
                <a:cubicBezTo>
                  <a:pt x="12740" y="381000"/>
                  <a:pt x="0" y="393740"/>
                  <a:pt x="0" y="409575"/>
                </a:cubicBezTo>
                <a:lnTo>
                  <a:pt x="0" y="581025"/>
                </a:lnTo>
                <a:cubicBezTo>
                  <a:pt x="0" y="592574"/>
                  <a:pt x="6906" y="603052"/>
                  <a:pt x="17621" y="607457"/>
                </a:cubicBezTo>
                <a:cubicBezTo>
                  <a:pt x="28337" y="611862"/>
                  <a:pt x="40600" y="609362"/>
                  <a:pt x="48816" y="601266"/>
                </a:cubicBezTo>
                <a:lnTo>
                  <a:pt x="110490" y="539591"/>
                </a:lnTo>
                <a:cubicBezTo>
                  <a:pt x="163116" y="583287"/>
                  <a:pt x="230981" y="609600"/>
                  <a:pt x="304800" y="609600"/>
                </a:cubicBezTo>
                <a:cubicBezTo>
                  <a:pt x="458391" y="609600"/>
                  <a:pt x="585430" y="496014"/>
                  <a:pt x="606504" y="348258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1" name="Text 18"/>
          <p:cNvSpPr/>
          <p:nvPr/>
        </p:nvSpPr>
        <p:spPr>
          <a:xfrm>
            <a:off x="9525000" y="3810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记忆复习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525000" y="4254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SM-2算法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2192000" y="2794000"/>
            <a:ext cx="2286000" cy="2032000"/>
          </a:xfrm>
          <a:prstGeom prst="roundRect">
            <a:avLst>
              <a:gd name="adj" fmla="val 8000"/>
            </a:avLst>
          </a:prstGeom>
          <a:solidFill>
            <a:srgbClr val="1E3A8A">
              <a:alpha val="37647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030200" y="304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57200" y="228600"/>
                </a:moveTo>
                <a:cubicBezTo>
                  <a:pt x="520303" y="228600"/>
                  <a:pt x="571500" y="177403"/>
                  <a:pt x="571500" y="114300"/>
                </a:cubicBezTo>
                <a:cubicBezTo>
                  <a:pt x="571500" y="51197"/>
                  <a:pt x="520303" y="0"/>
                  <a:pt x="457200" y="0"/>
                </a:cubicBezTo>
                <a:cubicBezTo>
                  <a:pt x="394097" y="0"/>
                  <a:pt x="342900" y="51197"/>
                  <a:pt x="342900" y="114300"/>
                </a:cubicBezTo>
                <a:cubicBezTo>
                  <a:pt x="342900" y="120729"/>
                  <a:pt x="343495" y="127159"/>
                  <a:pt x="344448" y="133350"/>
                </a:cubicBezTo>
                <a:lnTo>
                  <a:pt x="190024" y="219194"/>
                </a:lnTo>
                <a:cubicBezTo>
                  <a:pt x="169902" y="201335"/>
                  <a:pt x="143351" y="190500"/>
                  <a:pt x="114300" y="190500"/>
                </a:cubicBezTo>
                <a:cubicBezTo>
                  <a:pt x="51197" y="190500"/>
                  <a:pt x="0" y="241697"/>
                  <a:pt x="0" y="304800"/>
                </a:cubicBezTo>
                <a:cubicBezTo>
                  <a:pt x="0" y="367903"/>
                  <a:pt x="51197" y="419100"/>
                  <a:pt x="114300" y="419100"/>
                </a:cubicBezTo>
                <a:cubicBezTo>
                  <a:pt x="143351" y="419100"/>
                  <a:pt x="169783" y="408265"/>
                  <a:pt x="190024" y="390406"/>
                </a:cubicBezTo>
                <a:lnTo>
                  <a:pt x="344448" y="476250"/>
                </a:lnTo>
                <a:cubicBezTo>
                  <a:pt x="343376" y="482441"/>
                  <a:pt x="342900" y="488752"/>
                  <a:pt x="342900" y="495300"/>
                </a:cubicBezTo>
                <a:cubicBezTo>
                  <a:pt x="342900" y="558403"/>
                  <a:pt x="394097" y="609600"/>
                  <a:pt x="457200" y="609600"/>
                </a:cubicBezTo>
                <a:cubicBezTo>
                  <a:pt x="520303" y="609600"/>
                  <a:pt x="571500" y="558403"/>
                  <a:pt x="571500" y="495300"/>
                </a:cubicBezTo>
                <a:cubicBezTo>
                  <a:pt x="571500" y="432197"/>
                  <a:pt x="520303" y="381000"/>
                  <a:pt x="457200" y="381000"/>
                </a:cubicBezTo>
                <a:cubicBezTo>
                  <a:pt x="428149" y="381000"/>
                  <a:pt x="401717" y="391835"/>
                  <a:pt x="381476" y="409694"/>
                </a:cubicBezTo>
                <a:lnTo>
                  <a:pt x="227052" y="323850"/>
                </a:lnTo>
                <a:cubicBezTo>
                  <a:pt x="228124" y="317659"/>
                  <a:pt x="228600" y="311348"/>
                  <a:pt x="228600" y="304800"/>
                </a:cubicBezTo>
                <a:cubicBezTo>
                  <a:pt x="228600" y="298252"/>
                  <a:pt x="228005" y="291941"/>
                  <a:pt x="227052" y="285750"/>
                </a:cubicBezTo>
                <a:lnTo>
                  <a:pt x="381476" y="199906"/>
                </a:lnTo>
                <a:cubicBezTo>
                  <a:pt x="401598" y="217765"/>
                  <a:pt x="428149" y="228600"/>
                  <a:pt x="457200" y="2286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5" name="Text 22"/>
          <p:cNvSpPr/>
          <p:nvPr/>
        </p:nvSpPr>
        <p:spPr>
          <a:xfrm>
            <a:off x="12319000" y="3810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协作分享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319000" y="4254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链接分享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62000" y="5588000"/>
            <a:ext cx="14732000" cy="2540000"/>
          </a:xfrm>
          <a:prstGeom prst="roundRect">
            <a:avLst>
              <a:gd name="adj" fmla="val 6000"/>
            </a:avLst>
          </a:prstGeom>
          <a:solidFill>
            <a:srgbClr val="1E3A8A">
              <a:alpha val="12549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70000" y="5842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核心价值主张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270000" y="6413500"/>
            <a:ext cx="1371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FlowNote 将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碎片便签捕获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、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结构化知识管理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（含双向链接与知识图谱）、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任务看板管理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、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间隔重复记忆卡片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及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团队轻量协作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整合于同一平台，实现从"信息捕获"到"知识沉淀"再到"任务执行"的完整闭环工作流，消除多工具切换成本。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0" y="8686800"/>
            <a:ext cx="16256000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1" name="Shape 28"/>
          <p:cNvSpPr/>
          <p:nvPr/>
        </p:nvSpPr>
        <p:spPr>
          <a:xfrm>
            <a:off x="0" y="8686800"/>
            <a:ext cx="16256000" cy="0"/>
          </a:xfrm>
          <a:prstGeom prst="straightConnector1">
            <a:avLst/>
          </a:prstGeom>
          <a:noFill/>
          <a:ln w="12700">
            <a:solidFill>
              <a:srgbClr val="1E3A8A"/>
            </a:solidFill>
            <a:prstDash val="solid"/>
            <a:headEnd type="none"/>
            <a:tailEnd type="none"/>
          </a:ln>
        </p:spPr>
      </p:sp>
      <p:sp>
        <p:nvSpPr>
          <p:cNvPr id="32" name="Text 29"/>
          <p:cNvSpPr/>
          <p:nvPr/>
        </p:nvSpPr>
        <p:spPr>
          <a:xfrm>
            <a:off x="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23241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产品定位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2324100" y="9105900"/>
            <a:ext cx="23241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5" name="Text 32"/>
          <p:cNvSpPr/>
          <p:nvPr/>
        </p:nvSpPr>
        <p:spPr>
          <a:xfrm>
            <a:off x="46482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用户与需求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9723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2964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分析模型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16205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非功能需求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3944600" y="8686800"/>
            <a:ext cx="2311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总结展望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rotWithShape="1" flip="none">
          <a:gsLst>
            <a:gs pos="0">
              <a:srgbClr val="0B1426"/>
            </a:gs>
            <a:gs pos="100000">
              <a:srgbClr val="162544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1"/>
          <p:cNvSpPr/>
          <p:nvPr/>
        </p:nvSpPr>
        <p:spPr>
          <a:xfrm>
            <a:off x="965200" y="63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目标用户分析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62000" y="1651000"/>
            <a:ext cx="7112000" cy="3048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77925" y="2032000"/>
            <a:ext cx="488950" cy="558800"/>
          </a:xfrm>
          <a:custGeom>
            <a:avLst/>
            <a:gdLst/>
            <a:ahLst/>
            <a:cxnLst/>
            <a:rect l="l" t="t" r="r" b="b"/>
            <a:pathLst>
              <a:path w="488950" h="558800">
                <a:moveTo>
                  <a:pt x="244475" y="270669"/>
                </a:moveTo>
                <a:cubicBezTo>
                  <a:pt x="172191" y="270669"/>
                  <a:pt x="113506" y="211984"/>
                  <a:pt x="113506" y="139700"/>
                </a:cubicBezTo>
                <a:cubicBezTo>
                  <a:pt x="113506" y="67416"/>
                  <a:pt x="172191" y="8731"/>
                  <a:pt x="244475" y="8731"/>
                </a:cubicBezTo>
                <a:cubicBezTo>
                  <a:pt x="316759" y="8731"/>
                  <a:pt x="375444" y="67416"/>
                  <a:pt x="375444" y="139700"/>
                </a:cubicBezTo>
                <a:cubicBezTo>
                  <a:pt x="375444" y="211984"/>
                  <a:pt x="316759" y="270669"/>
                  <a:pt x="244475" y="270669"/>
                </a:cubicBezTo>
                <a:close/>
                <a:moveTo>
                  <a:pt x="211187" y="331788"/>
                </a:moveTo>
                <a:lnTo>
                  <a:pt x="277763" y="331788"/>
                </a:lnTo>
                <a:cubicBezTo>
                  <a:pt x="288350" y="331788"/>
                  <a:pt x="296863" y="340300"/>
                  <a:pt x="296863" y="350887"/>
                </a:cubicBezTo>
                <a:cubicBezTo>
                  <a:pt x="296863" y="355471"/>
                  <a:pt x="295225" y="359837"/>
                  <a:pt x="292279" y="363329"/>
                </a:cubicBezTo>
                <a:lnTo>
                  <a:pt x="262374" y="398254"/>
                </a:lnTo>
                <a:lnTo>
                  <a:pt x="296208" y="523875"/>
                </a:lnTo>
                <a:lnTo>
                  <a:pt x="296863" y="523875"/>
                </a:lnTo>
                <a:lnTo>
                  <a:pt x="334625" y="372715"/>
                </a:lnTo>
                <a:cubicBezTo>
                  <a:pt x="337026" y="363220"/>
                  <a:pt x="346740" y="357436"/>
                  <a:pt x="355908" y="360928"/>
                </a:cubicBezTo>
                <a:cubicBezTo>
                  <a:pt x="423466" y="386685"/>
                  <a:pt x="471488" y="452170"/>
                  <a:pt x="471488" y="528786"/>
                </a:cubicBezTo>
                <a:cubicBezTo>
                  <a:pt x="471488" y="545267"/>
                  <a:pt x="458063" y="558691"/>
                  <a:pt x="441583" y="558691"/>
                </a:cubicBezTo>
                <a:lnTo>
                  <a:pt x="47367" y="558800"/>
                </a:lnTo>
                <a:cubicBezTo>
                  <a:pt x="30887" y="558800"/>
                  <a:pt x="17463" y="545376"/>
                  <a:pt x="17463" y="528895"/>
                </a:cubicBezTo>
                <a:cubicBezTo>
                  <a:pt x="17463" y="452279"/>
                  <a:pt x="65484" y="386794"/>
                  <a:pt x="133042" y="361037"/>
                </a:cubicBezTo>
                <a:cubicBezTo>
                  <a:pt x="142210" y="357545"/>
                  <a:pt x="151924" y="363329"/>
                  <a:pt x="154325" y="372824"/>
                </a:cubicBezTo>
                <a:lnTo>
                  <a:pt x="192088" y="523984"/>
                </a:lnTo>
                <a:lnTo>
                  <a:pt x="192742" y="523984"/>
                </a:lnTo>
                <a:lnTo>
                  <a:pt x="226576" y="398363"/>
                </a:lnTo>
                <a:lnTo>
                  <a:pt x="196671" y="363438"/>
                </a:lnTo>
                <a:cubicBezTo>
                  <a:pt x="193725" y="359946"/>
                  <a:pt x="192088" y="355580"/>
                  <a:pt x="192088" y="350996"/>
                </a:cubicBezTo>
                <a:cubicBezTo>
                  <a:pt x="192088" y="340410"/>
                  <a:pt x="200600" y="331897"/>
                  <a:pt x="211187" y="331897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1905000" y="2032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项目经理 / 小团队负责人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27305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工作节奏快，需快速将会议决策转化为可执行任务。对信息时效性和可追溯性要求高。系统提供极低门槛便签输入与一键转任务，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操作步数不超过3步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。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382000" y="1651000"/>
            <a:ext cx="7112000" cy="3048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93150" y="2032000"/>
            <a:ext cx="698500" cy="558800"/>
          </a:xfrm>
          <a:custGeom>
            <a:avLst/>
            <a:gdLst/>
            <a:ahLst/>
            <a:cxnLst/>
            <a:rect l="l" t="t" r="r" b="b"/>
            <a:pathLst>
              <a:path w="698500" h="558800">
                <a:moveTo>
                  <a:pt x="69850" y="104775"/>
                </a:moveTo>
                <a:cubicBezTo>
                  <a:pt x="69850" y="66248"/>
                  <a:pt x="101173" y="34925"/>
                  <a:pt x="139700" y="34925"/>
                </a:cubicBezTo>
                <a:lnTo>
                  <a:pt x="558800" y="34925"/>
                </a:lnTo>
                <a:cubicBezTo>
                  <a:pt x="597327" y="34925"/>
                  <a:pt x="628650" y="66248"/>
                  <a:pt x="628650" y="104775"/>
                </a:cubicBezTo>
                <a:lnTo>
                  <a:pt x="628650" y="366713"/>
                </a:lnTo>
                <a:lnTo>
                  <a:pt x="558800" y="366713"/>
                </a:lnTo>
                <a:lnTo>
                  <a:pt x="558800" y="104775"/>
                </a:lnTo>
                <a:lnTo>
                  <a:pt x="139700" y="104775"/>
                </a:lnTo>
                <a:lnTo>
                  <a:pt x="139700" y="366713"/>
                </a:lnTo>
                <a:lnTo>
                  <a:pt x="69850" y="366713"/>
                </a:lnTo>
                <a:lnTo>
                  <a:pt x="69850" y="104775"/>
                </a:lnTo>
                <a:close/>
                <a:moveTo>
                  <a:pt x="0" y="440055"/>
                </a:moveTo>
                <a:cubicBezTo>
                  <a:pt x="0" y="428486"/>
                  <a:pt x="9386" y="419100"/>
                  <a:pt x="20955" y="419100"/>
                </a:cubicBezTo>
                <a:lnTo>
                  <a:pt x="677545" y="419100"/>
                </a:lnTo>
                <a:cubicBezTo>
                  <a:pt x="689114" y="419100"/>
                  <a:pt x="698500" y="428486"/>
                  <a:pt x="698500" y="440055"/>
                </a:cubicBezTo>
                <a:cubicBezTo>
                  <a:pt x="698500" y="486331"/>
                  <a:pt x="660956" y="523875"/>
                  <a:pt x="614680" y="523875"/>
                </a:cubicBezTo>
                <a:lnTo>
                  <a:pt x="83820" y="523875"/>
                </a:lnTo>
                <a:cubicBezTo>
                  <a:pt x="37544" y="523875"/>
                  <a:pt x="0" y="486331"/>
                  <a:pt x="0" y="440055"/>
                </a:cubicBezTo>
                <a:close/>
                <a:moveTo>
                  <a:pt x="306685" y="228104"/>
                </a:moveTo>
                <a:lnTo>
                  <a:pt x="272852" y="261938"/>
                </a:lnTo>
                <a:lnTo>
                  <a:pt x="306685" y="295771"/>
                </a:lnTo>
                <a:cubicBezTo>
                  <a:pt x="316944" y="306030"/>
                  <a:pt x="316944" y="322620"/>
                  <a:pt x="306685" y="332770"/>
                </a:cubicBezTo>
                <a:cubicBezTo>
                  <a:pt x="296426" y="342920"/>
                  <a:pt x="279837" y="343029"/>
                  <a:pt x="269686" y="332770"/>
                </a:cubicBezTo>
                <a:lnTo>
                  <a:pt x="217299" y="280382"/>
                </a:lnTo>
                <a:cubicBezTo>
                  <a:pt x="207040" y="270123"/>
                  <a:pt x="207040" y="253534"/>
                  <a:pt x="217299" y="243384"/>
                </a:cubicBezTo>
                <a:lnTo>
                  <a:pt x="269686" y="190996"/>
                </a:lnTo>
                <a:cubicBezTo>
                  <a:pt x="279946" y="180737"/>
                  <a:pt x="296535" y="180737"/>
                  <a:pt x="306685" y="190996"/>
                </a:cubicBezTo>
                <a:cubicBezTo>
                  <a:pt x="316835" y="201255"/>
                  <a:pt x="316944" y="217845"/>
                  <a:pt x="306685" y="227995"/>
                </a:cubicBezTo>
                <a:close/>
                <a:moveTo>
                  <a:pt x="428923" y="190996"/>
                </a:moveTo>
                <a:lnTo>
                  <a:pt x="481310" y="243384"/>
                </a:lnTo>
                <a:cubicBezTo>
                  <a:pt x="491569" y="253643"/>
                  <a:pt x="491569" y="270232"/>
                  <a:pt x="481310" y="280382"/>
                </a:cubicBezTo>
                <a:lnTo>
                  <a:pt x="428923" y="332770"/>
                </a:lnTo>
                <a:cubicBezTo>
                  <a:pt x="418663" y="343029"/>
                  <a:pt x="402074" y="343029"/>
                  <a:pt x="391924" y="332770"/>
                </a:cubicBezTo>
                <a:cubicBezTo>
                  <a:pt x="381774" y="322511"/>
                  <a:pt x="381665" y="305921"/>
                  <a:pt x="391924" y="295771"/>
                </a:cubicBezTo>
                <a:lnTo>
                  <a:pt x="425758" y="261938"/>
                </a:lnTo>
                <a:lnTo>
                  <a:pt x="391924" y="228104"/>
                </a:lnTo>
                <a:cubicBezTo>
                  <a:pt x="381665" y="217845"/>
                  <a:pt x="381665" y="201255"/>
                  <a:pt x="391924" y="191105"/>
                </a:cubicBezTo>
                <a:cubicBezTo>
                  <a:pt x="402183" y="180955"/>
                  <a:pt x="418773" y="180846"/>
                  <a:pt x="428923" y="19110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0" y="2032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开发者 / 研究者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763000" y="27305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技术水平高，习惯使用Markdown语法。工作中产生大量代码片段与技术笔记。系统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支持代码片段记录与展示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，支持Markdown导入导出以兼容已有知识资产。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2000" y="5207000"/>
            <a:ext cx="7112000" cy="3048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08075" y="5588000"/>
            <a:ext cx="628650" cy="558800"/>
          </a:xfrm>
          <a:custGeom>
            <a:avLst/>
            <a:gdLst/>
            <a:ahLst/>
            <a:cxnLst/>
            <a:rect l="l" t="t" r="r" b="b"/>
            <a:pathLst>
              <a:path w="628650" h="558800">
                <a:moveTo>
                  <a:pt x="52388" y="213697"/>
                </a:moveTo>
                <a:lnTo>
                  <a:pt x="280710" y="307667"/>
                </a:lnTo>
                <a:cubicBezTo>
                  <a:pt x="291405" y="312033"/>
                  <a:pt x="302756" y="314325"/>
                  <a:pt x="314325" y="314325"/>
                </a:cubicBezTo>
                <a:cubicBezTo>
                  <a:pt x="325894" y="314325"/>
                  <a:pt x="337245" y="312033"/>
                  <a:pt x="347940" y="307667"/>
                </a:cubicBezTo>
                <a:lnTo>
                  <a:pt x="612497" y="198745"/>
                </a:lnTo>
                <a:cubicBezTo>
                  <a:pt x="622320" y="194707"/>
                  <a:pt x="628650" y="185212"/>
                  <a:pt x="628650" y="174625"/>
                </a:cubicBezTo>
                <a:cubicBezTo>
                  <a:pt x="628650" y="164038"/>
                  <a:pt x="622320" y="154543"/>
                  <a:pt x="612497" y="150505"/>
                </a:cubicBezTo>
                <a:lnTo>
                  <a:pt x="347940" y="41583"/>
                </a:lnTo>
                <a:cubicBezTo>
                  <a:pt x="337245" y="37217"/>
                  <a:pt x="325894" y="34925"/>
                  <a:pt x="314325" y="34925"/>
                </a:cubicBezTo>
                <a:cubicBezTo>
                  <a:pt x="302756" y="34925"/>
                  <a:pt x="291405" y="37217"/>
                  <a:pt x="280710" y="41583"/>
                </a:cubicBezTo>
                <a:lnTo>
                  <a:pt x="16153" y="150505"/>
                </a:lnTo>
                <a:cubicBezTo>
                  <a:pt x="6330" y="154543"/>
                  <a:pt x="0" y="164038"/>
                  <a:pt x="0" y="174625"/>
                </a:cubicBezTo>
                <a:lnTo>
                  <a:pt x="0" y="497681"/>
                </a:lnTo>
                <a:cubicBezTo>
                  <a:pt x="0" y="512197"/>
                  <a:pt x="11678" y="523875"/>
                  <a:pt x="26194" y="523875"/>
                </a:cubicBezTo>
                <a:cubicBezTo>
                  <a:pt x="40709" y="523875"/>
                  <a:pt x="52388" y="512197"/>
                  <a:pt x="52388" y="497681"/>
                </a:cubicBezTo>
                <a:lnTo>
                  <a:pt x="52388" y="213697"/>
                </a:lnTo>
                <a:close/>
                <a:moveTo>
                  <a:pt x="104775" y="291951"/>
                </a:moveTo>
                <a:lnTo>
                  <a:pt x="104775" y="419100"/>
                </a:lnTo>
                <a:cubicBezTo>
                  <a:pt x="104775" y="476945"/>
                  <a:pt x="198636" y="523875"/>
                  <a:pt x="314325" y="523875"/>
                </a:cubicBezTo>
                <a:cubicBezTo>
                  <a:pt x="430014" y="523875"/>
                  <a:pt x="523875" y="476945"/>
                  <a:pt x="523875" y="419100"/>
                </a:cubicBezTo>
                <a:lnTo>
                  <a:pt x="523875" y="291842"/>
                </a:lnTo>
                <a:lnTo>
                  <a:pt x="367913" y="356126"/>
                </a:lnTo>
                <a:cubicBezTo>
                  <a:pt x="350887" y="363111"/>
                  <a:pt x="332770" y="366712"/>
                  <a:pt x="314325" y="366712"/>
                </a:cubicBezTo>
                <a:cubicBezTo>
                  <a:pt x="295880" y="366712"/>
                  <a:pt x="277763" y="363111"/>
                  <a:pt x="260737" y="356126"/>
                </a:cubicBezTo>
                <a:lnTo>
                  <a:pt x="104775" y="291842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5" name="Text 12"/>
          <p:cNvSpPr/>
          <p:nvPr/>
        </p:nvSpPr>
        <p:spPr>
          <a:xfrm>
            <a:off x="1905000" y="5588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学生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43000" y="62865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技术水平参差不齐，学习能力较强但耐心有限。对抗遗忘是核心需求。界面需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简洁直观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，学习成本低；记忆卡片功能自动安排复习，减少管理负担。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82000" y="5207000"/>
            <a:ext cx="7112000" cy="3048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763000" y="5588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402183" y="19973"/>
                </a:moveTo>
                <a:lnTo>
                  <a:pt x="347504" y="74652"/>
                </a:lnTo>
                <a:lnTo>
                  <a:pt x="484257" y="211405"/>
                </a:lnTo>
                <a:lnTo>
                  <a:pt x="538936" y="156726"/>
                </a:lnTo>
                <a:cubicBezTo>
                  <a:pt x="562838" y="132824"/>
                  <a:pt x="562838" y="94188"/>
                  <a:pt x="538936" y="70287"/>
                </a:cubicBezTo>
                <a:lnTo>
                  <a:pt x="488623" y="19973"/>
                </a:lnTo>
                <a:cubicBezTo>
                  <a:pt x="464721" y="-3929"/>
                  <a:pt x="426085" y="-3929"/>
                  <a:pt x="402183" y="19973"/>
                </a:cubicBezTo>
                <a:close/>
                <a:moveTo>
                  <a:pt x="304830" y="106085"/>
                </a:moveTo>
                <a:lnTo>
                  <a:pt x="304284" y="106194"/>
                </a:lnTo>
                <a:lnTo>
                  <a:pt x="147012" y="153343"/>
                </a:lnTo>
                <a:cubicBezTo>
                  <a:pt x="125293" y="159891"/>
                  <a:pt x="108049" y="176480"/>
                  <a:pt x="100846" y="198090"/>
                </a:cubicBezTo>
                <a:lnTo>
                  <a:pt x="4147" y="486549"/>
                </a:lnTo>
                <a:cubicBezTo>
                  <a:pt x="982" y="496044"/>
                  <a:pt x="2074" y="506413"/>
                  <a:pt x="6876" y="514925"/>
                </a:cubicBezTo>
                <a:lnTo>
                  <a:pt x="176480" y="345321"/>
                </a:lnTo>
                <a:cubicBezTo>
                  <a:pt x="175280" y="340955"/>
                  <a:pt x="174734" y="336481"/>
                  <a:pt x="174734" y="331788"/>
                </a:cubicBezTo>
                <a:cubicBezTo>
                  <a:pt x="174734" y="302865"/>
                  <a:pt x="198199" y="279400"/>
                  <a:pt x="227122" y="279400"/>
                </a:cubicBezTo>
                <a:cubicBezTo>
                  <a:pt x="256044" y="279400"/>
                  <a:pt x="279509" y="302865"/>
                  <a:pt x="279509" y="331788"/>
                </a:cubicBezTo>
                <a:cubicBezTo>
                  <a:pt x="279509" y="360710"/>
                  <a:pt x="256044" y="384175"/>
                  <a:pt x="227122" y="384175"/>
                </a:cubicBezTo>
                <a:cubicBezTo>
                  <a:pt x="222429" y="384175"/>
                  <a:pt x="217845" y="383520"/>
                  <a:pt x="213588" y="382429"/>
                </a:cubicBezTo>
                <a:lnTo>
                  <a:pt x="43984" y="551924"/>
                </a:lnTo>
                <a:cubicBezTo>
                  <a:pt x="52497" y="556726"/>
                  <a:pt x="62756" y="557818"/>
                  <a:pt x="72360" y="554653"/>
                </a:cubicBezTo>
                <a:lnTo>
                  <a:pt x="360819" y="457954"/>
                </a:lnTo>
                <a:cubicBezTo>
                  <a:pt x="382320" y="450751"/>
                  <a:pt x="399018" y="433507"/>
                  <a:pt x="405567" y="411788"/>
                </a:cubicBezTo>
                <a:lnTo>
                  <a:pt x="452715" y="254516"/>
                </a:lnTo>
                <a:lnTo>
                  <a:pt x="452824" y="253970"/>
                </a:lnTo>
                <a:lnTo>
                  <a:pt x="304939" y="106085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9" name="Text 16"/>
          <p:cNvSpPr/>
          <p:nvPr/>
        </p:nvSpPr>
        <p:spPr>
          <a:xfrm>
            <a:off x="9525000" y="5588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创作者 / 自由职业者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763000" y="62865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工作流程灵活，灵感迸发随机。从灵感到产出链条较长。系统提供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极低门槛快速输入入口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，后续支持渐进式内容丰富与结构化整理。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0" y="8686800"/>
            <a:ext cx="16256000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2" name="Shape 19"/>
          <p:cNvSpPr/>
          <p:nvPr/>
        </p:nvSpPr>
        <p:spPr>
          <a:xfrm>
            <a:off x="0" y="8686800"/>
            <a:ext cx="16256000" cy="0"/>
          </a:xfrm>
          <a:prstGeom prst="straightConnector1">
            <a:avLst/>
          </a:prstGeom>
          <a:noFill/>
          <a:ln w="12700">
            <a:solidFill>
              <a:srgbClr val="1E3A8A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/>
          <p:nvPr/>
        </p:nvSpPr>
        <p:spPr>
          <a:xfrm>
            <a:off x="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3241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产品定位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6482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用户与需求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648200" y="9105900"/>
            <a:ext cx="23241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7" name="Text 24"/>
          <p:cNvSpPr/>
          <p:nvPr/>
        </p:nvSpPr>
        <p:spPr>
          <a:xfrm>
            <a:off x="69723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2964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分析模型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6205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非功能需求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3944600" y="8686800"/>
            <a:ext cx="2311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总结展望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rotWithShape="1" flip="none">
          <a:gsLst>
            <a:gs pos="0">
              <a:srgbClr val="0B1426"/>
            </a:gs>
            <a:gs pos="100000">
              <a:srgbClr val="162544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1"/>
          <p:cNvSpPr/>
          <p:nvPr/>
        </p:nvSpPr>
        <p:spPr>
          <a:xfrm>
            <a:off x="965200" y="63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系统功能总览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62000" y="1397000"/>
          <a:ext cx="6350000" cy="533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620000" y="1397000"/>
            <a:ext cx="7874000" cy="5588000"/>
          </a:xfrm>
          <a:prstGeom prst="roundRect">
            <a:avLst>
              <a:gd name="adj" fmla="val 6000"/>
            </a:avLst>
          </a:prstGeom>
          <a:solidFill>
            <a:srgbClr val="1E3A8A">
              <a:alpha val="8235"/>
            </a:srgbClr>
          </a:solidFill>
          <a:ln w="12700">
            <a:solidFill>
              <a:srgbClr val="1E3A8A">
                <a:alpha val="25098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023225" y="1651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333375"/>
                </a:moveTo>
                <a:cubicBezTo>
                  <a:pt x="19933" y="333375"/>
                  <a:pt x="0" y="313442"/>
                  <a:pt x="0" y="288925"/>
                </a:cubicBezTo>
                <a:lnTo>
                  <a:pt x="0" y="66675"/>
                </a:lnTo>
                <a:cubicBezTo>
                  <a:pt x="0" y="42158"/>
                  <a:pt x="19933" y="22225"/>
                  <a:pt x="44450" y="22225"/>
                </a:cubicBezTo>
                <a:lnTo>
                  <a:pt x="266700" y="22225"/>
                </a:lnTo>
                <a:cubicBezTo>
                  <a:pt x="291217" y="22225"/>
                  <a:pt x="311150" y="42158"/>
                  <a:pt x="311150" y="66675"/>
                </a:cubicBezTo>
                <a:lnTo>
                  <a:pt x="311150" y="214957"/>
                </a:lnTo>
                <a:cubicBezTo>
                  <a:pt x="311150" y="226764"/>
                  <a:pt x="306497" y="238085"/>
                  <a:pt x="298162" y="246420"/>
                </a:cubicBezTo>
                <a:lnTo>
                  <a:pt x="224125" y="320387"/>
                </a:lnTo>
                <a:cubicBezTo>
                  <a:pt x="215791" y="328722"/>
                  <a:pt x="204470" y="333375"/>
                  <a:pt x="192663" y="333375"/>
                </a:cubicBezTo>
                <a:lnTo>
                  <a:pt x="44450" y="333375"/>
                </a:lnTo>
                <a:close/>
                <a:moveTo>
                  <a:pt x="270520" y="211138"/>
                </a:moveTo>
                <a:lnTo>
                  <a:pt x="205581" y="211138"/>
                </a:lnTo>
                <a:cubicBezTo>
                  <a:pt x="196344" y="211138"/>
                  <a:pt x="188913" y="218569"/>
                  <a:pt x="188913" y="227806"/>
                </a:cubicBezTo>
                <a:lnTo>
                  <a:pt x="188913" y="292745"/>
                </a:lnTo>
                <a:lnTo>
                  <a:pt x="270520" y="211138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8" name="Text 4"/>
          <p:cNvSpPr/>
          <p:nvPr/>
        </p:nvSpPr>
        <p:spPr>
          <a:xfrm>
            <a:off x="8509000" y="16256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便签管理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快速记录 · 时间线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023225" y="2222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355600"/>
                </a:moveTo>
                <a:lnTo>
                  <a:pt x="66675" y="355600"/>
                </a:lnTo>
                <a:cubicBezTo>
                  <a:pt x="29865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29865" y="0"/>
                  <a:pt x="66675" y="0"/>
                </a:cubicBezTo>
                <a:lnTo>
                  <a:pt x="277813" y="0"/>
                </a:lnTo>
                <a:cubicBezTo>
                  <a:pt x="296218" y="0"/>
                  <a:pt x="311150" y="14932"/>
                  <a:pt x="311150" y="33337"/>
                </a:cubicBezTo>
                <a:lnTo>
                  <a:pt x="311150" y="233363"/>
                </a:lnTo>
                <a:cubicBezTo>
                  <a:pt x="311150" y="247878"/>
                  <a:pt x="301843" y="260241"/>
                  <a:pt x="288925" y="264825"/>
                </a:cubicBezTo>
                <a:lnTo>
                  <a:pt x="288925" y="311150"/>
                </a:lnTo>
                <a:cubicBezTo>
                  <a:pt x="301218" y="311150"/>
                  <a:pt x="311150" y="321082"/>
                  <a:pt x="311150" y="333375"/>
                </a:cubicBezTo>
                <a:cubicBezTo>
                  <a:pt x="311150" y="345668"/>
                  <a:pt x="301218" y="355600"/>
                  <a:pt x="288925" y="355600"/>
                </a:cubicBezTo>
                <a:lnTo>
                  <a:pt x="266700" y="355600"/>
                </a:lnTo>
                <a:close/>
                <a:moveTo>
                  <a:pt x="66675" y="266700"/>
                </a:moveTo>
                <a:cubicBezTo>
                  <a:pt x="54382" y="266700"/>
                  <a:pt x="44450" y="276632"/>
                  <a:pt x="44450" y="288925"/>
                </a:cubicBezTo>
                <a:cubicBezTo>
                  <a:pt x="44450" y="301218"/>
                  <a:pt x="54382" y="311150"/>
                  <a:pt x="66675" y="311150"/>
                </a:cubicBezTo>
                <a:lnTo>
                  <a:pt x="244475" y="311150"/>
                </a:lnTo>
                <a:lnTo>
                  <a:pt x="244475" y="266700"/>
                </a:lnTo>
                <a:lnTo>
                  <a:pt x="66675" y="266700"/>
                </a:lnTo>
                <a:close/>
                <a:moveTo>
                  <a:pt x="88900" y="105569"/>
                </a:moveTo>
                <a:cubicBezTo>
                  <a:pt x="88900" y="114806"/>
                  <a:pt x="96331" y="122238"/>
                  <a:pt x="105569" y="122238"/>
                </a:cubicBezTo>
                <a:lnTo>
                  <a:pt x="227806" y="122238"/>
                </a:lnTo>
                <a:cubicBezTo>
                  <a:pt x="237044" y="122238"/>
                  <a:pt x="244475" y="114806"/>
                  <a:pt x="244475" y="105569"/>
                </a:cubicBezTo>
                <a:cubicBezTo>
                  <a:pt x="244475" y="96331"/>
                  <a:pt x="237044" y="88900"/>
                  <a:pt x="227806" y="88900"/>
                </a:cubicBezTo>
                <a:lnTo>
                  <a:pt x="105569" y="88900"/>
                </a:lnTo>
                <a:cubicBezTo>
                  <a:pt x="96331" y="88900"/>
                  <a:pt x="88900" y="96331"/>
                  <a:pt x="88900" y="105569"/>
                </a:cubicBezTo>
                <a:close/>
                <a:moveTo>
                  <a:pt x="105569" y="155575"/>
                </a:moveTo>
                <a:cubicBezTo>
                  <a:pt x="96331" y="155575"/>
                  <a:pt x="88900" y="163006"/>
                  <a:pt x="88900" y="172244"/>
                </a:cubicBezTo>
                <a:cubicBezTo>
                  <a:pt x="88900" y="181481"/>
                  <a:pt x="96331" y="188913"/>
                  <a:pt x="105569" y="188913"/>
                </a:cubicBezTo>
                <a:lnTo>
                  <a:pt x="227806" y="188913"/>
                </a:lnTo>
                <a:cubicBezTo>
                  <a:pt x="237044" y="188913"/>
                  <a:pt x="244475" y="181481"/>
                  <a:pt x="244475" y="172244"/>
                </a:cubicBezTo>
                <a:cubicBezTo>
                  <a:pt x="244475" y="163006"/>
                  <a:pt x="237044" y="155575"/>
                  <a:pt x="227806" y="155575"/>
                </a:cubicBezTo>
                <a:lnTo>
                  <a:pt x="105569" y="155575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6"/>
          <p:cNvSpPr/>
          <p:nvPr/>
        </p:nvSpPr>
        <p:spPr>
          <a:xfrm>
            <a:off x="8509000" y="21971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知识管理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双向链接 · 知识图谱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001000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2928" y="25211"/>
                </a:moveTo>
                <a:cubicBezTo>
                  <a:pt x="100499" y="30490"/>
                  <a:pt x="102304" y="40908"/>
                  <a:pt x="97026" y="48409"/>
                </a:cubicBezTo>
                <a:lnTo>
                  <a:pt x="58132" y="103971"/>
                </a:lnTo>
                <a:cubicBezTo>
                  <a:pt x="55285" y="108000"/>
                  <a:pt x="50840" y="110569"/>
                  <a:pt x="45909" y="110986"/>
                </a:cubicBezTo>
                <a:cubicBezTo>
                  <a:pt x="40977" y="111403"/>
                  <a:pt x="36116" y="109736"/>
                  <a:pt x="32643" y="106263"/>
                </a:cubicBezTo>
                <a:lnTo>
                  <a:pt x="4862" y="78482"/>
                </a:lnTo>
                <a:cubicBezTo>
                  <a:pt x="-1597" y="71953"/>
                  <a:pt x="-1597" y="61397"/>
                  <a:pt x="4862" y="54868"/>
                </a:cubicBezTo>
                <a:cubicBezTo>
                  <a:pt x="11321" y="48339"/>
                  <a:pt x="21947" y="48409"/>
                  <a:pt x="28476" y="54868"/>
                </a:cubicBezTo>
                <a:lnTo>
                  <a:pt x="42228" y="68620"/>
                </a:lnTo>
                <a:lnTo>
                  <a:pt x="69731" y="29309"/>
                </a:lnTo>
                <a:cubicBezTo>
                  <a:pt x="75009" y="21739"/>
                  <a:pt x="85427" y="19933"/>
                  <a:pt x="92928" y="25211"/>
                </a:cubicBezTo>
                <a:close/>
                <a:moveTo>
                  <a:pt x="92928" y="136336"/>
                </a:moveTo>
                <a:cubicBezTo>
                  <a:pt x="100499" y="141615"/>
                  <a:pt x="102304" y="152033"/>
                  <a:pt x="97026" y="159534"/>
                </a:cubicBezTo>
                <a:lnTo>
                  <a:pt x="58132" y="215096"/>
                </a:lnTo>
                <a:cubicBezTo>
                  <a:pt x="55285" y="219125"/>
                  <a:pt x="50840" y="221694"/>
                  <a:pt x="45909" y="222111"/>
                </a:cubicBezTo>
                <a:cubicBezTo>
                  <a:pt x="40977" y="222528"/>
                  <a:pt x="36116" y="220861"/>
                  <a:pt x="32643" y="217388"/>
                </a:cubicBezTo>
                <a:lnTo>
                  <a:pt x="4862" y="189607"/>
                </a:lnTo>
                <a:cubicBezTo>
                  <a:pt x="-1667" y="183078"/>
                  <a:pt x="-1667" y="172522"/>
                  <a:pt x="4862" y="166062"/>
                </a:cubicBezTo>
                <a:cubicBezTo>
                  <a:pt x="11390" y="159603"/>
                  <a:pt x="21947" y="159534"/>
                  <a:pt x="28406" y="166062"/>
                </a:cubicBezTo>
                <a:lnTo>
                  <a:pt x="42158" y="179814"/>
                </a:lnTo>
                <a:lnTo>
                  <a:pt x="69661" y="140504"/>
                </a:lnTo>
                <a:cubicBezTo>
                  <a:pt x="74940" y="132933"/>
                  <a:pt x="85358" y="131128"/>
                  <a:pt x="92859" y="136406"/>
                </a:cubicBezTo>
                <a:close/>
                <a:moveTo>
                  <a:pt x="155575" y="66675"/>
                </a:moveTo>
                <a:cubicBezTo>
                  <a:pt x="155575" y="54382"/>
                  <a:pt x="165507" y="44450"/>
                  <a:pt x="177800" y="44450"/>
                </a:cubicBez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77800" y="88900"/>
                </a:lnTo>
                <a:cubicBezTo>
                  <a:pt x="165507" y="88900"/>
                  <a:pt x="155575" y="78968"/>
                  <a:pt x="155575" y="66675"/>
                </a:cubicBezTo>
                <a:close/>
                <a:moveTo>
                  <a:pt x="155575" y="177800"/>
                </a:moveTo>
                <a:cubicBezTo>
                  <a:pt x="155575" y="165507"/>
                  <a:pt x="165507" y="155575"/>
                  <a:pt x="177800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77800" y="200025"/>
                </a:lnTo>
                <a:cubicBezTo>
                  <a:pt x="165507" y="200025"/>
                  <a:pt x="155575" y="190093"/>
                  <a:pt x="155575" y="177800"/>
                </a:cubicBezTo>
                <a:close/>
                <a:moveTo>
                  <a:pt x="111125" y="288925"/>
                </a:moveTo>
                <a:cubicBezTo>
                  <a:pt x="111125" y="276632"/>
                  <a:pt x="121057" y="266700"/>
                  <a:pt x="133350" y="266700"/>
                </a:cubicBez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33350" y="311150"/>
                </a:lnTo>
                <a:cubicBezTo>
                  <a:pt x="121057" y="311150"/>
                  <a:pt x="111125" y="301218"/>
                  <a:pt x="111125" y="288925"/>
                </a:cubicBezTo>
                <a:close/>
                <a:moveTo>
                  <a:pt x="44450" y="261144"/>
                </a:moveTo>
                <a:cubicBezTo>
                  <a:pt x="59783" y="261144"/>
                  <a:pt x="72231" y="273592"/>
                  <a:pt x="72231" y="288925"/>
                </a:cubicBezTo>
                <a:cubicBezTo>
                  <a:pt x="72231" y="304258"/>
                  <a:pt x="59783" y="316706"/>
                  <a:pt x="44450" y="316706"/>
                </a:cubicBezTo>
                <a:cubicBezTo>
                  <a:pt x="29117" y="316706"/>
                  <a:pt x="16669" y="304258"/>
                  <a:pt x="16669" y="288925"/>
                </a:cubicBezTo>
                <a:cubicBezTo>
                  <a:pt x="16669" y="273592"/>
                  <a:pt x="29117" y="261144"/>
                  <a:pt x="44450" y="261144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2" name="Text 8"/>
          <p:cNvSpPr/>
          <p:nvPr/>
        </p:nvSpPr>
        <p:spPr>
          <a:xfrm>
            <a:off x="8509000" y="27686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任务管理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看板视图 · 拖拽管理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01000" y="336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444" y="133350"/>
                </a:move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16669"/>
                </a:lnTo>
                <a:cubicBezTo>
                  <a:pt x="355600" y="9932"/>
                  <a:pt x="351572" y="3820"/>
                  <a:pt x="345321" y="1250"/>
                </a:cubicBezTo>
                <a:cubicBezTo>
                  <a:pt x="339070" y="-1320"/>
                  <a:pt x="331916" y="139"/>
                  <a:pt x="327124" y="4862"/>
                </a:cubicBezTo>
                <a:lnTo>
                  <a:pt x="291217" y="40838"/>
                </a:lnTo>
                <a:cubicBezTo>
                  <a:pt x="260449" y="15349"/>
                  <a:pt x="220861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ubicBezTo>
                  <a:pt x="55007" y="94109"/>
                  <a:pt x="110639" y="44450"/>
                  <a:pt x="177800" y="44450"/>
                </a:cubicBezTo>
                <a:cubicBezTo>
                  <a:pt x="208637" y="44450"/>
                  <a:pt x="236974" y="54868"/>
                  <a:pt x="259546" y="72440"/>
                </a:cubicBezTo>
                <a:lnTo>
                  <a:pt x="227112" y="104874"/>
                </a:lnTo>
                <a:cubicBezTo>
                  <a:pt x="222319" y="109666"/>
                  <a:pt x="220930" y="116820"/>
                  <a:pt x="223500" y="123071"/>
                </a:cubicBezTo>
                <a:cubicBezTo>
                  <a:pt x="226070" y="129322"/>
                  <a:pt x="232182" y="133350"/>
                  <a:pt x="238919" y="133350"/>
                </a:cubicBezTo>
                <a:lnTo>
                  <a:pt x="333444" y="133350"/>
                </a:lnTo>
                <a:close/>
                <a:moveTo>
                  <a:pt x="353864" y="203150"/>
                </a:moveTo>
                <a:cubicBezTo>
                  <a:pt x="355600" y="190996"/>
                  <a:pt x="347127" y="179745"/>
                  <a:pt x="335042" y="178008"/>
                </a:cubicBezTo>
                <a:cubicBezTo>
                  <a:pt x="322957" y="176272"/>
                  <a:pt x="311636" y="184745"/>
                  <a:pt x="309900" y="196830"/>
                </a:cubicBezTo>
                <a:cubicBezTo>
                  <a:pt x="300663" y="261422"/>
                  <a:pt x="245031" y="311081"/>
                  <a:pt x="177869" y="311081"/>
                </a:cubicBezTo>
                <a:cubicBezTo>
                  <a:pt x="147032" y="311081"/>
                  <a:pt x="118695" y="300663"/>
                  <a:pt x="96123" y="283091"/>
                </a:cubicBezTo>
                <a:lnTo>
                  <a:pt x="128488" y="250726"/>
                </a:lnTo>
                <a:cubicBezTo>
                  <a:pt x="133281" y="245934"/>
                  <a:pt x="134670" y="238780"/>
                  <a:pt x="132100" y="232529"/>
                </a:cubicBezTo>
                <a:cubicBezTo>
                  <a:pt x="129530" y="226278"/>
                  <a:pt x="123418" y="222250"/>
                  <a:pt x="116681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38931"/>
                </a:lnTo>
                <a:cubicBezTo>
                  <a:pt x="0" y="345668"/>
                  <a:pt x="4028" y="351780"/>
                  <a:pt x="10279" y="354350"/>
                </a:cubicBezTo>
                <a:cubicBezTo>
                  <a:pt x="16530" y="356920"/>
                  <a:pt x="23684" y="355461"/>
                  <a:pt x="28476" y="350738"/>
                </a:cubicBezTo>
                <a:lnTo>
                  <a:pt x="64453" y="314762"/>
                </a:lnTo>
                <a:cubicBezTo>
                  <a:pt x="95151" y="340251"/>
                  <a:pt x="134739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0"/>
          <p:cNvSpPr/>
          <p:nvPr/>
        </p:nvSpPr>
        <p:spPr>
          <a:xfrm>
            <a:off x="8509000" y="33401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记忆复习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SM-2算法 · 卡片复习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19380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6700" y="133350"/>
                </a:moveTo>
                <a:cubicBezTo>
                  <a:pt x="303510" y="133350"/>
                  <a:pt x="333375" y="103485"/>
                  <a:pt x="333375" y="66675"/>
                </a:cubicBezTo>
                <a:cubicBezTo>
                  <a:pt x="333375" y="29865"/>
                  <a:pt x="303510" y="0"/>
                  <a:pt x="266700" y="0"/>
                </a:cubicBezTo>
                <a:cubicBezTo>
                  <a:pt x="229890" y="0"/>
                  <a:pt x="200025" y="29865"/>
                  <a:pt x="200025" y="66675"/>
                </a:cubicBezTo>
                <a:cubicBezTo>
                  <a:pt x="200025" y="70425"/>
                  <a:pt x="200372" y="74176"/>
                  <a:pt x="200928" y="77788"/>
                </a:cubicBezTo>
                <a:lnTo>
                  <a:pt x="110847" y="127863"/>
                </a:lnTo>
                <a:cubicBezTo>
                  <a:pt x="99110" y="117445"/>
                  <a:pt x="83622" y="111125"/>
                  <a:pt x="66675" y="111125"/>
                </a:cubicBezTo>
                <a:cubicBezTo>
                  <a:pt x="29865" y="111125"/>
                  <a:pt x="0" y="140990"/>
                  <a:pt x="0" y="177800"/>
                </a:cubicBezTo>
                <a:cubicBezTo>
                  <a:pt x="0" y="214610"/>
                  <a:pt x="29865" y="244475"/>
                  <a:pt x="66675" y="244475"/>
                </a:cubicBezTo>
                <a:cubicBezTo>
                  <a:pt x="83622" y="244475"/>
                  <a:pt x="99040" y="238155"/>
                  <a:pt x="110847" y="227737"/>
                </a:cubicBezTo>
                <a:lnTo>
                  <a:pt x="200928" y="277813"/>
                </a:lnTo>
                <a:cubicBezTo>
                  <a:pt x="200303" y="281424"/>
                  <a:pt x="200025" y="285105"/>
                  <a:pt x="200025" y="288925"/>
                </a:cubicBezTo>
                <a:cubicBezTo>
                  <a:pt x="200025" y="325735"/>
                  <a:pt x="229890" y="355600"/>
                  <a:pt x="266700" y="355600"/>
                </a:cubicBezTo>
                <a:cubicBezTo>
                  <a:pt x="303510" y="355600"/>
                  <a:pt x="333375" y="325735"/>
                  <a:pt x="333375" y="288925"/>
                </a:cubicBezTo>
                <a:cubicBezTo>
                  <a:pt x="333375" y="252115"/>
                  <a:pt x="303510" y="222250"/>
                  <a:pt x="266700" y="222250"/>
                </a:cubicBezTo>
                <a:cubicBezTo>
                  <a:pt x="249753" y="222250"/>
                  <a:pt x="234335" y="228570"/>
                  <a:pt x="222528" y="238988"/>
                </a:cubicBezTo>
                <a:lnTo>
                  <a:pt x="132447" y="188913"/>
                </a:lnTo>
                <a:cubicBezTo>
                  <a:pt x="133072" y="185301"/>
                  <a:pt x="133350" y="181620"/>
                  <a:pt x="133350" y="177800"/>
                </a:cubicBezTo>
                <a:cubicBezTo>
                  <a:pt x="133350" y="173980"/>
                  <a:pt x="133003" y="170299"/>
                  <a:pt x="132447" y="166688"/>
                </a:cubicBezTo>
                <a:lnTo>
                  <a:pt x="222528" y="116612"/>
                </a:lnTo>
                <a:cubicBezTo>
                  <a:pt x="234265" y="127030"/>
                  <a:pt x="249753" y="133350"/>
                  <a:pt x="266700" y="13335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6" name="Text 12"/>
          <p:cNvSpPr/>
          <p:nvPr/>
        </p:nvSpPr>
        <p:spPr>
          <a:xfrm>
            <a:off x="12446000" y="16256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协作分享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链接分享 · 权限控制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1938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8" name="Text 14"/>
          <p:cNvSpPr/>
          <p:nvPr/>
        </p:nvSpPr>
        <p:spPr>
          <a:xfrm>
            <a:off x="12446000" y="21971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搜索标签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全局检索 · 标签分类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11982450" y="2794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44450" y="0"/>
                </a:moveTo>
                <a:cubicBezTo>
                  <a:pt x="19933" y="0"/>
                  <a:pt x="0" y="19933"/>
                  <a:pt x="0" y="44450"/>
                </a:cubicBezTo>
                <a:lnTo>
                  <a:pt x="0" y="211138"/>
                </a:lnTo>
                <a:lnTo>
                  <a:pt x="126474" y="211138"/>
                </a:lnTo>
                <a:lnTo>
                  <a:pt x="104944" y="189607"/>
                </a:lnTo>
                <a:cubicBezTo>
                  <a:pt x="98415" y="183078"/>
                  <a:pt x="98415" y="172522"/>
                  <a:pt x="104944" y="166062"/>
                </a:cubicBezTo>
                <a:cubicBezTo>
                  <a:pt x="111472" y="159603"/>
                  <a:pt x="122029" y="159534"/>
                  <a:pt x="128488" y="166062"/>
                </a:cubicBezTo>
                <a:lnTo>
                  <a:pt x="178495" y="216069"/>
                </a:lnTo>
                <a:cubicBezTo>
                  <a:pt x="185023" y="222597"/>
                  <a:pt x="185023" y="233154"/>
                  <a:pt x="178495" y="239613"/>
                </a:cubicBezTo>
                <a:lnTo>
                  <a:pt x="128488" y="289620"/>
                </a:lnTo>
                <a:cubicBezTo>
                  <a:pt x="121960" y="296148"/>
                  <a:pt x="111403" y="296148"/>
                  <a:pt x="104944" y="289620"/>
                </a:cubicBezTo>
                <a:cubicBezTo>
                  <a:pt x="98485" y="283091"/>
                  <a:pt x="98415" y="272534"/>
                  <a:pt x="104944" y="266075"/>
                </a:cubicBezTo>
                <a:lnTo>
                  <a:pt x="126474" y="244544"/>
                </a:lnTo>
                <a:lnTo>
                  <a:pt x="0" y="244544"/>
                </a:lnTo>
                <a:lnTo>
                  <a:pt x="0" y="311219"/>
                </a:lnTo>
                <a:cubicBezTo>
                  <a:pt x="0" y="335736"/>
                  <a:pt x="19933" y="355669"/>
                  <a:pt x="44450" y="355669"/>
                </a:cubicBezTo>
                <a:lnTo>
                  <a:pt x="222250" y="355669"/>
                </a:lnTo>
                <a:cubicBezTo>
                  <a:pt x="246767" y="355669"/>
                  <a:pt x="266700" y="335736"/>
                  <a:pt x="266700" y="311219"/>
                </a:cubicBezTo>
                <a:lnTo>
                  <a:pt x="266700" y="118487"/>
                </a:lnTo>
                <a:cubicBezTo>
                  <a:pt x="266700" y="106680"/>
                  <a:pt x="262047" y="95359"/>
                  <a:pt x="253712" y="87025"/>
                </a:cubicBezTo>
                <a:lnTo>
                  <a:pt x="179675" y="12988"/>
                </a:lnTo>
                <a:cubicBezTo>
                  <a:pt x="171341" y="4653"/>
                  <a:pt x="160089" y="0"/>
                  <a:pt x="148282" y="0"/>
                </a:cubicBezTo>
                <a:lnTo>
                  <a:pt x="44450" y="0"/>
                </a:lnTo>
                <a:close/>
                <a:moveTo>
                  <a:pt x="226070" y="122238"/>
                </a:moveTo>
                <a:lnTo>
                  <a:pt x="161131" y="122238"/>
                </a:lnTo>
                <a:cubicBezTo>
                  <a:pt x="151894" y="122238"/>
                  <a:pt x="144463" y="114806"/>
                  <a:pt x="144463" y="105569"/>
                </a:cubicBezTo>
                <a:lnTo>
                  <a:pt x="144463" y="40630"/>
                </a:lnTo>
                <a:lnTo>
                  <a:pt x="226070" y="122238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0" name="Text 16"/>
          <p:cNvSpPr/>
          <p:nvPr/>
        </p:nvSpPr>
        <p:spPr>
          <a:xfrm>
            <a:off x="12446000" y="27686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导入导出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Markdown兼容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11938000" y="336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2" name="Text 18"/>
          <p:cNvSpPr/>
          <p:nvPr/>
        </p:nvSpPr>
        <p:spPr>
          <a:xfrm>
            <a:off x="12446000" y="33401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番茄钟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25分钟专注计时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8001000" y="3937000"/>
            <a:ext cx="7112000" cy="0"/>
          </a:xfrm>
          <a:prstGeom prst="straightConnector1">
            <a:avLst/>
          </a:prstGeom>
          <a:noFill/>
          <a:ln w="12700">
            <a:solidFill>
              <a:srgbClr val="1E3A8A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Text 20"/>
          <p:cNvSpPr/>
          <p:nvPr/>
        </p:nvSpPr>
        <p:spPr>
          <a:xfrm>
            <a:off x="8001000" y="412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v1.0 MVP 核心功能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8001000" y="45720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FR-001~008 便签管理（课程验收底线）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FR-009~016 知识管理（含双向链接与图谱）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FR-040~042 用户认证（注册/登录/登出）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后续版本逐步开放任务、复习、分享等模块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0" y="8686800"/>
            <a:ext cx="16256000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7" name="Shape 23"/>
          <p:cNvSpPr/>
          <p:nvPr/>
        </p:nvSpPr>
        <p:spPr>
          <a:xfrm>
            <a:off x="0" y="8686800"/>
            <a:ext cx="16256000" cy="0"/>
          </a:xfrm>
          <a:prstGeom prst="straightConnector1">
            <a:avLst/>
          </a:prstGeom>
          <a:noFill/>
          <a:ln w="12700">
            <a:solidFill>
              <a:srgbClr val="1E3A8A"/>
            </a:solidFill>
            <a:prstDash val="solid"/>
            <a:headEnd type="none"/>
            <a:tailEnd type="none"/>
          </a:ln>
        </p:spPr>
      </p:sp>
      <p:sp>
        <p:nvSpPr>
          <p:cNvPr id="28" name="Text 24"/>
          <p:cNvSpPr/>
          <p:nvPr/>
        </p:nvSpPr>
        <p:spPr>
          <a:xfrm>
            <a:off x="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23241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产品定位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6482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用户与需求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9723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972300" y="9105900"/>
            <a:ext cx="23241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3" name="Text 29"/>
          <p:cNvSpPr/>
          <p:nvPr/>
        </p:nvSpPr>
        <p:spPr>
          <a:xfrm>
            <a:off x="92964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分析模型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116205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非功能需求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13944600" y="8686800"/>
            <a:ext cx="2311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总结展望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rotWithShape="1" flip="none">
          <a:gsLst>
            <a:gs pos="0">
              <a:srgbClr val="0B1426"/>
            </a:gs>
            <a:gs pos="100000">
              <a:srgbClr val="162544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1"/>
          <p:cNvSpPr/>
          <p:nvPr/>
        </p:nvSpPr>
        <p:spPr>
          <a:xfrm>
            <a:off x="965200" y="63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核心功能：便签管理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62000" y="1524000"/>
            <a:ext cx="7112000" cy="5080000"/>
          </a:xfrm>
          <a:prstGeom prst="roundRect">
            <a:avLst>
              <a:gd name="adj" fmla="val 6000"/>
            </a:avLst>
          </a:prstGeom>
          <a:solidFill>
            <a:srgbClr val="1E3A8A">
              <a:alpha val="8235"/>
            </a:srgbClr>
          </a:solidFill>
          <a:ln w="12700">
            <a:solidFill>
              <a:srgbClr val="1E3A8A">
                <a:alpha val="25098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17780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快速创建便签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一键唤起输入面板，从点击到输入 ≤ 1步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3000" y="28575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动态时间线展示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按创建时间倒序排列，支持分页加载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39370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标签分类管理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为便签添加多标签，支持已有标签自动补全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50165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编辑、归档、删除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完整生命周期管理，归档后移出默认视图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3000" y="6096000"/>
            <a:ext cx="6350000" cy="508000"/>
          </a:xfrm>
          <a:prstGeom prst="roundRect">
            <a:avLst>
              <a:gd name="adj" fmla="val 6000"/>
            </a:avLst>
          </a:prstGeom>
          <a:solidFill>
            <a:srgbClr val="D4AF37">
              <a:alpha val="8235"/>
            </a:srgbClr>
          </a:solidFill>
          <a:ln w="12700">
            <a:solidFill>
              <a:srgbClr val="D4AF37">
                <a:alpha val="18824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97000" y="6096000"/>
            <a:ext cx="584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核心价值：低门槛信息捕获，让记录零摩擦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382000" y="1524000"/>
            <a:ext cx="7112000" cy="5080000"/>
          </a:xfrm>
          <a:prstGeom prst="roundRect">
            <a:avLst>
              <a:gd name="adj" fmla="val 6000"/>
            </a:avLst>
          </a:prstGeom>
          <a:solidFill>
            <a:srgbClr val="1E3A8A">
              <a:alpha val="8235"/>
            </a:srgbClr>
          </a:solidFill>
          <a:ln w="12700">
            <a:solidFill>
              <a:srgbClr val="1E3A8A">
                <a:alpha val="25098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63000" y="177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便签生命周期流程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0" y="2540000"/>
            <a:ext cx="2032000" cy="635000"/>
          </a:xfrm>
          <a:prstGeom prst="roundRect">
            <a:avLst>
              <a:gd name="adj" fmla="val 10000"/>
            </a:avLst>
          </a:prstGeom>
          <a:solidFill>
            <a:srgbClr val="1E3A8A">
              <a:alpha val="37647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0" y="2540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快速输入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160000" y="3175000"/>
            <a:ext cx="0" cy="38100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9144000" y="3556000"/>
            <a:ext cx="2032000" cy="635000"/>
          </a:xfrm>
          <a:prstGeom prst="roundRect">
            <a:avLst>
              <a:gd name="adj" fmla="val 10000"/>
            </a:avLst>
          </a:prstGeom>
          <a:solidFill>
            <a:srgbClr val="1E3A8A">
              <a:alpha val="37647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0" y="3556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时间线展示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160000" y="4191000"/>
            <a:ext cx="0" cy="38100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9144000" y="4572000"/>
            <a:ext cx="2032000" cy="635000"/>
          </a:xfrm>
          <a:prstGeom prst="roundRect">
            <a:avLst>
              <a:gd name="adj" fmla="val 10000"/>
            </a:avLst>
          </a:prstGeom>
          <a:solidFill>
            <a:srgbClr val="1E3A8A">
              <a:alpha val="37647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0" y="4572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标签/编辑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160000" y="5207000"/>
            <a:ext cx="0" cy="38100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23" name="Shape 20"/>
          <p:cNvSpPr/>
          <p:nvPr/>
        </p:nvSpPr>
        <p:spPr>
          <a:xfrm>
            <a:off x="9144000" y="5588000"/>
            <a:ext cx="2032000" cy="635000"/>
          </a:xfrm>
          <a:prstGeom prst="roundRect">
            <a:avLst>
              <a:gd name="adj" fmla="val 10000"/>
            </a:avLst>
          </a:prstGeom>
          <a:solidFill>
            <a:srgbClr val="1E3A8A">
              <a:alpha val="37647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0" y="5588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归档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0" y="8686800"/>
            <a:ext cx="16256000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6" name="Shape 23"/>
          <p:cNvSpPr/>
          <p:nvPr/>
        </p:nvSpPr>
        <p:spPr>
          <a:xfrm>
            <a:off x="0" y="8686800"/>
            <a:ext cx="16256000" cy="0"/>
          </a:xfrm>
          <a:prstGeom prst="straightConnector1">
            <a:avLst/>
          </a:prstGeom>
          <a:noFill/>
          <a:ln w="12700">
            <a:solidFill>
              <a:srgbClr val="1E3A8A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/>
          <p:nvPr/>
        </p:nvSpPr>
        <p:spPr>
          <a:xfrm>
            <a:off x="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3241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产品定位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6482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用户与需求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9723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972300" y="9105900"/>
            <a:ext cx="23241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2" name="Text 29"/>
          <p:cNvSpPr/>
          <p:nvPr/>
        </p:nvSpPr>
        <p:spPr>
          <a:xfrm>
            <a:off x="92964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分析模型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6205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非功能需求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3944600" y="8686800"/>
            <a:ext cx="2311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总结展望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rotWithShape="1" flip="none">
          <a:gsLst>
            <a:gs pos="0">
              <a:srgbClr val="0B1426"/>
            </a:gs>
            <a:gs pos="100000">
              <a:srgbClr val="162544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1"/>
          <p:cNvSpPr/>
          <p:nvPr/>
        </p:nvSpPr>
        <p:spPr>
          <a:xfrm>
            <a:off x="965200" y="63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核心功能：知识管理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524000" y="2222500"/>
            <a:ext cx="13208000" cy="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6" name="Shape 3"/>
          <p:cNvSpPr/>
          <p:nvPr/>
        </p:nvSpPr>
        <p:spPr>
          <a:xfrm>
            <a:off x="1016000" y="1397000"/>
            <a:ext cx="2794000" cy="1651000"/>
          </a:xfrm>
          <a:prstGeom prst="roundRect">
            <a:avLst>
              <a:gd name="adj" fmla="val 8000"/>
            </a:avLst>
          </a:prstGeom>
          <a:solidFill>
            <a:srgbClr val="1E3A8A">
              <a:alpha val="37647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146300" y="1524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571500"/>
                </a:move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368498"/>
                </a:lnTo>
                <a:cubicBezTo>
                  <a:pt x="533400" y="388739"/>
                  <a:pt x="525423" y="408146"/>
                  <a:pt x="511135" y="422434"/>
                </a:cubicBezTo>
                <a:lnTo>
                  <a:pt x="384215" y="549235"/>
                </a:lnTo>
                <a:cubicBezTo>
                  <a:pt x="369927" y="563523"/>
                  <a:pt x="350520" y="571500"/>
                  <a:pt x="330279" y="571500"/>
                </a:cubicBezTo>
                <a:lnTo>
                  <a:pt x="76200" y="571500"/>
                </a:lnTo>
                <a:close/>
                <a:moveTo>
                  <a:pt x="463748" y="361950"/>
                </a:moveTo>
                <a:lnTo>
                  <a:pt x="352425" y="361950"/>
                </a:lnTo>
                <a:cubicBezTo>
                  <a:pt x="336590" y="361950"/>
                  <a:pt x="323850" y="374690"/>
                  <a:pt x="323850" y="390525"/>
                </a:cubicBezTo>
                <a:lnTo>
                  <a:pt x="323850" y="501848"/>
                </a:lnTo>
                <a:lnTo>
                  <a:pt x="463748" y="36195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222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碎片便签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2603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快速捕获的原始信息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18000" y="1397000"/>
            <a:ext cx="2794000" cy="1651000"/>
          </a:xfrm>
          <a:prstGeom prst="roundRect">
            <a:avLst>
              <a:gd name="adj" fmla="val 8000"/>
            </a:avLst>
          </a:prstGeom>
          <a:solidFill>
            <a:srgbClr val="1E3A8A">
              <a:alpha val="37647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0" y="15240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0" y="76200"/>
                </a:moveTo>
                <a:cubicBezTo>
                  <a:pt x="0" y="34171"/>
                  <a:pt x="34171" y="0"/>
                  <a:pt x="76200" y="0"/>
                </a:cubicBezTo>
                <a:lnTo>
                  <a:pt x="254198" y="0"/>
                </a:lnTo>
                <a:cubicBezTo>
                  <a:pt x="274439" y="0"/>
                  <a:pt x="293846" y="7977"/>
                  <a:pt x="308134" y="22265"/>
                </a:cubicBezTo>
                <a:lnTo>
                  <a:pt x="434935" y="149185"/>
                </a:lnTo>
                <a:cubicBezTo>
                  <a:pt x="449223" y="163473"/>
                  <a:pt x="457200" y="182880"/>
                  <a:pt x="457200" y="203121"/>
                </a:cubicBezTo>
                <a:lnTo>
                  <a:pt x="457200" y="533400"/>
                </a:lnTo>
                <a:cubicBezTo>
                  <a:pt x="457200" y="575429"/>
                  <a:pt x="423029" y="609600"/>
                  <a:pt x="381000" y="609600"/>
                </a:cubicBezTo>
                <a:lnTo>
                  <a:pt x="76200" y="609600"/>
                </a:lnTo>
                <a:cubicBezTo>
                  <a:pt x="34171" y="609600"/>
                  <a:pt x="0" y="575429"/>
                  <a:pt x="0" y="533400"/>
                </a:cubicBezTo>
                <a:lnTo>
                  <a:pt x="0" y="76200"/>
                </a:lnTo>
                <a:close/>
                <a:moveTo>
                  <a:pt x="247650" y="69652"/>
                </a:moveTo>
                <a:lnTo>
                  <a:pt x="247650" y="180975"/>
                </a:lnTo>
                <a:cubicBezTo>
                  <a:pt x="247650" y="196810"/>
                  <a:pt x="260390" y="209550"/>
                  <a:pt x="276225" y="209550"/>
                </a:cubicBezTo>
                <a:lnTo>
                  <a:pt x="387548" y="209550"/>
                </a:lnTo>
                <a:lnTo>
                  <a:pt x="247650" y="69652"/>
                </a:lnTo>
                <a:close/>
                <a:moveTo>
                  <a:pt x="142875" y="304800"/>
                </a:moveTo>
                <a:cubicBezTo>
                  <a:pt x="127040" y="304800"/>
                  <a:pt x="114300" y="317540"/>
                  <a:pt x="114300" y="333375"/>
                </a:cubicBezTo>
                <a:cubicBezTo>
                  <a:pt x="114300" y="349210"/>
                  <a:pt x="127040" y="361950"/>
                  <a:pt x="142875" y="361950"/>
                </a:cubicBezTo>
                <a:lnTo>
                  <a:pt x="314325" y="361950"/>
                </a:lnTo>
                <a:cubicBezTo>
                  <a:pt x="330160" y="361950"/>
                  <a:pt x="342900" y="349210"/>
                  <a:pt x="342900" y="333375"/>
                </a:cubicBezTo>
                <a:cubicBezTo>
                  <a:pt x="342900" y="317540"/>
                  <a:pt x="330160" y="304800"/>
                  <a:pt x="314325" y="304800"/>
                </a:cubicBezTo>
                <a:lnTo>
                  <a:pt x="142875" y="304800"/>
                </a:lnTo>
                <a:close/>
                <a:moveTo>
                  <a:pt x="142875" y="419100"/>
                </a:moveTo>
                <a:cubicBezTo>
                  <a:pt x="127040" y="419100"/>
                  <a:pt x="114300" y="431840"/>
                  <a:pt x="114300" y="447675"/>
                </a:cubicBezTo>
                <a:cubicBezTo>
                  <a:pt x="114300" y="463510"/>
                  <a:pt x="127040" y="476250"/>
                  <a:pt x="142875" y="476250"/>
                </a:cubicBezTo>
                <a:lnTo>
                  <a:pt x="314325" y="476250"/>
                </a:lnTo>
                <a:cubicBezTo>
                  <a:pt x="330160" y="476250"/>
                  <a:pt x="342900" y="463510"/>
                  <a:pt x="342900" y="447675"/>
                </a:cubicBezTo>
                <a:cubicBezTo>
                  <a:pt x="342900" y="431840"/>
                  <a:pt x="330160" y="419100"/>
                  <a:pt x="314325" y="419100"/>
                </a:cubicBezTo>
                <a:lnTo>
                  <a:pt x="142875" y="41910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2" name="Text 9"/>
          <p:cNvSpPr/>
          <p:nvPr/>
        </p:nvSpPr>
        <p:spPr>
          <a:xfrm>
            <a:off x="4445000" y="2222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知识页面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45000" y="2603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一键转化 + Markdown编辑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0" y="1397000"/>
            <a:ext cx="2794000" cy="1651000"/>
          </a:xfrm>
          <a:prstGeom prst="roundRect">
            <a:avLst>
              <a:gd name="adj" fmla="val 8000"/>
            </a:avLst>
          </a:prstGeom>
          <a:solidFill>
            <a:srgbClr val="1E3A8A">
              <a:alpha val="37647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74100" y="1524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99467" y="114300"/>
                </a:moveTo>
                <a:cubicBezTo>
                  <a:pt x="479703" y="114300"/>
                  <a:pt x="460534" y="119658"/>
                  <a:pt x="443746" y="129421"/>
                </a:cubicBezTo>
                <a:cubicBezTo>
                  <a:pt x="424934" y="110371"/>
                  <a:pt x="403027" y="94417"/>
                  <a:pt x="378857" y="82391"/>
                </a:cubicBezTo>
                <a:cubicBezTo>
                  <a:pt x="412433" y="53816"/>
                  <a:pt x="455176" y="38100"/>
                  <a:pt x="499467" y="38100"/>
                </a:cubicBezTo>
                <a:cubicBezTo>
                  <a:pt x="602337" y="38100"/>
                  <a:pt x="685800" y="121444"/>
                  <a:pt x="685800" y="224433"/>
                </a:cubicBezTo>
                <a:cubicBezTo>
                  <a:pt x="685800" y="273844"/>
                  <a:pt x="666155" y="321231"/>
                  <a:pt x="631269" y="356116"/>
                </a:cubicBezTo>
                <a:lnTo>
                  <a:pt x="546616" y="440769"/>
                </a:lnTo>
                <a:cubicBezTo>
                  <a:pt x="511731" y="475655"/>
                  <a:pt x="464344" y="495300"/>
                  <a:pt x="414933" y="495300"/>
                </a:cubicBezTo>
                <a:cubicBezTo>
                  <a:pt x="312063" y="495300"/>
                  <a:pt x="228600" y="411956"/>
                  <a:pt x="228600" y="308967"/>
                </a:cubicBezTo>
                <a:cubicBezTo>
                  <a:pt x="228600" y="307181"/>
                  <a:pt x="228600" y="305395"/>
                  <a:pt x="228719" y="303609"/>
                </a:cubicBezTo>
                <a:cubicBezTo>
                  <a:pt x="229314" y="282535"/>
                  <a:pt x="246817" y="265986"/>
                  <a:pt x="267891" y="266581"/>
                </a:cubicBezTo>
                <a:cubicBezTo>
                  <a:pt x="288965" y="267176"/>
                  <a:pt x="305514" y="284678"/>
                  <a:pt x="304919" y="305753"/>
                </a:cubicBezTo>
                <a:cubicBezTo>
                  <a:pt x="304919" y="306824"/>
                  <a:pt x="304919" y="307896"/>
                  <a:pt x="304919" y="308848"/>
                </a:cubicBezTo>
                <a:cubicBezTo>
                  <a:pt x="304919" y="369689"/>
                  <a:pt x="354211" y="418981"/>
                  <a:pt x="415052" y="418981"/>
                </a:cubicBezTo>
                <a:cubicBezTo>
                  <a:pt x="444222" y="418981"/>
                  <a:pt x="472202" y="407432"/>
                  <a:pt x="492919" y="386715"/>
                </a:cubicBezTo>
                <a:lnTo>
                  <a:pt x="577572" y="302062"/>
                </a:lnTo>
                <a:cubicBezTo>
                  <a:pt x="598170" y="281464"/>
                  <a:pt x="609838" y="253365"/>
                  <a:pt x="609838" y="224195"/>
                </a:cubicBezTo>
                <a:cubicBezTo>
                  <a:pt x="609838" y="163354"/>
                  <a:pt x="560546" y="114062"/>
                  <a:pt x="499705" y="114062"/>
                </a:cubicBezTo>
                <a:close/>
                <a:moveTo>
                  <a:pt x="327660" y="206335"/>
                </a:moveTo>
                <a:cubicBezTo>
                  <a:pt x="325398" y="205383"/>
                  <a:pt x="323136" y="204073"/>
                  <a:pt x="321112" y="202644"/>
                </a:cubicBezTo>
                <a:cubicBezTo>
                  <a:pt x="306110" y="194905"/>
                  <a:pt x="288965" y="190500"/>
                  <a:pt x="270986" y="190500"/>
                </a:cubicBezTo>
                <a:cubicBezTo>
                  <a:pt x="241816" y="190500"/>
                  <a:pt x="213836" y="202049"/>
                  <a:pt x="193119" y="222766"/>
                </a:cubicBezTo>
                <a:lnTo>
                  <a:pt x="108466" y="307419"/>
                </a:lnTo>
                <a:cubicBezTo>
                  <a:pt x="87868" y="328017"/>
                  <a:pt x="76200" y="356116"/>
                  <a:pt x="76200" y="385286"/>
                </a:cubicBezTo>
                <a:cubicBezTo>
                  <a:pt x="76200" y="446127"/>
                  <a:pt x="125492" y="495419"/>
                  <a:pt x="186333" y="495419"/>
                </a:cubicBezTo>
                <a:cubicBezTo>
                  <a:pt x="205978" y="495419"/>
                  <a:pt x="225147" y="490180"/>
                  <a:pt x="241935" y="480417"/>
                </a:cubicBezTo>
                <a:cubicBezTo>
                  <a:pt x="260747" y="499467"/>
                  <a:pt x="282654" y="515422"/>
                  <a:pt x="306943" y="527447"/>
                </a:cubicBezTo>
                <a:cubicBezTo>
                  <a:pt x="273368" y="555903"/>
                  <a:pt x="230743" y="571738"/>
                  <a:pt x="186333" y="571738"/>
                </a:cubicBezTo>
                <a:cubicBezTo>
                  <a:pt x="83463" y="571738"/>
                  <a:pt x="0" y="488394"/>
                  <a:pt x="0" y="385405"/>
                </a:cubicBezTo>
                <a:cubicBezTo>
                  <a:pt x="0" y="335994"/>
                  <a:pt x="19645" y="288607"/>
                  <a:pt x="54531" y="253722"/>
                </a:cubicBezTo>
                <a:lnTo>
                  <a:pt x="139184" y="169069"/>
                </a:lnTo>
                <a:cubicBezTo>
                  <a:pt x="174069" y="134183"/>
                  <a:pt x="221456" y="114538"/>
                  <a:pt x="270867" y="114538"/>
                </a:cubicBezTo>
                <a:cubicBezTo>
                  <a:pt x="373975" y="114538"/>
                  <a:pt x="457200" y="198596"/>
                  <a:pt x="457200" y="301347"/>
                </a:cubicBezTo>
                <a:cubicBezTo>
                  <a:pt x="457200" y="302895"/>
                  <a:pt x="457200" y="304443"/>
                  <a:pt x="457200" y="305991"/>
                </a:cubicBezTo>
                <a:cubicBezTo>
                  <a:pt x="456724" y="327065"/>
                  <a:pt x="439222" y="343614"/>
                  <a:pt x="418148" y="343138"/>
                </a:cubicBezTo>
                <a:cubicBezTo>
                  <a:pt x="397073" y="342662"/>
                  <a:pt x="380524" y="325160"/>
                  <a:pt x="381000" y="304086"/>
                </a:cubicBezTo>
                <a:cubicBezTo>
                  <a:pt x="381000" y="303133"/>
                  <a:pt x="381000" y="302300"/>
                  <a:pt x="381000" y="301347"/>
                </a:cubicBezTo>
                <a:cubicBezTo>
                  <a:pt x="381000" y="261223"/>
                  <a:pt x="359569" y="225981"/>
                  <a:pt x="327660" y="206573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6" name="Text 13"/>
          <p:cNvSpPr/>
          <p:nvPr/>
        </p:nvSpPr>
        <p:spPr>
          <a:xfrm>
            <a:off x="7747000" y="2222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双向链接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47000" y="2603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[[触发，自动维护反向链接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922000" y="1397000"/>
            <a:ext cx="2794000" cy="1651000"/>
          </a:xfrm>
          <a:prstGeom prst="roundRect">
            <a:avLst>
              <a:gd name="adj" fmla="val 8000"/>
            </a:avLst>
          </a:prstGeom>
          <a:solidFill>
            <a:srgbClr val="1E3A8A">
              <a:alpha val="37647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014200" y="152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98158" y="188000"/>
                </a:moveTo>
                <a:cubicBezTo>
                  <a:pt x="540187" y="178117"/>
                  <a:pt x="571500" y="140375"/>
                  <a:pt x="571500" y="95250"/>
                </a:cubicBezTo>
                <a:cubicBezTo>
                  <a:pt x="571500" y="42624"/>
                  <a:pt x="528876" y="0"/>
                  <a:pt x="476250" y="0"/>
                </a:cubicBezTo>
                <a:cubicBezTo>
                  <a:pt x="424577" y="0"/>
                  <a:pt x="382548" y="41077"/>
                  <a:pt x="381000" y="92273"/>
                </a:cubicBezTo>
                <a:lnTo>
                  <a:pt x="162163" y="179903"/>
                </a:lnTo>
                <a:cubicBezTo>
                  <a:pt x="144899" y="162878"/>
                  <a:pt x="121325" y="152400"/>
                  <a:pt x="95250" y="152400"/>
                </a:cubicBezTo>
                <a:cubicBezTo>
                  <a:pt x="42624" y="152400"/>
                  <a:pt x="0" y="195024"/>
                  <a:pt x="0" y="247650"/>
                </a:cubicBezTo>
                <a:cubicBezTo>
                  <a:pt x="0" y="300276"/>
                  <a:pt x="42624" y="342900"/>
                  <a:pt x="95250" y="342900"/>
                </a:cubicBezTo>
                <a:cubicBezTo>
                  <a:pt x="109776" y="342900"/>
                  <a:pt x="123587" y="339685"/>
                  <a:pt x="135850" y="333851"/>
                </a:cubicBezTo>
                <a:lnTo>
                  <a:pt x="309205" y="485537"/>
                </a:lnTo>
                <a:cubicBezTo>
                  <a:pt x="306348" y="494586"/>
                  <a:pt x="304800" y="504349"/>
                  <a:pt x="304800" y="514350"/>
                </a:cubicBezTo>
                <a:cubicBezTo>
                  <a:pt x="304800" y="566976"/>
                  <a:pt x="347424" y="609600"/>
                  <a:pt x="400050" y="609600"/>
                </a:cubicBezTo>
                <a:cubicBezTo>
                  <a:pt x="452676" y="609600"/>
                  <a:pt x="495300" y="566976"/>
                  <a:pt x="495300" y="514350"/>
                </a:cubicBezTo>
                <a:cubicBezTo>
                  <a:pt x="495300" y="481370"/>
                  <a:pt x="478631" y="452318"/>
                  <a:pt x="453152" y="435293"/>
                </a:cubicBezTo>
                <a:lnTo>
                  <a:pt x="498158" y="188000"/>
                </a:lnTo>
                <a:close/>
                <a:moveTo>
                  <a:pt x="186095" y="276463"/>
                </a:moveTo>
                <a:cubicBezTo>
                  <a:pt x="188714" y="268248"/>
                  <a:pt x="190262" y="259556"/>
                  <a:pt x="190500" y="250627"/>
                </a:cubicBezTo>
                <a:lnTo>
                  <a:pt x="409337" y="163116"/>
                </a:lnTo>
                <a:cubicBezTo>
                  <a:pt x="413623" y="167283"/>
                  <a:pt x="418148" y="171093"/>
                  <a:pt x="423148" y="174427"/>
                </a:cubicBezTo>
                <a:lnTo>
                  <a:pt x="378143" y="421600"/>
                </a:lnTo>
                <a:cubicBezTo>
                  <a:pt x="371594" y="423148"/>
                  <a:pt x="365284" y="425291"/>
                  <a:pt x="359331" y="428149"/>
                </a:cubicBezTo>
                <a:lnTo>
                  <a:pt x="186095" y="276463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0" name="Text 17"/>
          <p:cNvSpPr/>
          <p:nvPr/>
        </p:nvSpPr>
        <p:spPr>
          <a:xfrm>
            <a:off x="11049000" y="2222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知识图谱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049000" y="2603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力导向图可视化关联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62000" y="3683000"/>
            <a:ext cx="14732000" cy="2921000"/>
          </a:xfrm>
          <a:prstGeom prst="roundRect">
            <a:avLst>
              <a:gd name="adj" fmla="val 6000"/>
            </a:avLst>
          </a:prstGeom>
          <a:solidFill>
            <a:srgbClr val="1E3A8A">
              <a:alpha val="8235"/>
            </a:srgbClr>
          </a:solidFill>
          <a:ln w="12700">
            <a:solidFill>
              <a:srgbClr val="1E3A8A">
                <a:alpha val="25098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70000" y="393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关键功能特性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70000" y="4445000"/>
            <a:ext cx="1371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便签转知识页面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：点击"转为知识页面"按钮，系统自动创建页面，内容来源于便签，标题默认取前20字符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Markdown实时预览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：编辑器支持标准Markdown语法，输入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[[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触发双向链接选择器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双向链接自动维护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：创建正向链接时，系统自动在目标页面建立反向链接记录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知识图谱交互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：力导向图布局，支持节点拖拽、缩放、点击跳转详情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0" y="8686800"/>
            <a:ext cx="16256000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6" name="Shape 23"/>
          <p:cNvSpPr/>
          <p:nvPr/>
        </p:nvSpPr>
        <p:spPr>
          <a:xfrm>
            <a:off x="0" y="8686800"/>
            <a:ext cx="16256000" cy="0"/>
          </a:xfrm>
          <a:prstGeom prst="straightConnector1">
            <a:avLst/>
          </a:prstGeom>
          <a:noFill/>
          <a:ln w="12700">
            <a:solidFill>
              <a:srgbClr val="1E3A8A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/>
          <p:nvPr/>
        </p:nvSpPr>
        <p:spPr>
          <a:xfrm>
            <a:off x="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3241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产品定位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6482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用户与需求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9723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972300" y="9105900"/>
            <a:ext cx="23241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2" name="Text 29"/>
          <p:cNvSpPr/>
          <p:nvPr/>
        </p:nvSpPr>
        <p:spPr>
          <a:xfrm>
            <a:off x="92964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分析模型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6205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非功能需求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3944600" y="8686800"/>
            <a:ext cx="2311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总结展望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rotWithShape="1" flip="none">
          <a:gsLst>
            <a:gs pos="0">
              <a:srgbClr val="0B1426"/>
            </a:gs>
            <a:gs pos="100000">
              <a:srgbClr val="162544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1"/>
          <p:cNvSpPr/>
          <p:nvPr/>
        </p:nvSpPr>
        <p:spPr>
          <a:xfrm>
            <a:off x="965200" y="63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核心功能：任务管理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62000" y="1524000"/>
            <a:ext cx="14732000" cy="3556000"/>
          </a:xfrm>
          <a:prstGeom prst="roundRect">
            <a:avLst>
              <a:gd name="adj" fmla="val 6000"/>
            </a:avLst>
          </a:prstGeom>
          <a:solidFill>
            <a:srgbClr val="1E3A8A">
              <a:alpha val="8235"/>
            </a:srgbClr>
          </a:solidFill>
          <a:ln w="12700">
            <a:solidFill>
              <a:srgbClr val="1E3A8A">
                <a:alpha val="25098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1714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看板视图示意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43000" y="2286000"/>
            <a:ext cx="4318000" cy="2540000"/>
          </a:xfrm>
          <a:prstGeom prst="roundRect">
            <a:avLst>
              <a:gd name="adj" fmla="val 6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97000" y="2476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待办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97000" y="29845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1E3A8A">
              <a:alpha val="31373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87500" y="29845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调研React 18并发模式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97000" y="37465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1E3A8A">
              <a:alpha val="31373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87500" y="37465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整理需求文档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69000" y="2286000"/>
            <a:ext cx="4318000" cy="2540000"/>
          </a:xfrm>
          <a:prstGeom prst="roundRect">
            <a:avLst>
              <a:gd name="adj" fmla="val 6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23000" y="2476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进行中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23000" y="29845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1E3A8A">
              <a:alpha val="31373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13500" y="29845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设计数据库模型 ⏱ 25min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795000" y="2286000"/>
            <a:ext cx="4318000" cy="2540000"/>
          </a:xfrm>
          <a:prstGeom prst="roundRect">
            <a:avLst>
              <a:gd name="adj" fmla="val 6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049000" y="2476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已完成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1049000" y="29845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1E3A8A">
              <a:alpha val="31373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239500" y="29845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trike="sngStrike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项目立项会议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5461000"/>
            <a:ext cx="14732000" cy="2667000"/>
          </a:xfrm>
          <a:prstGeom prst="roundRect">
            <a:avLst>
              <a:gd name="adj" fmla="val 6000"/>
            </a:avLst>
          </a:prstGeom>
          <a:solidFill>
            <a:srgbClr val="1E3A8A">
              <a:alpha val="8235"/>
            </a:srgbClr>
          </a:solidFill>
          <a:ln w="12700">
            <a:solidFill>
              <a:srgbClr val="1E3A8A">
                <a:alpha val="25098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43000" y="5715000"/>
            <a:ext cx="673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笔记内容一键转任务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选中文本 → 右键"转化为任务" → 看板创建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82000" y="5715000"/>
            <a:ext cx="673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拖拽改变任务状态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鼠标拖拽卡片在列间移动，实时更新状态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43000" y="6858000"/>
            <a:ext cx="673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丰富的任务属性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截止日期、优先级(高/中/低)、预估工时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382000" y="6858000"/>
            <a:ext cx="673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番茄钟联动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从"进行中"任务启动25分钟专注计时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0" y="8686800"/>
            <a:ext cx="16256000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7" name="Shape 24"/>
          <p:cNvSpPr/>
          <p:nvPr/>
        </p:nvSpPr>
        <p:spPr>
          <a:xfrm>
            <a:off x="0" y="8686800"/>
            <a:ext cx="16256000" cy="0"/>
          </a:xfrm>
          <a:prstGeom prst="straightConnector1">
            <a:avLst/>
          </a:prstGeom>
          <a:noFill/>
          <a:ln w="12700">
            <a:solidFill>
              <a:srgbClr val="1E3A8A"/>
            </a:solidFill>
            <a:prstDash val="solid"/>
            <a:headEnd type="none"/>
            <a:tailEnd type="none"/>
          </a:ln>
        </p:spPr>
      </p:sp>
      <p:sp>
        <p:nvSpPr>
          <p:cNvPr id="28" name="Text 25"/>
          <p:cNvSpPr/>
          <p:nvPr/>
        </p:nvSpPr>
        <p:spPr>
          <a:xfrm>
            <a:off x="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3241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产品定位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6482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用户与需求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9723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972300" y="9105900"/>
            <a:ext cx="23241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3" name="Text 30"/>
          <p:cNvSpPr/>
          <p:nvPr/>
        </p:nvSpPr>
        <p:spPr>
          <a:xfrm>
            <a:off x="92964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分析模型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6205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非功能需求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3944600" y="8686800"/>
            <a:ext cx="2311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总结展望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rotWithShape="1" flip="none">
          <a:gsLst>
            <a:gs pos="0">
              <a:srgbClr val="0B1426"/>
            </a:gs>
            <a:gs pos="100000">
              <a:srgbClr val="162544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1"/>
          <p:cNvSpPr/>
          <p:nvPr/>
        </p:nvSpPr>
        <p:spPr>
          <a:xfrm>
            <a:off x="9652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记忆复习与协作分享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62000" y="1524000"/>
            <a:ext cx="7175500" cy="5080000"/>
          </a:xfrm>
          <a:prstGeom prst="roundRect">
            <a:avLst>
              <a:gd name="adj" fmla="val 6000"/>
            </a:avLst>
          </a:prstGeom>
          <a:solidFill>
            <a:srgbClr val="1E3A8A">
              <a:alpha val="8235"/>
            </a:srgbClr>
          </a:solidFill>
          <a:ln w="12700">
            <a:solidFill>
              <a:srgbClr val="1E3A8A">
                <a:alpha val="25098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1778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记忆复习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6040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413000"/>
            <a:ext cx="64135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从笔记创建问答卡片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选中文本，补充问题字段，一键生成记忆卡片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SM-2 间隔重复算法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自动安排复习计划，新卡片首次间隔1天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动态调整复习间隔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"记得"延长间隔，"忘记"重置间隔为1天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卡片状态流转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新建 → 学习中 → 复习中 → 已掌握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318500" y="1524000"/>
            <a:ext cx="7175500" cy="5080000"/>
          </a:xfrm>
          <a:prstGeom prst="roundRect">
            <a:avLst>
              <a:gd name="adj" fmla="val 6000"/>
            </a:avLst>
          </a:prstGeom>
          <a:solidFill>
            <a:srgbClr val="1E3A8A">
              <a:alpha val="8235"/>
            </a:srgbClr>
          </a:solidFill>
          <a:ln w="12700">
            <a:solidFill>
              <a:srgbClr val="1E3A8A">
                <a:alpha val="25098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99500" y="1778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协作分享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41605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4800" y="152400"/>
                </a:moveTo>
                <a:cubicBezTo>
                  <a:pt x="346869" y="152400"/>
                  <a:pt x="381000" y="118269"/>
                  <a:pt x="381000" y="76200"/>
                </a:cubicBezTo>
                <a:cubicBezTo>
                  <a:pt x="381000" y="34131"/>
                  <a:pt x="346869" y="0"/>
                  <a:pt x="304800" y="0"/>
                </a:cubicBezTo>
                <a:cubicBezTo>
                  <a:pt x="262731" y="0"/>
                  <a:pt x="228600" y="34131"/>
                  <a:pt x="228600" y="76200"/>
                </a:cubicBezTo>
                <a:cubicBezTo>
                  <a:pt x="228600" y="80486"/>
                  <a:pt x="228997" y="84773"/>
                  <a:pt x="229632" y="88900"/>
                </a:cubicBezTo>
                <a:lnTo>
                  <a:pt x="126683" y="146129"/>
                </a:lnTo>
                <a:cubicBezTo>
                  <a:pt x="113268" y="134223"/>
                  <a:pt x="95567" y="127000"/>
                  <a:pt x="76200" y="127000"/>
                </a:cubicBezTo>
                <a:cubicBezTo>
                  <a:pt x="34131" y="127000"/>
                  <a:pt x="0" y="161131"/>
                  <a:pt x="0" y="203200"/>
                </a:cubicBezTo>
                <a:cubicBezTo>
                  <a:pt x="0" y="245269"/>
                  <a:pt x="34131" y="279400"/>
                  <a:pt x="76200" y="279400"/>
                </a:cubicBezTo>
                <a:cubicBezTo>
                  <a:pt x="95568" y="279400"/>
                  <a:pt x="113189" y="272177"/>
                  <a:pt x="126683" y="260271"/>
                </a:cubicBezTo>
                <a:lnTo>
                  <a:pt x="229632" y="317500"/>
                </a:lnTo>
                <a:cubicBezTo>
                  <a:pt x="228918" y="321628"/>
                  <a:pt x="228600" y="325834"/>
                  <a:pt x="228600" y="330200"/>
                </a:cubicBezTo>
                <a:cubicBezTo>
                  <a:pt x="228600" y="372269"/>
                  <a:pt x="262731" y="406400"/>
                  <a:pt x="304800" y="406400"/>
                </a:cubicBezTo>
                <a:cubicBezTo>
                  <a:pt x="346869" y="406400"/>
                  <a:pt x="381000" y="372269"/>
                  <a:pt x="381000" y="330200"/>
                </a:cubicBezTo>
                <a:cubicBezTo>
                  <a:pt x="381000" y="288131"/>
                  <a:pt x="346869" y="254000"/>
                  <a:pt x="304800" y="254000"/>
                </a:cubicBezTo>
                <a:cubicBezTo>
                  <a:pt x="285433" y="254000"/>
                  <a:pt x="267811" y="261223"/>
                  <a:pt x="254317" y="273129"/>
                </a:cubicBezTo>
                <a:lnTo>
                  <a:pt x="151368" y="215900"/>
                </a:lnTo>
                <a:cubicBezTo>
                  <a:pt x="152083" y="211773"/>
                  <a:pt x="152400" y="207566"/>
                  <a:pt x="152400" y="203200"/>
                </a:cubicBezTo>
                <a:cubicBezTo>
                  <a:pt x="152400" y="198834"/>
                  <a:pt x="152003" y="194628"/>
                  <a:pt x="151368" y="190500"/>
                </a:cubicBezTo>
                <a:lnTo>
                  <a:pt x="254317" y="133271"/>
                </a:lnTo>
                <a:cubicBezTo>
                  <a:pt x="267732" y="145177"/>
                  <a:pt x="285432" y="152400"/>
                  <a:pt x="304800" y="1524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2" name="Text 9"/>
          <p:cNvSpPr/>
          <p:nvPr/>
        </p:nvSpPr>
        <p:spPr>
          <a:xfrm>
            <a:off x="8699500" y="2413000"/>
            <a:ext cx="64135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生成分享链接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含唯一Token的URL，通过即时通讯工具分享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权限控制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只读 / 可编辑 两种权限模式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有效期控制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支持 1天 / 7天 / 30天 / 永久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撤销分享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分享者随时撤销，链接立即失效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0" y="8686800"/>
            <a:ext cx="16256000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14" name="Shape 11"/>
          <p:cNvSpPr/>
          <p:nvPr/>
        </p:nvSpPr>
        <p:spPr>
          <a:xfrm>
            <a:off x="0" y="8686800"/>
            <a:ext cx="16256000" cy="0"/>
          </a:xfrm>
          <a:prstGeom prst="straightConnector1">
            <a:avLst/>
          </a:prstGeom>
          <a:noFill/>
          <a:ln w="12700">
            <a:solidFill>
              <a:srgbClr val="1E3A8A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/>
          <p:nvPr/>
        </p:nvSpPr>
        <p:spPr>
          <a:xfrm>
            <a:off x="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3241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产品定位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6482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用户与需求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9723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972300" y="9105900"/>
            <a:ext cx="23241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7"/>
          <p:cNvSpPr/>
          <p:nvPr/>
        </p:nvSpPr>
        <p:spPr>
          <a:xfrm>
            <a:off x="92964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分析模型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6205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非功能需求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3944600" y="8686800"/>
            <a:ext cx="2311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总结展望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rotWithShape="1" flip="none">
          <a:gsLst>
            <a:gs pos="0">
              <a:srgbClr val="0B1426"/>
            </a:gs>
            <a:gs pos="100000">
              <a:srgbClr val="162544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1"/>
          <p:cNvSpPr/>
          <p:nvPr/>
        </p:nvSpPr>
        <p:spPr>
          <a:xfrm>
            <a:off x="965200" y="63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核心用例分析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62000" y="1524000"/>
            <a:ext cx="4699000" cy="3048000"/>
          </a:xfrm>
          <a:prstGeom prst="roundRect">
            <a:avLst>
              <a:gd name="adj" fmla="val 6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6000" y="17145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095500" y="17145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创建与查看便签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22225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参与者：所有用户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优先级：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点击快速输入入口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输入便签内容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保存 → 时间线展示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778500" y="1524000"/>
            <a:ext cx="4699000" cy="3048000"/>
          </a:xfrm>
          <a:prstGeom prst="roundRect">
            <a:avLst>
              <a:gd name="adj" fmla="val 6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2500" y="17145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12000" y="17145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便签转知识页面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32500" y="22225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参与者：所有用户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优先级：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查看便签详情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点击"转为知识页面"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系统自动创建并跳转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795000" y="1524000"/>
            <a:ext cx="4699000" cy="3048000"/>
          </a:xfrm>
          <a:prstGeom prst="roundRect">
            <a:avLst>
              <a:gd name="adj" fmla="val 6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049000" y="17145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128500" y="17145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创建双向链接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049000" y="22225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参与者：所有用户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优先级：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编辑器输入[[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选择目标实体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自动建立双向链接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63900" y="5016500"/>
            <a:ext cx="4699000" cy="3048000"/>
          </a:xfrm>
          <a:prstGeom prst="roundRect">
            <a:avLst>
              <a:gd name="adj" fmla="val 6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17900" y="5207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97400" y="52070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笔记内容转任务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517900" y="57150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参与者：所有用户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优先级：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选中文本内容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选择"转化为任务"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看板"待办"列创建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280400" y="5016500"/>
            <a:ext cx="4699000" cy="3048000"/>
          </a:xfrm>
          <a:prstGeom prst="roundRect">
            <a:avLst>
              <a:gd name="adj" fmla="val 6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34400" y="5207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UC-06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613900" y="52070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任务看板管理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534400" y="57150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参与者：所有用户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优先级：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进入看板视图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拖拽任务卡片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实时更新任务状态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0" y="8686800"/>
            <a:ext cx="16256000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6" name="Shape 23"/>
          <p:cNvSpPr/>
          <p:nvPr/>
        </p:nvSpPr>
        <p:spPr>
          <a:xfrm>
            <a:off x="0" y="8686800"/>
            <a:ext cx="16256000" cy="0"/>
          </a:xfrm>
          <a:prstGeom prst="straightConnector1">
            <a:avLst/>
          </a:prstGeom>
          <a:noFill/>
          <a:ln w="12700">
            <a:solidFill>
              <a:srgbClr val="1E3A8A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/>
          <p:nvPr/>
        </p:nvSpPr>
        <p:spPr>
          <a:xfrm>
            <a:off x="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3241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产品定位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6482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用户与需求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9723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2964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分析模型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296400" y="9105900"/>
            <a:ext cx="23241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3" name="Text 30"/>
          <p:cNvSpPr/>
          <p:nvPr/>
        </p:nvSpPr>
        <p:spPr>
          <a:xfrm>
            <a:off x="116205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非功能需求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3944600" y="8686800"/>
            <a:ext cx="2311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总结展望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rotWithShape="1" flip="none">
          <a:gsLst>
            <a:gs pos="0">
              <a:srgbClr val="0B1426"/>
            </a:gs>
            <a:gs pos="100000">
              <a:srgbClr val="162544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1"/>
          <p:cNvSpPr/>
          <p:nvPr/>
        </p:nvSpPr>
        <p:spPr>
          <a:xfrm>
            <a:off x="965200" y="63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数据流与业务流程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016000" y="2540000"/>
            <a:ext cx="1524000" cy="762000"/>
          </a:xfrm>
          <a:prstGeom prst="ellipse">
            <a:avLst/>
          </a:prstGeom>
          <a:solidFill>
            <a:srgbClr val="1E3A8A">
              <a:alpha val="37647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6000" y="2540000"/>
            <a:ext cx="15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用户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0" y="2730500"/>
            <a:ext cx="1016000" cy="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8" name="Shape 5"/>
          <p:cNvSpPr/>
          <p:nvPr/>
        </p:nvSpPr>
        <p:spPr>
          <a:xfrm>
            <a:off x="3556000" y="2286000"/>
            <a:ext cx="2032000" cy="889000"/>
          </a:xfrm>
          <a:prstGeom prst="roundRect">
            <a:avLst>
              <a:gd name="adj" fmla="val 10000"/>
            </a:avLst>
          </a:prstGeom>
          <a:solidFill>
            <a:srgbClr val="1E3A8A">
              <a:alpha val="50196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56000" y="22860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P1 便签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管理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88000" y="2730500"/>
            <a:ext cx="10160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11" name="Shape 8"/>
          <p:cNvSpPr/>
          <p:nvPr/>
        </p:nvSpPr>
        <p:spPr>
          <a:xfrm>
            <a:off x="6604000" y="2286000"/>
            <a:ext cx="2032000" cy="889000"/>
          </a:xfrm>
          <a:prstGeom prst="roundRect">
            <a:avLst>
              <a:gd name="adj" fmla="val 10000"/>
            </a:avLst>
          </a:prstGeom>
          <a:solidFill>
            <a:srgbClr val="1E3A8A">
              <a:alpha val="50196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04000" y="22860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P2 知识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管理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36000" y="2730500"/>
            <a:ext cx="10160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9652000" y="2286000"/>
            <a:ext cx="2032000" cy="889000"/>
          </a:xfrm>
          <a:prstGeom prst="roundRect">
            <a:avLst>
              <a:gd name="adj" fmla="val 10000"/>
            </a:avLst>
          </a:prstGeom>
          <a:solidFill>
            <a:srgbClr val="1E3A8A">
              <a:alpha val="50196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52000" y="2286000"/>
            <a:ext cx="203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P3 任务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管理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684000" y="2730500"/>
            <a:ext cx="1016000" cy="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12700000" y="2540000"/>
            <a:ext cx="1778000" cy="762000"/>
          </a:xfrm>
          <a:prstGeom prst="roundRect">
            <a:avLst>
              <a:gd name="adj" fmla="val 10000"/>
            </a:avLst>
          </a:prstGeom>
          <a:solidFill>
            <a:srgbClr val="1E3A8A">
              <a:alpha val="25098"/>
            </a:srgbClr>
          </a:solidFill>
          <a:ln w="25400">
            <a:solidFill>
              <a:srgbClr val="3B82F6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12700000" y="2540000"/>
            <a:ext cx="177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外部协作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平台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556000" y="4318000"/>
            <a:ext cx="2032000" cy="762000"/>
          </a:xfrm>
          <a:prstGeom prst="roundRect">
            <a:avLst>
              <a:gd name="adj" fmla="val 10000"/>
            </a:avLst>
          </a:prstGeom>
          <a:solidFill>
            <a:srgbClr val="0B1426">
              <a:alpha val="50196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56000" y="4318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D2 便签数据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72000" y="3175000"/>
            <a:ext cx="0" cy="1143000"/>
          </a:xfrm>
          <a:prstGeom prst="straightConnector1">
            <a:avLst/>
          </a:prstGeom>
          <a:noFill/>
          <a:ln w="12700">
            <a:solidFill>
              <a:srgbClr val="3B82F6"/>
            </a:solidFill>
            <a:prstDash val="solid"/>
            <a:headEnd type="arrow"/>
            <a:tailEnd type="arrow"/>
          </a:ln>
        </p:spPr>
      </p:sp>
      <p:sp>
        <p:nvSpPr>
          <p:cNvPr id="22" name="Shape 19"/>
          <p:cNvSpPr/>
          <p:nvPr/>
        </p:nvSpPr>
        <p:spPr>
          <a:xfrm>
            <a:off x="6604000" y="4318000"/>
            <a:ext cx="2032000" cy="762000"/>
          </a:xfrm>
          <a:prstGeom prst="roundRect">
            <a:avLst>
              <a:gd name="adj" fmla="val 10000"/>
            </a:avLst>
          </a:prstGeom>
          <a:solidFill>
            <a:srgbClr val="0B1426">
              <a:alpha val="50196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04000" y="4318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D3 知识页面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620000" y="3175000"/>
            <a:ext cx="0" cy="1143000"/>
          </a:xfrm>
          <a:prstGeom prst="straightConnector1">
            <a:avLst/>
          </a:prstGeom>
          <a:noFill/>
          <a:ln w="12700">
            <a:solidFill>
              <a:srgbClr val="3B82F6"/>
            </a:solidFill>
            <a:prstDash val="solid"/>
            <a:headEnd type="arrow"/>
            <a:tailEnd type="arrow"/>
          </a:ln>
        </p:spPr>
      </p:sp>
      <p:sp>
        <p:nvSpPr>
          <p:cNvPr id="25" name="Shape 22"/>
          <p:cNvSpPr/>
          <p:nvPr/>
        </p:nvSpPr>
        <p:spPr>
          <a:xfrm>
            <a:off x="9652000" y="4318000"/>
            <a:ext cx="2032000" cy="762000"/>
          </a:xfrm>
          <a:prstGeom prst="roundRect">
            <a:avLst>
              <a:gd name="adj" fmla="val 10000"/>
            </a:avLst>
          </a:prstGeom>
          <a:solidFill>
            <a:srgbClr val="0B1426">
              <a:alpha val="50196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52000" y="4318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D5 任务数据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0668000" y="3175000"/>
            <a:ext cx="0" cy="1143000"/>
          </a:xfrm>
          <a:prstGeom prst="straightConnector1">
            <a:avLst/>
          </a:prstGeom>
          <a:noFill/>
          <a:ln w="12700">
            <a:solidFill>
              <a:srgbClr val="3B82F6"/>
            </a:solidFill>
            <a:prstDash val="solid"/>
            <a:headEnd type="arrow"/>
            <a:tailEnd type="arrow"/>
          </a:ln>
        </p:spPr>
      </p:sp>
      <p:sp>
        <p:nvSpPr>
          <p:cNvPr id="28" name="Shape 25"/>
          <p:cNvSpPr/>
          <p:nvPr/>
        </p:nvSpPr>
        <p:spPr>
          <a:xfrm>
            <a:off x="6604000" y="5715000"/>
            <a:ext cx="2032000" cy="762000"/>
          </a:xfrm>
          <a:prstGeom prst="roundRect">
            <a:avLst>
              <a:gd name="adj" fmla="val 10000"/>
            </a:avLst>
          </a:prstGeom>
          <a:solidFill>
            <a:srgbClr val="0B1426">
              <a:alpha val="50196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04000" y="57150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D4 链接关系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620000" y="5080000"/>
            <a:ext cx="0" cy="635000"/>
          </a:xfrm>
          <a:prstGeom prst="straightConnector1">
            <a:avLst/>
          </a:prstGeom>
          <a:noFill/>
          <a:ln w="12700">
            <a:solidFill>
              <a:srgbClr val="3B82F6"/>
            </a:solidFill>
            <a:prstDash val="solid"/>
            <a:headEnd type="arrow"/>
            <a:tailEnd type="arrow"/>
          </a:ln>
        </p:spPr>
      </p:sp>
      <p:sp>
        <p:nvSpPr>
          <p:cNvPr id="31" name="Text 28"/>
          <p:cNvSpPr/>
          <p:nvPr/>
        </p:nvSpPr>
        <p:spPr>
          <a:xfrm>
            <a:off x="762000" y="6858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顶层DFD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：用户向系统输入便签/知识/任务指令，系统通过Webhook向外部平台推送通知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第一层DFD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：P1→P2（便签转知识页面），P2→P3（笔记转任务），数据流在模块间自然流转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0" y="8686800"/>
            <a:ext cx="16256000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3" name="Shape 30"/>
          <p:cNvSpPr/>
          <p:nvPr/>
        </p:nvSpPr>
        <p:spPr>
          <a:xfrm>
            <a:off x="0" y="8686800"/>
            <a:ext cx="16256000" cy="0"/>
          </a:xfrm>
          <a:prstGeom prst="straightConnector1">
            <a:avLst/>
          </a:prstGeom>
          <a:noFill/>
          <a:ln w="12700">
            <a:solidFill>
              <a:srgbClr val="1E3A8A"/>
            </a:solidFill>
            <a:prstDash val="solid"/>
            <a:headEnd type="none"/>
            <a:tailEnd type="none"/>
          </a:ln>
        </p:spPr>
      </p:sp>
      <p:sp>
        <p:nvSpPr>
          <p:cNvPr id="34" name="Text 31"/>
          <p:cNvSpPr/>
          <p:nvPr/>
        </p:nvSpPr>
        <p:spPr>
          <a:xfrm>
            <a:off x="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3241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产品定位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6482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用户与需求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9723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2964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分析模型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296400" y="9105900"/>
            <a:ext cx="23241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0" name="Text 37"/>
          <p:cNvSpPr/>
          <p:nvPr/>
        </p:nvSpPr>
        <p:spPr>
          <a:xfrm>
            <a:off x="116205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非功能需求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3944600" y="8686800"/>
            <a:ext cx="2311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总结展望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rotWithShape="1" flip="none">
          <a:gsLst>
            <a:gs pos="0">
              <a:srgbClr val="0B1426"/>
            </a:gs>
            <a:gs pos="100000">
              <a:srgbClr val="162544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1"/>
          <p:cNvSpPr/>
          <p:nvPr/>
        </p:nvSpPr>
        <p:spPr>
          <a:xfrm>
            <a:off x="965200" y="63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数据模型与核心实体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62000" y="2032000"/>
            <a:ext cx="1778000" cy="889000"/>
          </a:xfrm>
          <a:prstGeom prst="roundRect">
            <a:avLst>
              <a:gd name="adj" fmla="val 10000"/>
            </a:avLst>
          </a:prstGeom>
          <a:solidFill>
            <a:srgbClr val="1E3A8A">
              <a:alpha val="50196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2032000"/>
            <a:ext cx="177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0" y="2286000"/>
            <a:ext cx="1016000" cy="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8" name="Shape 5"/>
          <p:cNvSpPr/>
          <p:nvPr/>
        </p:nvSpPr>
        <p:spPr>
          <a:xfrm>
            <a:off x="3556000" y="1778000"/>
            <a:ext cx="2032000" cy="1016000"/>
          </a:xfrm>
          <a:prstGeom prst="roundRect">
            <a:avLst>
              <a:gd name="adj" fmla="val 10000"/>
            </a:avLst>
          </a:prstGeom>
          <a:solidFill>
            <a:srgbClr val="1E3A8A">
              <a:alpha val="37647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56000" y="17780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碎片便签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88000" y="2159000"/>
            <a:ext cx="10160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11" name="Shape 8"/>
          <p:cNvSpPr/>
          <p:nvPr/>
        </p:nvSpPr>
        <p:spPr>
          <a:xfrm>
            <a:off x="6604000" y="1778000"/>
            <a:ext cx="2032000" cy="1016000"/>
          </a:xfrm>
          <a:prstGeom prst="roundRect">
            <a:avLst>
              <a:gd name="adj" fmla="val 10000"/>
            </a:avLst>
          </a:prstGeom>
          <a:solidFill>
            <a:srgbClr val="1E3A8A">
              <a:alpha val="37647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04000" y="17780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知识页面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36000" y="2794000"/>
            <a:ext cx="0" cy="63500"/>
          </a:xfrm>
          <a:prstGeom prst="straightConnector1">
            <a:avLst/>
          </a:prstGeom>
          <a:noFill/>
          <a:ln w="1270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8636000" y="2730500"/>
            <a:ext cx="2032000" cy="1016000"/>
          </a:xfrm>
          <a:prstGeom prst="roundRect">
            <a:avLst>
              <a:gd name="adj" fmla="val 10000"/>
            </a:avLst>
          </a:prstGeom>
          <a:solidFill>
            <a:srgbClr val="1E3A8A">
              <a:alpha val="37647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36000" y="2730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BIDIRECTIONAL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双向链接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0" y="2857500"/>
            <a:ext cx="0" cy="800100"/>
          </a:xfrm>
          <a:prstGeom prst="straightConnector1">
            <a:avLst/>
          </a:prstGeom>
          <a:noFill/>
          <a:ln w="1270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6604000" y="3683000"/>
            <a:ext cx="2032000" cy="1016000"/>
          </a:xfrm>
          <a:prstGeom prst="roundRect">
            <a:avLst>
              <a:gd name="adj" fmla="val 10000"/>
            </a:avLst>
          </a:prstGeom>
          <a:solidFill>
            <a:srgbClr val="1E3A8A">
              <a:alpha val="37647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04000" y="36830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任务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636000" y="3810000"/>
            <a:ext cx="990600" cy="698500"/>
          </a:xfrm>
          <a:prstGeom prst="straightConnector1">
            <a:avLst/>
          </a:prstGeom>
          <a:noFill/>
          <a:ln w="1270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9652000" y="4508500"/>
            <a:ext cx="2032000" cy="1016000"/>
          </a:xfrm>
          <a:prstGeom prst="roundRect">
            <a:avLst>
              <a:gd name="adj" fmla="val 10000"/>
            </a:avLst>
          </a:prstGeom>
          <a:solidFill>
            <a:srgbClr val="1E3A8A">
              <a:alpha val="37647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52000" y="4508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CARD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记忆卡片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72000" y="2794000"/>
            <a:ext cx="762000" cy="1651000"/>
          </a:xfrm>
          <a:prstGeom prst="straightConnector1">
            <a:avLst/>
          </a:prstGeom>
          <a:noFill/>
          <a:ln w="1270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23" name="Shape 20"/>
          <p:cNvSpPr/>
          <p:nvPr/>
        </p:nvSpPr>
        <p:spPr>
          <a:xfrm>
            <a:off x="3556000" y="4445000"/>
            <a:ext cx="2032000" cy="1016000"/>
          </a:xfrm>
          <a:prstGeom prst="roundRect">
            <a:avLst>
              <a:gd name="adj" fmla="val 10000"/>
            </a:avLst>
          </a:prstGeom>
          <a:solidFill>
            <a:srgbClr val="1E3A8A">
              <a:alpha val="37647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56000" y="44450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分享链接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588000" y="2794000"/>
            <a:ext cx="1016000" cy="889000"/>
          </a:xfrm>
          <a:prstGeom prst="straightConnector1">
            <a:avLst/>
          </a:prstGeom>
          <a:noFill/>
          <a:ln w="1270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26" name="Shape 23"/>
          <p:cNvSpPr/>
          <p:nvPr/>
        </p:nvSpPr>
        <p:spPr>
          <a:xfrm>
            <a:off x="12700000" y="2032000"/>
            <a:ext cx="1778000" cy="889000"/>
          </a:xfrm>
          <a:prstGeom prst="roundRect">
            <a:avLst>
              <a:gd name="adj" fmla="val 10000"/>
            </a:avLst>
          </a:prstGeom>
          <a:solidFill>
            <a:srgbClr val="1E3A8A">
              <a:alpha val="37647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700000" y="2032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TAG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标签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636000" y="2286000"/>
            <a:ext cx="4064000" cy="0"/>
          </a:xfrm>
          <a:prstGeom prst="straightConnector1">
            <a:avLst/>
          </a:prstGeom>
          <a:noFill/>
          <a:ln w="12700">
            <a:solidFill>
              <a:srgbClr val="3B82F6"/>
            </a:solidFill>
            <a:prstDash val="solid"/>
            <a:headEnd type="none"/>
            <a:tailEnd type="none"/>
          </a:ln>
        </p:spPr>
      </p:sp>
      <p:sp>
        <p:nvSpPr>
          <p:cNvPr id="29" name="Shape 26"/>
          <p:cNvSpPr/>
          <p:nvPr/>
        </p:nvSpPr>
        <p:spPr>
          <a:xfrm>
            <a:off x="762000" y="5842000"/>
            <a:ext cx="14732000" cy="2413000"/>
          </a:xfrm>
          <a:prstGeom prst="roundRect">
            <a:avLst>
              <a:gd name="adj" fmla="val 6000"/>
            </a:avLst>
          </a:prstGeom>
          <a:solidFill>
            <a:srgbClr val="1E3A8A">
              <a:alpha val="8235"/>
            </a:srgbClr>
          </a:solidFill>
          <a:ln w="12700">
            <a:solidFill>
              <a:srgbClr val="1E3A8A">
                <a:alpha val="25098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43000" y="6032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核心实体关系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43000" y="6477000"/>
            <a:ext cx="1397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 1:N Note / KnowledgePage / Task / MemoryCard（创建关系）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Note 1:0..1 KnowledgePage（便签可转化为一个知识页面）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Note/KnowledgePage N:M BidirectionalLink（双向链接，通过关联表实现）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Note/KnowledgePage 1:N Task / MemoryCard / ShareLink（派生关系）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0" y="8686800"/>
            <a:ext cx="16256000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3" name="Shape 30"/>
          <p:cNvSpPr/>
          <p:nvPr/>
        </p:nvSpPr>
        <p:spPr>
          <a:xfrm>
            <a:off x="0" y="8686800"/>
            <a:ext cx="16256000" cy="0"/>
          </a:xfrm>
          <a:prstGeom prst="straightConnector1">
            <a:avLst/>
          </a:prstGeom>
          <a:noFill/>
          <a:ln w="12700">
            <a:solidFill>
              <a:srgbClr val="1E3A8A"/>
            </a:solidFill>
            <a:prstDash val="solid"/>
            <a:headEnd type="none"/>
            <a:tailEnd type="none"/>
          </a:ln>
        </p:spPr>
      </p:sp>
      <p:sp>
        <p:nvSpPr>
          <p:cNvPr id="34" name="Text 31"/>
          <p:cNvSpPr/>
          <p:nvPr/>
        </p:nvSpPr>
        <p:spPr>
          <a:xfrm>
            <a:off x="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3241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产品定位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6482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用户与需求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9723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2964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分析模型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296400" y="9105900"/>
            <a:ext cx="23241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0" name="Text 37"/>
          <p:cNvSpPr/>
          <p:nvPr/>
        </p:nvSpPr>
        <p:spPr>
          <a:xfrm>
            <a:off x="116205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非功能需求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3944600" y="8686800"/>
            <a:ext cx="2311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总结展望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rotWithShape="1" flip="none">
          <a:gsLst>
            <a:gs pos="0">
              <a:srgbClr val="0B1426"/>
            </a:gs>
            <a:gs pos="100000">
              <a:srgbClr val="162544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1"/>
          <p:cNvSpPr/>
          <p:nvPr/>
        </p:nvSpPr>
        <p:spPr>
          <a:xfrm>
            <a:off x="9652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非功能需求与设计约束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62000" y="1524000"/>
            <a:ext cx="7175500" cy="3175000"/>
          </a:xfrm>
          <a:prstGeom prst="roundRect">
            <a:avLst>
              <a:gd name="adj" fmla="val 6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2000" y="1524000"/>
            <a:ext cx="7175500" cy="50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1778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性能需求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2349500"/>
            <a:ext cx="6413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便签创建 95% 请求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1秒内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完成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知识图谱500节点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5秒内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加载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全局搜索 95% 请求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1秒内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返回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单实例支持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10个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并发用户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318500" y="1524000"/>
            <a:ext cx="7175500" cy="3175000"/>
          </a:xfrm>
          <a:prstGeom prst="roundRect">
            <a:avLst>
              <a:gd name="adj" fmla="val 6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18500" y="1524000"/>
            <a:ext cx="7175500" cy="50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8699500" y="1778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安全需求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99500" y="2349500"/>
            <a:ext cx="6413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密码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bcrypt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加密存储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HTTPS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加密传输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分享链接基于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Token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访问控制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用户数据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隔离存储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2000" y="5080000"/>
            <a:ext cx="7175500" cy="3048000"/>
          </a:xfrm>
          <a:prstGeom prst="roundRect">
            <a:avLst>
              <a:gd name="adj" fmla="val 6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2000" y="5080000"/>
            <a:ext cx="7175500" cy="50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334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可用性需求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43000" y="5905500"/>
            <a:ext cx="6413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统一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Toast 反馈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机制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快捷键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支持（Ctrl+K搜索等）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主流浏览器兼容（Chrome/Firefox/Safari/Edge）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新用户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无需文档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即可创建便签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18500" y="5080000"/>
            <a:ext cx="7175500" cy="3048000"/>
          </a:xfrm>
          <a:prstGeom prst="roundRect">
            <a:avLst>
              <a:gd name="adj" fmla="val 6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18500" y="5080000"/>
            <a:ext cx="71755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8699500" y="5334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可维护性需求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699500" y="5905500"/>
            <a:ext cx="6413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前后端分层：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Controller→Service→Repository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前端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模块化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设计，独立开发测试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数据库支持未来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扩展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新实体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预留 AI 辅助 / 插件市场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接口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0" y="8686800"/>
            <a:ext cx="16256000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2" name="Shape 19"/>
          <p:cNvSpPr/>
          <p:nvPr/>
        </p:nvSpPr>
        <p:spPr>
          <a:xfrm>
            <a:off x="0" y="8686800"/>
            <a:ext cx="16256000" cy="0"/>
          </a:xfrm>
          <a:prstGeom prst="straightConnector1">
            <a:avLst/>
          </a:prstGeom>
          <a:noFill/>
          <a:ln w="12700">
            <a:solidFill>
              <a:srgbClr val="1E3A8A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/>
          <p:nvPr/>
        </p:nvSpPr>
        <p:spPr>
          <a:xfrm>
            <a:off x="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3241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产品定位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6482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用户与需求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9723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2964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分析模型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620500" y="8686800"/>
            <a:ext cx="2324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非功能需求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1620500" y="9105900"/>
            <a:ext cx="23241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Text 27"/>
          <p:cNvSpPr/>
          <p:nvPr/>
        </p:nvSpPr>
        <p:spPr>
          <a:xfrm>
            <a:off x="13944600" y="8686800"/>
            <a:ext cx="2311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总结展望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rotWithShape="1" flip="none">
          <a:gsLst>
            <a:gs pos="0">
              <a:srgbClr val="0B1426"/>
            </a:gs>
            <a:gs pos="100000">
              <a:srgbClr val="162544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588000" y="1016000"/>
            <a:ext cx="5080000" cy="0"/>
          </a:xfrm>
          <a:prstGeom prst="straightConnector1">
            <a:avLst/>
          </a:prstGeom>
          <a:noFill/>
          <a:ln w="12700">
            <a:solidFill>
              <a:srgbClr val="D4AF37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Text 1"/>
          <p:cNvSpPr/>
          <p:nvPr/>
        </p:nvSpPr>
        <p:spPr>
          <a:xfrm>
            <a:off x="1778000" y="1397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总结与展望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3048000" y="2222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FlowNote 的核心价值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3048000"/>
            <a:ext cx="3302000" cy="1524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390775" y="3238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02538" y="-8840"/>
                </a:moveTo>
                <a:cubicBezTo>
                  <a:pt x="313164" y="-1161"/>
                  <a:pt x="317093" y="12769"/>
                  <a:pt x="312271" y="24914"/>
                </a:cubicBezTo>
                <a:lnTo>
                  <a:pt x="242262" y="200025"/>
                </a:lnTo>
                <a:lnTo>
                  <a:pt x="371475" y="200025"/>
                </a:lnTo>
                <a:cubicBezTo>
                  <a:pt x="383530" y="200025"/>
                  <a:pt x="394246" y="207526"/>
                  <a:pt x="398353" y="218867"/>
                </a:cubicBezTo>
                <a:cubicBezTo>
                  <a:pt x="402461" y="230207"/>
                  <a:pt x="398978" y="242888"/>
                  <a:pt x="389781" y="250567"/>
                </a:cubicBezTo>
                <a:lnTo>
                  <a:pt x="132606" y="464880"/>
                </a:lnTo>
                <a:cubicBezTo>
                  <a:pt x="122515" y="473273"/>
                  <a:pt x="108139" y="473720"/>
                  <a:pt x="97512" y="466040"/>
                </a:cubicBezTo>
                <a:cubicBezTo>
                  <a:pt x="86886" y="458361"/>
                  <a:pt x="82957" y="444431"/>
                  <a:pt x="87779" y="432286"/>
                </a:cubicBezTo>
                <a:lnTo>
                  <a:pt x="157788" y="257175"/>
                </a:lnTo>
                <a:lnTo>
                  <a:pt x="28575" y="257175"/>
                </a:lnTo>
                <a:cubicBezTo>
                  <a:pt x="16520" y="257175"/>
                  <a:pt x="5804" y="249674"/>
                  <a:pt x="1697" y="238333"/>
                </a:cubicBezTo>
                <a:cubicBezTo>
                  <a:pt x="-2411" y="226993"/>
                  <a:pt x="1072" y="214312"/>
                  <a:pt x="10269" y="206633"/>
                </a:cubicBezTo>
                <a:lnTo>
                  <a:pt x="267444" y="-7680"/>
                </a:lnTo>
                <a:cubicBezTo>
                  <a:pt x="277535" y="-16073"/>
                  <a:pt x="291911" y="-16520"/>
                  <a:pt x="302538" y="-884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8" name="Text 5"/>
          <p:cNvSpPr/>
          <p:nvPr/>
        </p:nvSpPr>
        <p:spPr>
          <a:xfrm>
            <a:off x="1270000" y="3810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降低信息捕获成本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99000" y="3048000"/>
            <a:ext cx="3302000" cy="1524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16625" y="3238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74600" y="85725"/>
                </a:moveTo>
                <a:cubicBezTo>
                  <a:pt x="359777" y="85725"/>
                  <a:pt x="345400" y="89743"/>
                  <a:pt x="332809" y="97066"/>
                </a:cubicBezTo>
                <a:cubicBezTo>
                  <a:pt x="318701" y="82778"/>
                  <a:pt x="302270" y="70812"/>
                  <a:pt x="284143" y="61793"/>
                </a:cubicBezTo>
                <a:cubicBezTo>
                  <a:pt x="309324" y="40362"/>
                  <a:pt x="341382" y="28575"/>
                  <a:pt x="374600" y="28575"/>
                </a:cubicBezTo>
                <a:cubicBezTo>
                  <a:pt x="451753" y="28575"/>
                  <a:pt x="514350" y="91083"/>
                  <a:pt x="514350" y="168325"/>
                </a:cubicBezTo>
                <a:cubicBezTo>
                  <a:pt x="514350" y="205383"/>
                  <a:pt x="499616" y="240923"/>
                  <a:pt x="473452" y="267087"/>
                </a:cubicBezTo>
                <a:lnTo>
                  <a:pt x="409962" y="330577"/>
                </a:lnTo>
                <a:cubicBezTo>
                  <a:pt x="383798" y="356741"/>
                  <a:pt x="348258" y="371475"/>
                  <a:pt x="311200" y="371475"/>
                </a:cubicBezTo>
                <a:cubicBezTo>
                  <a:pt x="234047" y="371475"/>
                  <a:pt x="171450" y="308967"/>
                  <a:pt x="171450" y="231725"/>
                </a:cubicBezTo>
                <a:cubicBezTo>
                  <a:pt x="171450" y="230386"/>
                  <a:pt x="171450" y="229046"/>
                  <a:pt x="171539" y="227707"/>
                </a:cubicBezTo>
                <a:cubicBezTo>
                  <a:pt x="171986" y="211901"/>
                  <a:pt x="185112" y="199489"/>
                  <a:pt x="200918" y="199936"/>
                </a:cubicBezTo>
                <a:cubicBezTo>
                  <a:pt x="216724" y="200382"/>
                  <a:pt x="229136" y="213509"/>
                  <a:pt x="228689" y="229314"/>
                </a:cubicBezTo>
                <a:cubicBezTo>
                  <a:pt x="228689" y="230118"/>
                  <a:pt x="228689" y="230922"/>
                  <a:pt x="228689" y="231636"/>
                </a:cubicBezTo>
                <a:cubicBezTo>
                  <a:pt x="228689" y="277267"/>
                  <a:pt x="265658" y="314236"/>
                  <a:pt x="311289" y="314236"/>
                </a:cubicBezTo>
                <a:cubicBezTo>
                  <a:pt x="333167" y="314236"/>
                  <a:pt x="354151" y="305574"/>
                  <a:pt x="369689" y="290036"/>
                </a:cubicBezTo>
                <a:lnTo>
                  <a:pt x="433179" y="226546"/>
                </a:lnTo>
                <a:cubicBezTo>
                  <a:pt x="448628" y="211098"/>
                  <a:pt x="457379" y="190024"/>
                  <a:pt x="457379" y="168146"/>
                </a:cubicBezTo>
                <a:cubicBezTo>
                  <a:pt x="457379" y="122515"/>
                  <a:pt x="420410" y="85546"/>
                  <a:pt x="374779" y="85546"/>
                </a:cubicBezTo>
                <a:close/>
                <a:moveTo>
                  <a:pt x="245745" y="154751"/>
                </a:moveTo>
                <a:cubicBezTo>
                  <a:pt x="244048" y="154037"/>
                  <a:pt x="242352" y="153055"/>
                  <a:pt x="240834" y="151983"/>
                </a:cubicBezTo>
                <a:cubicBezTo>
                  <a:pt x="229582" y="146179"/>
                  <a:pt x="216724" y="142875"/>
                  <a:pt x="203240" y="142875"/>
                </a:cubicBezTo>
                <a:cubicBezTo>
                  <a:pt x="181362" y="142875"/>
                  <a:pt x="160377" y="151537"/>
                  <a:pt x="144840" y="167074"/>
                </a:cubicBezTo>
                <a:lnTo>
                  <a:pt x="81349" y="230565"/>
                </a:lnTo>
                <a:cubicBezTo>
                  <a:pt x="65901" y="246013"/>
                  <a:pt x="57150" y="267087"/>
                  <a:pt x="57150" y="288965"/>
                </a:cubicBezTo>
                <a:cubicBezTo>
                  <a:pt x="57150" y="334595"/>
                  <a:pt x="94119" y="371564"/>
                  <a:pt x="139750" y="371564"/>
                </a:cubicBezTo>
                <a:cubicBezTo>
                  <a:pt x="154484" y="371564"/>
                  <a:pt x="168860" y="367635"/>
                  <a:pt x="181451" y="360313"/>
                </a:cubicBezTo>
                <a:cubicBezTo>
                  <a:pt x="195560" y="374600"/>
                  <a:pt x="211991" y="386566"/>
                  <a:pt x="230207" y="395585"/>
                </a:cubicBezTo>
                <a:cubicBezTo>
                  <a:pt x="205026" y="416927"/>
                  <a:pt x="173057" y="428804"/>
                  <a:pt x="139750" y="428804"/>
                </a:cubicBezTo>
                <a:cubicBezTo>
                  <a:pt x="62597" y="428804"/>
                  <a:pt x="0" y="366296"/>
                  <a:pt x="0" y="289054"/>
                </a:cubicBezTo>
                <a:cubicBezTo>
                  <a:pt x="0" y="251996"/>
                  <a:pt x="14734" y="216456"/>
                  <a:pt x="40898" y="190292"/>
                </a:cubicBezTo>
                <a:lnTo>
                  <a:pt x="104388" y="126802"/>
                </a:lnTo>
                <a:cubicBezTo>
                  <a:pt x="130552" y="100638"/>
                  <a:pt x="166092" y="85904"/>
                  <a:pt x="203150" y="85904"/>
                </a:cubicBezTo>
                <a:cubicBezTo>
                  <a:pt x="280481" y="85904"/>
                  <a:pt x="342900" y="148947"/>
                  <a:pt x="342900" y="226010"/>
                </a:cubicBezTo>
                <a:cubicBezTo>
                  <a:pt x="342900" y="227171"/>
                  <a:pt x="342900" y="228332"/>
                  <a:pt x="342900" y="229493"/>
                </a:cubicBezTo>
                <a:cubicBezTo>
                  <a:pt x="342543" y="245299"/>
                  <a:pt x="329416" y="257711"/>
                  <a:pt x="313611" y="257354"/>
                </a:cubicBezTo>
                <a:cubicBezTo>
                  <a:pt x="297805" y="256996"/>
                  <a:pt x="285393" y="243870"/>
                  <a:pt x="285750" y="228064"/>
                </a:cubicBezTo>
                <a:cubicBezTo>
                  <a:pt x="285750" y="227350"/>
                  <a:pt x="285750" y="226725"/>
                  <a:pt x="285750" y="226010"/>
                </a:cubicBezTo>
                <a:cubicBezTo>
                  <a:pt x="285750" y="195917"/>
                  <a:pt x="269677" y="169485"/>
                  <a:pt x="245745" y="15493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1" name="Text 8"/>
          <p:cNvSpPr/>
          <p:nvPr/>
        </p:nvSpPr>
        <p:spPr>
          <a:xfrm>
            <a:off x="4953000" y="3810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打通知识与任务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382000" y="3048000"/>
            <a:ext cx="3302000" cy="1524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728200" y="323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1"/>
          <p:cNvSpPr/>
          <p:nvPr/>
        </p:nvSpPr>
        <p:spPr>
          <a:xfrm>
            <a:off x="8636000" y="3810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支持长期记忆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2065000" y="3048000"/>
            <a:ext cx="3302000" cy="1524000"/>
          </a:xfrm>
          <a:prstGeom prst="roundRect">
            <a:avLst>
              <a:gd name="adj" fmla="val 8000"/>
            </a:avLst>
          </a:prstGeom>
          <a:solidFill>
            <a:srgbClr val="1E3A8A">
              <a:alpha val="18824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354050" y="3238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7" name="Text 14"/>
          <p:cNvSpPr/>
          <p:nvPr/>
        </p:nvSpPr>
        <p:spPr>
          <a:xfrm>
            <a:off x="12319000" y="3810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支持轻量协作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048000" y="5080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后续展望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032000" y="5651500"/>
            <a:ext cx="12192000" cy="1016000"/>
          </a:xfrm>
          <a:prstGeom prst="roundRect">
            <a:avLst>
              <a:gd name="adj" fmla="val 6000"/>
            </a:avLst>
          </a:prstGeom>
          <a:solidFill>
            <a:srgbClr val="1E3A8A">
              <a:alpha val="8235"/>
            </a:srgbClr>
          </a:solidFill>
          <a:ln w="12700">
            <a:solidFill>
              <a:srgbClr val="1E3A8A">
                <a:alpha val="25098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13000" y="57150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辅助整理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跨设备同步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插件市场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团队协作增强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413000" y="7239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让碎片信息自然流动为知识与行动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588000" y="8128000"/>
            <a:ext cx="5080000" cy="0"/>
          </a:xfrm>
          <a:prstGeom prst="straightConnector1">
            <a:avLst/>
          </a:prstGeom>
          <a:noFill/>
          <a:ln w="12700">
            <a:solidFill>
              <a:srgbClr val="D4AF37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/>
          <p:nvPr/>
        </p:nvSpPr>
        <p:spPr>
          <a:xfrm>
            <a:off x="4318000" y="8255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第三小组：全坤 杜承敖 肖昌珅 金奕辰 | 软件工程课程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流知·FlowNote 软件需求规格说明展示</dc:title>
  <dc:subject>流知·FlowNote 软件需求规格说明展示</dc:subject>
  <dc:creator>Kimi</dc:creator>
  <cp:lastModifiedBy>Kimi</cp:lastModifiedBy>
  <cp:revision>1</cp:revision>
  <dcterms:created xsi:type="dcterms:W3CDTF">2026-05-11T05:30:57Z</dcterms:created>
  <dcterms:modified xsi:type="dcterms:W3CDTF">2026-05-11T05:30:57Z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{"Label":"流知·FlowNote 软件需求规格说明展示","ContentProducer":"001191110108MACG2KBH8F10000","ProduceID":"19e15829-6a02-89c8-8000-00001e46933f","ReservedCode1":"","ContentPropagator":"001191110108MACG2KBH8F20000","PropagateID":"19e15829-6a02-89c8-8000-00001e46933f","ReservedCode2":""}</vt:lpwstr>
  </property>
</Properties>
</file>