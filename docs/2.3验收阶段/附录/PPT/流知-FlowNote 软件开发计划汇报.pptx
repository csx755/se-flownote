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0.svg" ContentType="image/svg+xml"/>
  <Override PartName="/ppt/media/image102.svg" ContentType="image/svg+xml"/>
  <Override PartName="/ppt/media/image104.svg" ContentType="image/svg+xml"/>
  <Override PartName="/ppt/media/image110.svg" ContentType="image/svg+xml"/>
  <Override PartName="/ppt/media/image13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9.svg" ContentType="image/svg+xml"/>
  <Override PartName="/ppt/media/image6.svg" ContentType="image/svg+xml"/>
  <Override PartName="/ppt/media/image62.svg" ContentType="image/svg+xml"/>
  <Override PartName="/ppt/media/image64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们是2024LJSE03小组。今天非常荣幸能在这里向大家汇报我们的软件开发计划——“流知·Flownote”。这是一个旨在打造一体化知识与任务协作的平台。接下来，我们将详细介绍项目的背景、规划、团队协作以及质量保障等方面的内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四个部分。首先，我们将介绍项目的整体概述与愿景。其次，会详细阐述项目的规划与时间安排。接着，我们会说明团队的协作方式和风险管理策略。最后，将介绍我们的质量保障措施和交付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现在，我们进入第一部分：项目概述与愿景。在这一部分，我们将阐述项目的背景、我们发现的痛点，以及我们提出的解决方案。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当前的工作学习中，我们普遍面临三大困境：信息孤岛、流程断裂和高认知负荷。信息散落在不同App里，导致我们无法高效地将想法转化为行动。为此，我们提出了“流知·Flownote”，旨在打造一个一体化的工作空间，通过构建从想法到行动的闭环工作流，让知识真正流动起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“流知·Flownote”的核心功能围绕四大模块展开：用于快速捕获灵感的“便签”，用于构建知识网络的“知识管理”，用于执行任务的“任务看板”，以及用于提升专注度的“番茄钟”。我们的目标是打破信息孤岛，提升效率，并交付一个高质量的MVP产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范围涵盖了软件开发生命周期的全过程。在MVP版本中，我们将实现用户认证、便签、知识管理和任务管理四大核心模块。最终的交付物不仅包括可运行的系统和源代码，还包括一套完整的项目文档，确保项目的完整性和可维护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接下来是第二部分，项目规划与安排。我们将详细介绍如何将项目分解为可执行的任务，如何估算工作量，以及我们的整体进度计划。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为了清晰地规划项目，我们创建了工作分解结构（WBS）。这张图展示了我们如何将项目从顶层目标分解到具体的工作包，涵盖了从设计、实现、测试到交付的所有关键活动，确保项目的每一个细节都得到管理。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采用了专家判定法和PERT三值估算法相结合的方式来估算工作量。通过严谨的估算，我们得出项目总工作量约为49.5人日，对于我们4人团队来说，预计需要大约12个工作日，也就是两周时间来完成。这个表格展示了部分关键任务的估算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的项目进度计划甘特图。它清晰地展示了从今天开始到7月3日交付的整个时间线。我们设置了六个关键里程碑，例如今天的汇报、MVP原型提交、系统测试完成等，这些节点将作为我们监控项目进度的重要依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任务网络图帮助我们识别了项目的关键路径。这条路径上的任何一个任务延期，都会直接导致整个项目的延期。因此，我们将对关键路径上的活动进行重点监控和管理，确保项目能够按时完成。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现在我们进入第三部分：团队协作与风险管理。一个成功的项目离不开高效的团队协作和有效的风险控制。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确保团队高效协作，我们制定了RACI矩阵。这个矩阵明确了每个成员在不同任务中的角色，是负责人、执行者、被咨询者还是被告知者。例如，组长全坤对项目整体负责，而其他成员则分别负责特定的模块开发。这避免了职责不清，提高了沟通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对项目进行了全面的风险评估。这里列出了三个高优先级的风险，包括技术栈不匹配、范围蔓延以及团队成员的时间冲突。针对每一个风险，我们都制定了具体的应对策略，例如选用熟悉的技术栈、严格控制范围、提前规划并预留缓冲期等，以确保项目能够平稳推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风险管理是一个持续的过程。我们建立了一套监控机制，包括每日站会、每周风险评审会，以及使用风险燃尽图来跟踪风险的解决进度。通过这些措施，我们可以动态地管理风险，确保项目始终处于可控状态。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最后，我们进入第四部分：质量保障与交付。在这一部分，我们将介绍如何确保交付的产品是高质量的。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制定了详细的验收测试计划。测试的目标是确保系统100%满足所有高优先级需求。测试将在6月底进行，覆盖所有核心功能。这张表格展示了部分测试用例，比如验证用户登录、知识管理核心功能以及系统性能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验收标准非常明确：所有高优先级用例必须100%通过，且不能有致命或严重级别的缺陷。我们将在标准化的测试环境中进行测试，使用Docker保证环境一致性，并借助Postman、Jest等专业工具来确保测试的全面性和准确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为了保证软件质量，我们采取了一系列措施。所有代码都需要经过审查，我们使用Git Flow进行版本控制，并通过CI/CD实现持续集成。在配置管理方面，我们使用GitHub作为代码仓库，并采用语义化版本号来管理发布，确保整个开发过程的规范和高效。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我们的技术栈选择兼顾了成熟度、效率和团队的熟悉度。前端采用Vue 3，后端是Node.js，数据库使用PostgreSQL。所有服务都将通过Docker进行容器化部署。同时，我们使用GitHub全家桶来进行开发协作，确保整个流程的顺畅。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总结一下，我们已经制定了一个全面且详尽的开发计划，涵盖了项目的方方面面。我们有信心通过科学的管理和团队的努力，按时交付一个高质量的产品。我的汇报到此结束，感谢大家的聆听，欢迎提问。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svg"/><Relationship Id="rId7" Type="http://schemas.openxmlformats.org/officeDocument/2006/relationships/image" Target="../media/image16.png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21.svg"/><Relationship Id="rId11" Type="http://schemas.openxmlformats.org/officeDocument/2006/relationships/image" Target="../media/image20.png"/><Relationship Id="rId10" Type="http://schemas.openxmlformats.org/officeDocument/2006/relationships/image" Target="../media/image19.sv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svg"/><Relationship Id="rId8" Type="http://schemas.openxmlformats.org/officeDocument/2006/relationships/image" Target="../media/image28.png"/><Relationship Id="rId7" Type="http://schemas.openxmlformats.org/officeDocument/2006/relationships/image" Target="../media/image27.svg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svg"/><Relationship Id="rId8" Type="http://schemas.openxmlformats.org/officeDocument/2006/relationships/image" Target="../media/image41.png"/><Relationship Id="rId7" Type="http://schemas.openxmlformats.org/officeDocument/2006/relationships/image" Target="../media/image40.svg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0.svg"/><Relationship Id="rId8" Type="http://schemas.openxmlformats.org/officeDocument/2006/relationships/image" Target="../media/image49.png"/><Relationship Id="rId7" Type="http://schemas.openxmlformats.org/officeDocument/2006/relationships/image" Target="../media/image48.svg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6" Type="http://schemas.openxmlformats.org/officeDocument/2006/relationships/notesSlide" Target="../notesSlides/notesSlide10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55.png"/><Relationship Id="rId13" Type="http://schemas.openxmlformats.org/officeDocument/2006/relationships/image" Target="../media/image54.svg"/><Relationship Id="rId12" Type="http://schemas.openxmlformats.org/officeDocument/2006/relationships/image" Target="../media/image53.png"/><Relationship Id="rId11" Type="http://schemas.openxmlformats.org/officeDocument/2006/relationships/image" Target="../media/image52.svg"/><Relationship Id="rId10" Type="http://schemas.openxmlformats.org/officeDocument/2006/relationships/image" Target="../media/image51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0.png"/><Relationship Id="rId7" Type="http://schemas.openxmlformats.org/officeDocument/2006/relationships/image" Target="../media/image59.svg"/><Relationship Id="rId6" Type="http://schemas.openxmlformats.org/officeDocument/2006/relationships/image" Target="../media/image58.png"/><Relationship Id="rId5" Type="http://schemas.openxmlformats.org/officeDocument/2006/relationships/image" Target="../media/image13.svg"/><Relationship Id="rId4" Type="http://schemas.openxmlformats.org/officeDocument/2006/relationships/image" Target="../media/image57.png"/><Relationship Id="rId3" Type="http://schemas.openxmlformats.org/officeDocument/2006/relationships/image" Target="../media/image46.svg"/><Relationship Id="rId2" Type="http://schemas.openxmlformats.org/officeDocument/2006/relationships/image" Target="../media/image56.pn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7.svg"/><Relationship Id="rId8" Type="http://schemas.openxmlformats.org/officeDocument/2006/relationships/image" Target="../media/image66.png"/><Relationship Id="rId7" Type="http://schemas.openxmlformats.org/officeDocument/2006/relationships/image" Target="../media/image19.svg"/><Relationship Id="rId6" Type="http://schemas.openxmlformats.org/officeDocument/2006/relationships/image" Target="../media/image65.png"/><Relationship Id="rId5" Type="http://schemas.openxmlformats.org/officeDocument/2006/relationships/image" Target="../media/image64.svg"/><Relationship Id="rId4" Type="http://schemas.openxmlformats.org/officeDocument/2006/relationships/image" Target="../media/image63.png"/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3.svg"/><Relationship Id="rId6" Type="http://schemas.openxmlformats.org/officeDocument/2006/relationships/image" Target="../media/image72.png"/><Relationship Id="rId5" Type="http://schemas.openxmlformats.org/officeDocument/2006/relationships/image" Target="../media/image71.svg"/><Relationship Id="rId4" Type="http://schemas.openxmlformats.org/officeDocument/2006/relationships/image" Target="../media/image70.png"/><Relationship Id="rId3" Type="http://schemas.openxmlformats.org/officeDocument/2006/relationships/image" Target="../media/image69.svg"/><Relationship Id="rId2" Type="http://schemas.openxmlformats.org/officeDocument/2006/relationships/image" Target="../media/image68.pn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0.svg"/><Relationship Id="rId8" Type="http://schemas.openxmlformats.org/officeDocument/2006/relationships/image" Target="../media/image79.png"/><Relationship Id="rId7" Type="http://schemas.openxmlformats.org/officeDocument/2006/relationships/image" Target="../media/image78.svg"/><Relationship Id="rId6" Type="http://schemas.openxmlformats.org/officeDocument/2006/relationships/image" Target="../media/image77.png"/><Relationship Id="rId5" Type="http://schemas.openxmlformats.org/officeDocument/2006/relationships/image" Target="../media/image76.svg"/><Relationship Id="rId4" Type="http://schemas.openxmlformats.org/officeDocument/2006/relationships/image" Target="../media/image75.png"/><Relationship Id="rId3" Type="http://schemas.openxmlformats.org/officeDocument/2006/relationships/image" Target="../media/image52.svg"/><Relationship Id="rId2" Type="http://schemas.openxmlformats.org/officeDocument/2006/relationships/image" Target="../media/image74.png"/><Relationship Id="rId15" Type="http://schemas.openxmlformats.org/officeDocument/2006/relationships/notesSlide" Target="../notesSlides/notesSlide18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84.svg"/><Relationship Id="rId12" Type="http://schemas.openxmlformats.org/officeDocument/2006/relationships/image" Target="../media/image83.png"/><Relationship Id="rId11" Type="http://schemas.openxmlformats.org/officeDocument/2006/relationships/image" Target="../media/image82.svg"/><Relationship Id="rId10" Type="http://schemas.openxmlformats.org/officeDocument/2006/relationships/image" Target="../media/image81.png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2.svg"/><Relationship Id="rId8" Type="http://schemas.openxmlformats.org/officeDocument/2006/relationships/image" Target="../media/image91.png"/><Relationship Id="rId7" Type="http://schemas.openxmlformats.org/officeDocument/2006/relationships/image" Target="../media/image90.svg"/><Relationship Id="rId6" Type="http://schemas.openxmlformats.org/officeDocument/2006/relationships/image" Target="../media/image89.png"/><Relationship Id="rId5" Type="http://schemas.openxmlformats.org/officeDocument/2006/relationships/image" Target="../media/image88.svg"/><Relationship Id="rId4" Type="http://schemas.openxmlformats.org/officeDocument/2006/relationships/image" Target="../media/image87.png"/><Relationship Id="rId3" Type="http://schemas.openxmlformats.org/officeDocument/2006/relationships/image" Target="../media/image86.svg"/><Relationship Id="rId21" Type="http://schemas.openxmlformats.org/officeDocument/2006/relationships/notesSlide" Target="../notesSlides/notesSlide19.xml"/><Relationship Id="rId20" Type="http://schemas.openxmlformats.org/officeDocument/2006/relationships/slideLayout" Target="../slideLayouts/slideLayout12.xml"/><Relationship Id="rId2" Type="http://schemas.openxmlformats.org/officeDocument/2006/relationships/image" Target="../media/image85.png"/><Relationship Id="rId19" Type="http://schemas.openxmlformats.org/officeDocument/2006/relationships/image" Target="../media/image100.svg"/><Relationship Id="rId18" Type="http://schemas.openxmlformats.org/officeDocument/2006/relationships/image" Target="../media/image99.png"/><Relationship Id="rId17" Type="http://schemas.openxmlformats.org/officeDocument/2006/relationships/image" Target="../media/image98.svg"/><Relationship Id="rId16" Type="http://schemas.openxmlformats.org/officeDocument/2006/relationships/image" Target="../media/image97.png"/><Relationship Id="rId15" Type="http://schemas.openxmlformats.org/officeDocument/2006/relationships/image" Target="../media/image96.svg"/><Relationship Id="rId14" Type="http://schemas.openxmlformats.org/officeDocument/2006/relationships/image" Target="../media/image95.png"/><Relationship Id="rId13" Type="http://schemas.openxmlformats.org/officeDocument/2006/relationships/image" Target="../media/image94.svg"/><Relationship Id="rId12" Type="http://schemas.openxmlformats.org/officeDocument/2006/relationships/image" Target="../media/image93.png"/><Relationship Id="rId11" Type="http://schemas.openxmlformats.org/officeDocument/2006/relationships/image" Target="../media/image80.svg"/><Relationship Id="rId10" Type="http://schemas.openxmlformats.org/officeDocument/2006/relationships/image" Target="../media/image79.png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8.svg"/><Relationship Id="rId8" Type="http://schemas.openxmlformats.org/officeDocument/2006/relationships/image" Target="../media/image97.png"/><Relationship Id="rId7" Type="http://schemas.openxmlformats.org/officeDocument/2006/relationships/image" Target="../media/image102.svg"/><Relationship Id="rId6" Type="http://schemas.openxmlformats.org/officeDocument/2006/relationships/image" Target="../media/image101.png"/><Relationship Id="rId5" Type="http://schemas.openxmlformats.org/officeDocument/2006/relationships/image" Target="../media/image80.svg"/><Relationship Id="rId4" Type="http://schemas.openxmlformats.org/officeDocument/2006/relationships/image" Target="../media/image79.png"/><Relationship Id="rId3" Type="http://schemas.openxmlformats.org/officeDocument/2006/relationships/image" Target="../media/image82.svg"/><Relationship Id="rId2" Type="http://schemas.openxmlformats.org/officeDocument/2006/relationships/image" Target="../media/image81.png"/><Relationship Id="rId16" Type="http://schemas.openxmlformats.org/officeDocument/2006/relationships/notesSlide" Target="../notesSlides/notesSlide20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107.jpeg"/><Relationship Id="rId13" Type="http://schemas.openxmlformats.org/officeDocument/2006/relationships/image" Target="../media/image106.jpeg"/><Relationship Id="rId12" Type="http://schemas.openxmlformats.org/officeDocument/2006/relationships/image" Target="../media/image105.jpeg"/><Relationship Id="rId11" Type="http://schemas.openxmlformats.org/officeDocument/2006/relationships/image" Target="../media/image104.svg"/><Relationship Id="rId10" Type="http://schemas.openxmlformats.org/officeDocument/2006/relationships/image" Target="../media/image103.png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8.svg"/><Relationship Id="rId6" Type="http://schemas.openxmlformats.org/officeDocument/2006/relationships/image" Target="../media/image87.png"/><Relationship Id="rId5" Type="http://schemas.openxmlformats.org/officeDocument/2006/relationships/image" Target="../media/image19.svg"/><Relationship Id="rId4" Type="http://schemas.openxmlformats.org/officeDocument/2006/relationships/image" Target="../media/image65.png"/><Relationship Id="rId3" Type="http://schemas.openxmlformats.org/officeDocument/2006/relationships/image" Target="../media/image110.svg"/><Relationship Id="rId2" Type="http://schemas.openxmlformats.org/officeDocument/2006/relationships/image" Target="../media/image109.png"/><Relationship Id="rId1" Type="http://schemas.openxmlformats.org/officeDocument/2006/relationships/image" Target="../media/image10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流知·Flownote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92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342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一体化知识与任务协作平台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4318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软件开发计划汇报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092">
            <a:off x="762004" y="545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762000" y="56515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小组编号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2024LJSE03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14074">
            <a:off x="4064000" y="59627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4572000" y="5651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ppt制作人：杜承敖</a:t>
            </a:r>
            <a:endParaRPr lang="en-US" sz="150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en-US" sz="15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汇报人：全坤</a:t>
            </a:r>
            <a:endParaRPr lang="en-US" sz="150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zh-CN" altLang="en-US" sz="15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小组成员：</a:t>
            </a:r>
            <a:r>
              <a:rPr lang="en-US" sz="15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肖昌珅、金奕辰</a:t>
            </a:r>
            <a:endParaRPr lang="en-US" sz="15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endParaRPr lang="en-US" sz="150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5314074">
            <a:off x="8382000" y="59627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8890000" y="56515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汇报日期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2026年6月1日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76200" cy="1778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79500" y="2222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DE8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61804">
            <a:off x="1587500" y="28511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2413000" y="2222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项目概述与愿景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413000" y="30480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阐述项目的核心目标与长远发展蓝图，明确我们为什么出发，以及要抵达的远方。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2032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350000" y="2032000"/>
            <a:ext cx="76200" cy="1778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667500" y="2222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DE8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61804">
            <a:off x="7175500" y="28511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8001000" y="2222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项目规划与安排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30480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拆解关键里程碑节点，制定详细的执行路径与时间规划，确保项目节奏可控、稳步推进。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318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318000"/>
            <a:ext cx="76200" cy="1778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79500" y="4508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DE8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61804">
            <a:off x="1587500" y="51371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2413000" y="4508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团队协作与风险管理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2413000" y="52705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构建高效协同的团队分工体系，建立完善的风险识别与应对机制，为项目保驾护航。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4318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350000" y="4318000"/>
            <a:ext cx="76200" cy="1778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667500" y="4508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DE8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361804">
            <a:off x="7175500" y="51371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8001000" y="4508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质量保障与交付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001000" y="52705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确立严格的质量验收标准与全流程监控体系，确保按时、高质量地完成项目交付验收。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4ADE80">
                    <a:alpha val="1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项目概述与愿景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1459">
            <a:off x="4191011" y="58356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0" y="60325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PROJECT OVERVIEW &amp; VISION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项目背景与痛点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1460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400" y="1968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9304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信息孤岛：数据割裂，联动缺失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41400" y="2540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笔记、任务与知识散落在Notion、Trello等不同应用中，信息相互隔离，无法形成有效的关联与复用，导致数据价值流失。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4925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492500"/>
            <a:ext cx="76200" cy="1460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400" y="3683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51000" y="36449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流程断裂：手动衔接，效率低下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41400" y="4254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从灵感闪现到知识沉淀，再到行动落地的全流程依赖手动搬运，不仅耗时耗力，还极易在转换过程中出现信息遗漏与中断。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207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5207000"/>
            <a:ext cx="76200" cy="1206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1400" y="5334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651000" y="52959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认知负荷：多端切换，心智过载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41400" y="5778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频繁在不同工具间跳转切换，增加了大量的心智负担与管理成本，让人难以专注于核心思考与创造。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90581">
            <a:off x="3968750" y="4089409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540500" y="1778000"/>
            <a:ext cx="5207000" cy="1524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31000" y="19685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429500" y="1968500"/>
            <a:ext cx="412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解决方案：流知·Flownote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731000" y="2667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打造无缝连接“想法”、“知识”与“行动”的一体化工作空间，让信息不再孤立，让工作回归流畅的思考本质。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540500" y="3619500"/>
            <a:ext cx="52070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731000" y="3810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核心价值：构建闭环工作流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167">
            <a:off x="6731008" y="4248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731000" y="4572000"/>
            <a:ext cx="14605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794500" y="46990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碎片捕获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随时随地记录灵感与待办，自动聚合各类信息源。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8382000" y="4572000"/>
            <a:ext cx="14605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445500" y="46990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知识结构化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自动关联知识点，将零散信息转化为体系化的知识库。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9969500" y="4572000"/>
            <a:ext cx="14605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10033000" y="46990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任务执行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从知识中自动生成任务，实现想法到落地的无缝衔接。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项目概述与核心功能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76200" cy="889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460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“流知·Flownote”是面向个人用户与小团队的一体化知识与任务协作平台，采用先进的B/S架构，实现知识沉淀、任务规划与专注执行的闭环，提供跨平台无缝访问体验，助力用户高效管理工作与学习。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2603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 l="12349" r="12349"/>
          <a:stretch>
            <a:fillRect/>
          </a:stretch>
        </p:blipFill>
        <p:spPr>
          <a:xfrm>
            <a:off x="889000" y="2921000"/>
            <a:ext cx="1079500" cy="1079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2095500" y="2921000"/>
            <a:ext cx="120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便签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快速捕获稍纵即逝的灵感，随时随地记录待办事项，支持多格式内容快速录入。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18582">
            <a:off x="889017" y="4184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889000" y="43180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作为信息的入口，它解决了碎片化信息收集难、整理乱的问题，让想法不再流失。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530600" y="2794000"/>
            <a:ext cx="2603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0" y="2921000"/>
            <a:ext cx="889000" cy="889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673600" y="2921000"/>
            <a:ext cx="1333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知识网络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通过强大的双向链接功能，将孤立信息点连接，构建系统化、可追溯的个人知识库。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-18582">
            <a:off x="3657617" y="4184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3657600" y="43180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打破线性笔记的局限，让知识像神经网络一样生长，辅助用户进行深度的思考与关联。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99200" y="2794000"/>
            <a:ext cx="2603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426200" y="2921000"/>
            <a:ext cx="1079500" cy="1079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7632700" y="2921000"/>
            <a:ext cx="120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任务看板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将静态知识转化为动态任务，利用看板视图可视化管理进度，明确优先级与责任人。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0" name="Connector 20"/>
          <p:cNvCxnSpPr/>
          <p:nvPr/>
        </p:nvCxnSpPr>
        <p:spPr>
          <a:xfrm rot="-18582">
            <a:off x="6426217" y="4184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426200" y="43180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实现知识与行动的无缝衔接，确保每一个重要的知识点都能落地为具体的执行动作。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67800" y="2794000"/>
            <a:ext cx="2603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194800" y="2921000"/>
            <a:ext cx="1079500" cy="1079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4" name="AutoShape 24"/>
          <p:cNvSpPr/>
          <p:nvPr/>
        </p:nvSpPr>
        <p:spPr>
          <a:xfrm>
            <a:off x="10401300" y="2921000"/>
            <a:ext cx="120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专注执行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集成番茄工作法计时器，帮助用户排除干扰，将精力集中在当前任务上，提升效率。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5" name="Connector 25"/>
          <p:cNvCxnSpPr/>
          <p:nvPr/>
        </p:nvCxnSpPr>
        <p:spPr>
          <a:xfrm rot="-18582">
            <a:off x="9194817" y="4184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9194800" y="43180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在工具中直接进入专注模式，减少切换成本，通过科学的时间管理提升任务完成质量。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" y="5588000"/>
            <a:ext cx="109093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7785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1587500" y="5715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打破信息孤岛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打通知识与任务的壁垒，实现信息的自由流动与复用，避免信息分散和重复建设。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0" name="Connector 30"/>
          <p:cNvCxnSpPr/>
          <p:nvPr/>
        </p:nvCxnSpPr>
        <p:spPr>
          <a:xfrm rot="5342709">
            <a:off x="4254500" y="60897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1" name="Picture 3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89500" y="5778500"/>
            <a:ext cx="406400" cy="4064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5461000" y="5715000"/>
            <a:ext cx="285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提升协作效率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优化个人与团队的工作流，降低沟通成本，让知识管理直接服务于生产力的提升。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3" name="Connector 33"/>
          <p:cNvCxnSpPr/>
          <p:nvPr/>
        </p:nvCxnSpPr>
        <p:spPr>
          <a:xfrm rot="5342709">
            <a:off x="7683500" y="60897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4" name="Picture 3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55000" y="5778500"/>
            <a:ext cx="406400" cy="4064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8763000" y="5715000"/>
            <a:ext cx="273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交付MVP版本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打造功能完整、体验流畅的最小可行性产品，快速验证核心价值并迭代优化。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项目范围与交付物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4191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8415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项目范围 Scope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167">
            <a:off x="1016008" y="2406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6035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本计划覆盖从系统设计、编码实现、测试到部署交付的完整软件开发生命周期，聚焦于构建功能完备、体验流畅的知识管理工具。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683000"/>
            <a:ext cx="2260600" cy="1270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3810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7846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基础与记录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43000" y="4318000"/>
            <a:ext cx="203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实现用户认证体系，支持便签CRUD与时间线回溯，构建知识创作的基础载体。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467100" y="3683000"/>
            <a:ext cx="2260600" cy="1270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4100" y="3810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975100" y="37846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管理与互联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594100" y="4318000"/>
            <a:ext cx="203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打造双向链接知识图谱，集成任务看板与番茄钟，实现知识沉淀与效率管理闭环。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159500" y="1651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159500" y="1651000"/>
            <a:ext cx="76200" cy="4191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13500" y="18415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项目交付物 Deliverables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167">
            <a:off x="6413508" y="2406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413500" y="2667000"/>
            <a:ext cx="4762500" cy="13970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27940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112000" y="2794000"/>
            <a:ext cx="393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全生命周期文档资产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9683">
            <a:off x="6540509" y="3359150"/>
            <a:ext cx="450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6540500" y="3492500"/>
            <a:ext cx="4508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包含软件开发计划、系统设计文档、验收测试计划、用户手册及最终的课堂演示PPT，确保项目过程可追溯、成果可复用。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13500" y="4318000"/>
            <a:ext cx="4762500" cy="13970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44450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112000" y="4445000"/>
            <a:ext cx="393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可交付的完整系统与代码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9683">
            <a:off x="6540509" y="5010150"/>
            <a:ext cx="450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6540500" y="5143500"/>
            <a:ext cx="4508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提供可运行的MVP系统源码、详细部署说明文档，以及系统验证报告与用户反馈分析，保障系统的可部署性与稳定性。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62000" y="6096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952500" y="6197600"/>
            <a:ext cx="1028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以完整的生命周期管理为核心，通过标准化的文档与高质量的代码交付，确保项目成果的完整性、可维护性与可扩展性。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4ADE80">
                    <a:alpha val="2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699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项目规划与安排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61000" y="5905500"/>
            <a:ext cx="12700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0" y="6096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PROJECT PLANNING &amp; SCHEDULE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工作分解结构 (WBS)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我们采用面向交付物的分解方式，将项目工作逐层分解为可管理的工作包，确保所有任务都被清晰定义和追踪，实现从顶层目标到具体执行的无缝衔接。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核心阶段全景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185">
            <a:off x="762008" y="30416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3302000"/>
            <a:ext cx="965200" cy="635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3403600"/>
            <a:ext cx="9652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项目管理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905000" y="3302000"/>
            <a:ext cx="965200" cy="635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905000" y="3403600"/>
            <a:ext cx="9652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系统设计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048000" y="3302000"/>
            <a:ext cx="965200" cy="635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048000" y="3403600"/>
            <a:ext cx="9652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编码实现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191000" y="3302000"/>
            <a:ext cx="965200" cy="635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191000" y="3403600"/>
            <a:ext cx="9652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测试验证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445000"/>
            <a:ext cx="2603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00" y="45720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270000" y="45466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设计与实现工作包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8582">
            <a:off x="889017" y="4946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89000" y="50800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完成架构、数据库及API接口设计，搭建开发环境，推进功能模块开发与前端整合，落实UI/UX设计规范。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492500" y="4445000"/>
            <a:ext cx="2603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9500" y="45720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4000500" y="45466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测试与交付工作包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8582">
            <a:off x="3619517" y="4946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3619500" y="50800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执行全流程测试（单元/集成/验收），完成生产环境搭建与系统部署，编写用户手册与技术文档，确保顺利交付。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390708">
            <a:off x="4127500" y="3867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rcRect l="7590" r="7590"/>
          <a:stretch>
            <a:fillRect/>
          </a:stretch>
        </p:blipFill>
        <p:spPr>
          <a:xfrm>
            <a:off x="6731000" y="1778000"/>
            <a:ext cx="4826000" cy="292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7" name="AutoShape 27"/>
          <p:cNvSpPr/>
          <p:nvPr/>
        </p:nvSpPr>
        <p:spPr>
          <a:xfrm>
            <a:off x="6731000" y="5080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WBS结构图直观呈现了项目的层级关系，将复杂的项目目标拆解为可执行、可监控的具体任务单元，确保责任落实到人，进度可控、风险可测，为项目成功提供了坚实的结构保障。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工作量估算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334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4ADE8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714500"/>
            <a:ext cx="2413000" cy="1778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1841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803400"/>
            <a:ext cx="184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专家判定平均法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20221">
            <a:off x="1079519" y="2279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413000"/>
            <a:ext cx="228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团队成员基于经验独立估算，后经讨论取加权平均值，有效避免个人偏见，提升估算合理性。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92500" y="1714500"/>
            <a:ext cx="2413000" cy="1778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9500" y="1841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000500" y="1803400"/>
            <a:ext cx="184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PERT 三值估算法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20221">
            <a:off x="3619519" y="2279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3556000" y="2413000"/>
            <a:ext cx="228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综合乐观(O)、最可能(M)、悲观(P)三种情况，按公式 E=(O+4M+P)/6 计算，量化风险与不确定性。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191000"/>
            <a:ext cx="2603500" cy="1778000"/>
          </a:xfrm>
          <a:prstGeom prst="roundRect">
            <a:avLst>
              <a:gd name="adj" fmla="val 0"/>
            </a:avLst>
          </a:prstGeom>
          <a:solidFill>
            <a:srgbClr val="4ADE80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3815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97000" y="4381500"/>
            <a:ext cx="184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预估总工作量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9644">
            <a:off x="952518" y="4946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5803D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89000" y="5143500"/>
            <a:ext cx="234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49.5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人日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492500" y="4191000"/>
            <a:ext cx="2603500" cy="1778000"/>
          </a:xfrm>
          <a:prstGeom prst="roundRect">
            <a:avLst>
              <a:gd name="adj" fmla="val 0"/>
            </a:avLst>
          </a:prstGeom>
          <a:solidFill>
            <a:srgbClr val="4ADE80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83000" y="43815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4127500" y="4381500"/>
            <a:ext cx="184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预估项目历时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9644">
            <a:off x="3683018" y="4946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5803D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3619500" y="5143500"/>
            <a:ext cx="234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工作日 (4人并行)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390708">
            <a:off x="4127500" y="3867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6731000" y="1524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关键任务工作量估算明细</a:t>
            </a:r>
            <a:endParaRPr lang="en-US" sz="1100"/>
          </a:p>
        </p:txBody>
      </p:sp>
      <p:graphicFrame>
        <p:nvGraphicFramePr>
          <p:cNvPr id="27" name="Table 27"/>
          <p:cNvGraphicFramePr>
            <a:graphicFrameLocks noGrp="1"/>
          </p:cNvGraphicFramePr>
          <p:nvPr/>
        </p:nvGraphicFramePr>
        <p:xfrm>
          <a:off x="6731000" y="2286000"/>
          <a:ext cx="4699000" cy="3365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62000"/>
                <a:gridCol w="1651000"/>
                <a:gridCol w="762000"/>
                <a:gridCol w="762000"/>
                <a:gridCol w="762000"/>
              </a:tblGrid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5803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WBS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DE80">
                        <a:alpha val="3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5803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活动名称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DE80">
                        <a:alpha val="3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5803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PERT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DE80">
                        <a:alpha val="3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5803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专家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DE80">
                        <a:alpha val="3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5803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采用值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DE80">
                        <a:alpha val="30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3.1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系统架构设计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3.2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3.0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5803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3.0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4.4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知识管理模块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3.7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3.5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5803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3.5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4.5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任务管理模块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3.7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3.5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5803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3.5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5.3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系统测试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2.6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2.5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5803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2.5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进度计划 (甘特图)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项目自2026年5月28日正式启动，通过全流程阶段化管控与关键节点验收，预计于2026年7月3日完成系统最终交付，保障项目按期、高质量落地。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5207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4638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387600"/>
            <a:ext cx="42545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M1 (6月1日)：课堂报告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完成项目开发计划的详细汇报，明确技术路线与资源分配方案。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429000"/>
            <a:ext cx="5207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6068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3530600"/>
            <a:ext cx="42545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M2 (6月5日)：计划文档修订提交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根据汇报反馈完善开发文档，确立最终需求规格与实施标准。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572000"/>
            <a:ext cx="5207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7498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673600"/>
            <a:ext cx="42545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M3 (6月13日)：MVP系统提交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完成核心功能开发，产出可运行的最小可行性产品原型，验证业务流程。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2286000"/>
            <a:ext cx="5207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3500" y="24638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2387600"/>
            <a:ext cx="42545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M4 (6月20日)：模块集成与测试启动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完成各功能模块的对接集成，正式进入系统联调与功能测试阶段。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3429000"/>
            <a:ext cx="5207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3500" y="36068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85000" y="3530600"/>
            <a:ext cx="42545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M5 (6月28日)：系统测试完成与验收准备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修复测试阶段问题，完成系统性能优化，具备用户验收测试(UAT)条件。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223000" y="4572000"/>
            <a:ext cx="5207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13500" y="47498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85000" y="4673600"/>
            <a:ext cx="42545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M6 (7月3日)：系统最终交付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完成所有验收流程，移交系统部署包与相关文档，项目正式结项。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62000" y="5778500"/>
            <a:ext cx="10668000" cy="825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4"/>
          <a:srcRect l="4483" r="4483"/>
          <a:stretch>
            <a:fillRect/>
          </a:stretch>
        </p:blipFill>
        <p:spPr>
          <a:xfrm>
            <a:off x="952500" y="5842000"/>
            <a:ext cx="1778000" cy="698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5" name="AutoShape 25"/>
          <p:cNvSpPr/>
          <p:nvPr/>
        </p:nvSpPr>
        <p:spPr>
          <a:xfrm>
            <a:off x="3048000" y="5842000"/>
            <a:ext cx="812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甘特图全景展示了项目全周期的任务排布与时间关联，通过六大关键里程碑节点的严格把控，确保每个阶段任务按时、按质完成，形成闭环管理，降低项目延期风险。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任务网络图与关键路径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任务网络图是项目进度管理的核心工具，通过可视化的方式明确各项活动的前后序依赖关系，帮助团队理清逻辑、优化流程，从而精准把控项目节点。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4ADE8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730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6924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关键路径核心定义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323">
            <a:off x="952513" y="3168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3302000"/>
            <a:ext cx="304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指项目中总浮动时间为0的活动序列，它决定了项目的最短完成时间，是整个项目进度中最“紧张”的路线。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2540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2730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16500" y="26924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关键路径序列识别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323">
            <a:off x="4572013" y="3168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72000" y="3302000"/>
            <a:ext cx="304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经梳理，本项目关键路径为：A→B→C/D→G/H/I/J→L→N→O→P→R，涵盖了项目从启动到交付的核心里程碑。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2540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2730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636000" y="26924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重点监控与管控策略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323">
            <a:off x="8191513" y="3168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191500" y="3302000"/>
            <a:ext cx="304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对关键路径上的所有活动实施“零偏差”监控，配置冗余资源，建立快速响应机制，确保无延期，保障项目总工期可控。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rcRect t="3503" b="3503"/>
          <a:stretch>
            <a:fillRect/>
          </a:stretch>
        </p:blipFill>
        <p:spPr>
          <a:xfrm>
            <a:off x="762000" y="4572000"/>
            <a:ext cx="5588000" cy="1841500"/>
          </a:xfrm>
          <a:prstGeom prst="rect">
            <a:avLst/>
          </a:prstGeom>
          <a:noFill/>
          <a:ln w="12700" cap="flat" cmpd="sng">
            <a:solidFill>
              <a:srgbClr val="4ADE80">
                <a:alpha val="60000"/>
              </a:srgbClr>
            </a:solidFill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6731000" y="4572000"/>
            <a:ext cx="4699000" cy="1841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731000" y="4572000"/>
            <a:ext cx="50800" cy="1841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921500" y="4699000"/>
            <a:ext cx="4381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可视化任务网络全景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左图为项目全周期任务网络图，清晰呈现了各任务节点的逻辑关联。关键路径上的节点是项目管控的重中之重，任何一个节点的延误都会直接传导至最终交付，因此需作为核心抓手进行精细化管理。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0" b="1" i="0" u="none" strike="noStrike">
                <a:solidFill>
                  <a:srgbClr val="4ADE80">
                    <a:alpha val="2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810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团队协作与风险管理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842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Team &amp; Risk Management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团队职责分配 (RACI矩阵)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524000"/>
            <a:ext cx="1028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我们采用RACI责任分配矩阵，明确每位成员在各项活动中的角色和职责，清晰界定执行者、负责人、咨询对象与知情人员，有效避免职责不清和沟通壁垒，保障项目流程高效运转。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2540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2540000" cy="50800"/>
          </a:xfrm>
          <a:prstGeom prst="roundRect">
            <a:avLst>
              <a:gd name="adj" fmla="val 0"/>
            </a:avLst>
          </a:prstGeom>
          <a:solidFill>
            <a:srgbClr val="4ADE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89000" y="28575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 · 执行者 (Responsible)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负责具体执行任务，确保各项工作按计划落地实施，是任务的直接操办人，对任务过程承担首要责任。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467100" y="2667000"/>
            <a:ext cx="2540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467100" y="2667000"/>
            <a:ext cx="2540000" cy="50800"/>
          </a:xfrm>
          <a:prstGeom prst="roundRect">
            <a:avLst>
              <a:gd name="adj" fmla="val 0"/>
            </a:avLst>
          </a:prstGeom>
          <a:solidFill>
            <a:srgbClr val="4ADE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594100" y="28575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 · 负责人 (Accountable)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对任务结果负最终责任，拥有关键事项的决策权，需审批任务的关键节点、资源分配与最终成果交付。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172200" y="2667000"/>
            <a:ext cx="2540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172200" y="2667000"/>
            <a:ext cx="2540000" cy="50800"/>
          </a:xfrm>
          <a:prstGeom prst="roundRect">
            <a:avLst>
              <a:gd name="adj" fmla="val 0"/>
            </a:avLst>
          </a:prstGeom>
          <a:solidFill>
            <a:srgbClr val="4ADE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99200" y="28575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 · 被咨询者 (Consulted)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拥有相关领域的专业知识或经验，在任务执行前或决策过程中提供建议与咨询，确保方案科学可行。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877300" y="2667000"/>
            <a:ext cx="2540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877300" y="2667000"/>
            <a:ext cx="2540000" cy="50800"/>
          </a:xfrm>
          <a:prstGeom prst="roundRect">
            <a:avLst>
              <a:gd name="adj" fmla="val 0"/>
            </a:avLst>
          </a:prstGeom>
          <a:solidFill>
            <a:srgbClr val="4ADE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004300" y="28575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 · 被告知者 (Informed)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任务相关的知情人员，无需直接参与决策或执行，但需及时获知任务的关键进展、变更与最终结果。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4572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89000" y="4699000"/>
            <a:ext cx="228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全坤 (组长) | 角色：A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统筹项目整体管理，主导技术架构设计与系统顶层规划；负责关键节点把控与最终验收测试，协调各方资源保障项目按期交付。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3467100" y="4572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3594100" y="4699000"/>
            <a:ext cx="228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肖昌珅 | 角色：R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专注于数据库架构设计与优化，开发稳定高效的后端API接口；负责用户认证与权限管理模块的实现，保障系统数据交互安全可靠。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172200" y="4572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299200" y="4699000"/>
            <a:ext cx="228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金奕辰 | 角色：R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负责前端UI/UX设计与交互逻辑开发，实现知识管理模块功能；完成多端前端代码整合，持续优化用户操作体验与界面视觉呈现。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877300" y="4572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004300" y="4699000"/>
            <a:ext cx="228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杜承敖 | 角色：R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主导任务管理模块的功能开发与迭代，负责各功能模块的集成联调测试；搭建并维护项目部署环境，确保系统上线后稳定运行。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风险管理 - 识别与应对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前瞻性地识别了8项主要潜在风险，并对其发生概率和影响程度进行了全面评估。针对评估出的高优先级风险，团队已制定针对性的应对策略，从技术选型、范围控制到时间管理多维度介入，确保项目推进过程中的风险可控、可防、可化解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53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2921000"/>
            <a:ext cx="3429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3175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R1 技术适配风险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323">
            <a:off x="952513" y="3740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3937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新技术栈与团队现有能力不匹配，可能导致学习成本高、开发效率低，增加项目延期风险。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5143500"/>
            <a:ext cx="3048000" cy="571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79500" y="5232400"/>
            <a:ext cx="279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应对：选用熟悉技术栈，预留1周技术验证与学习缓冲期。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81500" y="2921000"/>
            <a:ext cx="3429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381500" y="292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572000" y="3175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R2 范围蔓延风险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4323">
            <a:off x="4572013" y="3740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72000" y="3937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MVP开发过程中需求不断增加，导致核心功能无法聚焦，开发周期拉长，影响项目按时交付。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72000" y="5143500"/>
            <a:ext cx="3048000" cy="571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699000" y="5232400"/>
            <a:ext cx="279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应对：严格按优先级实施，由组长把控需求变更，非核心功能后置。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001000" y="2921000"/>
            <a:ext cx="3429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001000" y="292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191500" y="3175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R4 时间冲突风险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4323">
            <a:off x="8191513" y="3740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191500" y="3937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期末考试周与项目关键开发期重叠，团队成员时间被挤压，关键任务推进受阻。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191500" y="5143500"/>
            <a:ext cx="3048000" cy="571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318500" y="5232400"/>
            <a:ext cx="279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应对：提前规划关键里程碑，建立任务备份机制，预留充足时间缓冲。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" y="6159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通过系统性的风险识别与分级管控，将不确定性降至最低，保障项目核心目标顺利达成。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风险管理 - 监控机制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风险管理不是一次性活动，而是贯穿项目始终的持续性过程。通过建立系统化、规范化的监控机制，确保风险可控、可防、可追溯，保障项目目标稳步达成。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ADE8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0480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30226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每日站会同步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291">
            <a:off x="1016009" y="367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810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每日快速同步项目进度，即时识别团队协作中的阻塞项与潜在风险点，确保问题在萌芽阶段就被发现并提上处理日程。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2794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3048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239000" y="30226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每周风险评审复盘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6477009" y="367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77000" y="3810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每周固定召开风险评审会，全面更新风险状态，评估现有应对措施的有效性，针对变化及时调整策略，防止风险隐患升级。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889500"/>
            <a:ext cx="5207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0800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778000" y="50546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风险燃尽图可视化追踪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9291">
            <a:off x="1016009" y="5645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1016000" y="5740400"/>
            <a:ext cx="469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利用燃尽图直观展示风险项的消除进度与趋势，量化风险解决效率，让项目整体风险态势清晰可见，辅助决策调整。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4889500"/>
            <a:ext cx="5207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5080000"/>
            <a:ext cx="457200" cy="457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239000" y="50546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全链路动态预警与更新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9291">
            <a:off x="6477009" y="5645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6477000" y="5740400"/>
            <a:ext cx="469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建立敏捷响应机制，新风险出现或等级提升时，立即更新风险登记表并同步通知全体成员，确保信息透明，全员参与防控。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4ADE80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445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质量保障与交付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58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Quality Assurance &amp; Delivery | 构建全流程质量闭环，确保高标准、高质量的产品交付体验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验收测试计划 - 目标与范围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803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核心测试目标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323">
            <a:off x="952513" y="2343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540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确保“流知·Flownote”系统在交付前，100%满足《需求规格说明》中定义的所有高优先级功能需求与非功能需求，保障系统交付质量。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1651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1841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16500" y="1803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执行时间安排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323">
            <a:off x="4572013" y="2343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572000" y="2540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验收测试阶段预计集中在</a:t>
            </a:r>
            <a:r>
              <a:rPr lang="en-US" sz="14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6月28日 - 6月30日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开展，预留充足时间进行问题复现与回归验证，确保按期完成验收。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1651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1841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636000" y="1803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全面覆盖范围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323">
            <a:off x="8191513" y="2343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191500" y="2540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覆盖用户认证、便签、知识管理、任务看板、番茄钟等核心模块，同时对系统性能指标与异常场景处理能力进行专项验证。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19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验收测试核心用例简表</a:t>
            </a:r>
            <a:endParaRPr lang="en-US" sz="1100"/>
          </a:p>
        </p:txBody>
      </p: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762000" y="4826000"/>
          <a:ext cx="10668000" cy="1079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3683000"/>
                <a:gridCol w="4953000"/>
              </a:tblGrid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5803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测试标识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4AD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5803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测试内容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4AD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5803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测试目的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4AD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>
                        <a:alpha val="20000"/>
                      </a:srgbClr>
                    </a:solidFill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AT-001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4AD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D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用户注册与登录全流程测试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4AD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D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验证账号创建、密码校验、会话管理等基础用户功能的完整性与安全性。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4AD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D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验收测试 - 标准与环境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4191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79500" y="1968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验收通过核心标准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795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921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2857500"/>
            <a:ext cx="425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用例全覆盖通过：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所有高优先级（P0/P1）测试用例需达到</a:t>
            </a:r>
            <a:r>
              <a:rPr lang="en-US" sz="1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100% 通过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，无遗漏执行项。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3873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810000"/>
            <a:ext cx="425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零严重缺陷准入：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系统中不得存在</a:t>
            </a:r>
            <a:r>
              <a:rPr lang="en-US" sz="14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致命 (Blocker)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及</a:t>
            </a: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严重 (Critical)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级别缺陷，确保核心功能稳定。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9500" y="4953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889500"/>
            <a:ext cx="425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缺陷与性能双重把控：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主要缺陷≤3个且有明确修复计划；核心页面加载≤3秒，接口响应时间满足预设阈值。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13500" y="1778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13500" y="1778000"/>
            <a:ext cx="76200" cy="4191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731000" y="1968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标准化测试环境配置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291">
            <a:off x="67310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31000" y="2921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75500" y="2857500"/>
            <a:ext cx="425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高性能服务端架构：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Ubuntu 22.04 LTS 系统，搭载 Node.js 22 运行时与 PostgreSQL 17 数据库，保障数据处理高效稳定。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31000" y="3873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75500" y="3810000"/>
            <a:ext cx="425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全浏览器兼容性覆盖：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Chrome、Firefox、Edge 最新稳定版进行多端适配测试，确保主流用户场景下的体验一致性。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31000" y="4953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175500" y="4889500"/>
            <a:ext cx="425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容器化与工具矩阵：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 Docker 容器化部署确保环境一致性；结合 Postman、Jest、Cypress、Lighthouse 构建全链路自动化测试体系。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6223000"/>
            <a:ext cx="10922000" cy="381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62000" y="6223000"/>
            <a:ext cx="1092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通过严格的标准约束与标准化的环境配置，从源头把控交付质量，确保系统的稳定性、兼容性与性能达标。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软件质量保证与配置管理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70500" cy="571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796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质量保证核心措施 (QA)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667000"/>
            <a:ext cx="2413000" cy="12700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794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2768600"/>
            <a:ext cx="184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严格代码审查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9500" y="3238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所有代码变更需至少1人交叉Review，从源头把控逻辑质量与规范性。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92500" y="2667000"/>
            <a:ext cx="2413000" cy="12700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9500" y="2794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000500" y="2768600"/>
            <a:ext cx="184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统一编码规范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19500" y="3238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集成ESLint与Prettier工具链，自动化校验并格式化代码，消除风格差异。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" y="4064000"/>
            <a:ext cx="2413000" cy="12700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9500" y="4191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460500" y="4165600"/>
            <a:ext cx="184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 Flow策略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79500" y="4635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采用成熟的分支管理模型，隔离开发、测试与生产代码，保障主干稳定。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492500" y="4064000"/>
            <a:ext cx="2413000" cy="12700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19500" y="4191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4000500" y="4165600"/>
            <a:ext cx="184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自动化持续集成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619500" y="4635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Push即触发构建与基础测试，缩短反馈周期，确保问题被及时发现和修复。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388145">
            <a:off x="4318000" y="3613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223000" y="1778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223000" y="1778000"/>
            <a:ext cx="5270500" cy="571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413500" y="18796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标准化配置管理 (CM)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13500" y="2667000"/>
            <a:ext cx="2413000" cy="12700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40500" y="27940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6921500" y="2768600"/>
            <a:ext cx="184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安全私有仓库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540500" y="3238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使用GitHub私有仓库托管核心资产，配置基于角色的权限管控，确保代码安全。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953500" y="2667000"/>
            <a:ext cx="2413000" cy="12700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80500" y="2794000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9461500" y="2768600"/>
            <a:ext cx="184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分层分支架构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080500" y="3238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main分支存稳定版，develop分支集成功能，feature分支进行独立开发。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413500" y="4064000"/>
            <a:ext cx="2413000" cy="12700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40500" y="4191000"/>
            <a:ext cx="304800" cy="3048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6921500" y="4165600"/>
            <a:ext cx="184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语义化版本控制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540500" y="4635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遵循MAJOR.MINOR.PATCH规范命名，清晰传达版本迭代的兼容性与变更范围。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953500" y="4064000"/>
            <a:ext cx="2413000" cy="12700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080500" y="4191000"/>
            <a:ext cx="304800" cy="304800"/>
          </a:xfrm>
          <a:prstGeom prst="rect">
            <a:avLst/>
          </a:prstGeom>
        </p:spPr>
      </p:pic>
      <p:sp>
        <p:nvSpPr>
          <p:cNvPr id="41" name="AutoShape 41"/>
          <p:cNvSpPr/>
          <p:nvPr/>
        </p:nvSpPr>
        <p:spPr>
          <a:xfrm>
            <a:off x="9461500" y="4165600"/>
            <a:ext cx="184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容器化产物交付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9080500" y="4635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构建与Git Tag一一对应的Docker镜像，实现开发、测试与生产环境的高度一致。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762000" y="5778500"/>
            <a:ext cx="10731500" cy="762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2500" y="5943600"/>
            <a:ext cx="406400" cy="406400"/>
          </a:xfrm>
          <a:prstGeom prst="rect">
            <a:avLst/>
          </a:prstGeom>
        </p:spPr>
      </p:pic>
      <p:sp>
        <p:nvSpPr>
          <p:cNvPr id="45" name="AutoShape 45"/>
          <p:cNvSpPr/>
          <p:nvPr/>
        </p:nvSpPr>
        <p:spPr>
          <a:xfrm>
            <a:off x="1524000" y="5842000"/>
            <a:ext cx="971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通过QA体系保障代码质量，CM体系规范变更管理，构建“质量可控、过程可溯、交付高效”的软件研发闭环，为业务稳定性提供坚实技术支撑。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项目开发工具与环境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我们选择了成熟、高效且团队熟悉的技术栈，兼顾系统稳定性与开发效率，构建了从前端交互到后端服务、数据存储及部署协作的完整技术体系。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33782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857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81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前端交互层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628">
            <a:off x="952514" y="32956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3429000"/>
            <a:ext cx="29972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 Vue 3 + TypeScript 组合，搭配 Ant Design Vue 组件库，构建高性能、可维护的用户界面。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94200" y="2667000"/>
            <a:ext cx="33782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4700" y="2857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29200" y="281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后端服务层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628">
            <a:off x="4584714" y="32956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584700" y="3429000"/>
            <a:ext cx="29972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Node.js 与 Express.js 框架，搭建轻量、高效的 RESTful API 服务，实现业务逻辑的快速迭代。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26400" y="2667000"/>
            <a:ext cx="33782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6900" y="2857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661400" y="281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数据持久层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628">
            <a:off x="8216914" y="32956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216900" y="3429000"/>
            <a:ext cx="29972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选用 PostgreSQL 开源对象关系型数据库，确保数据的完整性、安全性及复杂查询的高效处理能力。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445000"/>
            <a:ext cx="52451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635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397000" y="4597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容器化部署体系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9046">
            <a:off x="952508" y="5073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952500" y="5143500"/>
            <a:ext cx="4864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 Docker + Docker Compose 实现服务的快速构建、打包与隔离，保障开发、测试与生产环境的一致性。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61100" y="4445000"/>
            <a:ext cx="52451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51600" y="46355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896100" y="4597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全流程开发协作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9046">
            <a:off x="6451608" y="5073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6451600" y="5143500"/>
            <a:ext cx="4800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Git 与 GitHub 生态，结合 Actions 自动化流程与 Projects 项目管理，实现团队协作的规范化与自动化。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4092">
            <a:off x="762004" y="5772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1" name="Picture 31"/>
          <p:cNvPicPr>
            <a:picLocks noChangeAspect="1"/>
          </p:cNvPicPr>
          <p:nvPr/>
        </p:nvPicPr>
        <p:blipFill>
          <a:blip r:embed="rId12"/>
          <a:srcRect t="1105" b="1105"/>
          <a:stretch>
            <a:fillRect/>
          </a:stretch>
        </p:blipFill>
        <p:spPr>
          <a:xfrm>
            <a:off x="2667000" y="59690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32" name="Connector 32"/>
          <p:cNvCxnSpPr/>
          <p:nvPr/>
        </p:nvCxnSpPr>
        <p:spPr>
          <a:xfrm rot="5314074">
            <a:off x="4318000" y="62167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3" name="Picture 33"/>
          <p:cNvPicPr>
            <a:picLocks noChangeAspect="1"/>
          </p:cNvPicPr>
          <p:nvPr/>
        </p:nvPicPr>
        <p:blipFill>
          <a:blip r:embed="rId13"/>
          <a:srcRect l="12500" r="12499"/>
          <a:stretch>
            <a:fillRect/>
          </a:stretch>
        </p:blipFill>
        <p:spPr>
          <a:xfrm>
            <a:off x="5461000" y="59690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34" name="Connector 34"/>
          <p:cNvCxnSpPr/>
          <p:nvPr/>
        </p:nvCxnSpPr>
        <p:spPr>
          <a:xfrm rot="5314074">
            <a:off x="7112000" y="62167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" name="Picture 35"/>
          <p:cNvPicPr>
            <a:picLocks noChangeAspect="1"/>
          </p:cNvPicPr>
          <p:nvPr/>
        </p:nvPicPr>
        <p:blipFill>
          <a:blip r:embed="rId14"/>
          <a:srcRect t="5555" b="5555"/>
          <a:stretch>
            <a:fillRect/>
          </a:stretch>
        </p:blipFill>
        <p:spPr>
          <a:xfrm>
            <a:off x="8255000" y="5969000"/>
            <a:ext cx="1016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016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 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667000"/>
            <a:ext cx="33782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857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281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全流程规划覆盖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628">
            <a:off x="952514" y="33591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3556000"/>
            <a:ext cx="299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制定了详尽的软件开发计划，无缝衔接规划、执行与交付全生命周期，确保项目推进逻辑闭环、条理清晰，无环节遗漏。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2667000"/>
            <a:ext cx="33782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4700" y="2857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29200" y="281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科学管控与交付信心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628">
            <a:off x="4584714" y="33591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584700" y="3556000"/>
            <a:ext cx="299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依托科学的工作量估算、清晰的进度安排与明确的团队分工，辅以主动的风险管理机制，我们有十足把握按时、高质量完成MVP开发。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26400" y="2667000"/>
            <a:ext cx="33782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6900" y="2857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661400" y="281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基准遵循与动态调优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628">
            <a:off x="8216914" y="33591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16900" y="3556000"/>
            <a:ext cx="299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以本计划为项目执行的核心基准，团队将严格遵循既定流程。同时保持灵活性，根据实际落地反馈进行科学、及时的动态调整。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0" y="5588000"/>
            <a:ext cx="12192000" cy="889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0" y="5740400"/>
            <a:ext cx="1219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感谢各位老师和同学的聆听！欢迎批评指正与提问交流。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6285</Words>
  <Application>WPS 演示</Application>
  <PresentationFormat/>
  <Paragraphs>498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杜承敖</cp:lastModifiedBy>
  <cp:revision>1</cp:revision>
  <dcterms:created xsi:type="dcterms:W3CDTF">2026-06-01T05:22:51Z</dcterms:created>
  <dcterms:modified xsi:type="dcterms:W3CDTF">2026-06-01T05:22:51Z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{"Label":"1","ContentProducer":"001191110102MACQD9K64010000","ProduceID":"7646292467814124504","ReservedCode1":"","ContentPropagator":"","PropagateID":"","ReservedCode2":""}</vt:lpwstr>
  </property>
  <property fmtid="{D5CDD505-2E9C-101B-9397-08002B2CF9AE}" pid="3" name="ICV">
    <vt:lpwstr>88766660600B46EB91AC19692DDF5183_12</vt:lpwstr>
  </property>
  <property fmtid="{D5CDD505-2E9C-101B-9397-08002B2CF9AE}" pid="4" name="KSOProductBuildVer">
    <vt:lpwstr>2052-12.1.0.25865</vt:lpwstr>
  </property>
</Properties>
</file>