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pg44zfdijemcc/mnt/agents/output/sightcloud-qa-test/images/1__Logo_PNG_SVG_AI_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9906000" y="1524000"/>
            <a:ext cx="5080000" cy="5080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2000" y="1778000"/>
            <a:ext cx="76200" cy="4572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4" name="Text 1"/>
          <p:cNvSpPr/>
          <p:nvPr/>
        </p:nvSpPr>
        <p:spPr>
          <a:xfrm>
            <a:off x="1143000" y="1905000"/>
            <a:ext cx="838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SightCloud</a:t>
            </a:r>
            <a:endParaRPr lang="en-US" sz="4200" dirty="0"/>
          </a:p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景区实景三维展示与测量系统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143000" y="3683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评审测试报告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143000" y="4381500"/>
            <a:ext cx="2540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4699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 验收测试小组 | 杜承敖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武汉大学计算机学院 | 软件工程课程设计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测试日期：2026 年 7 月 3 日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测试结论：</a:t>
            </a:r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有条件通过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5E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4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032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汇报提纲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857500"/>
            <a:ext cx="1016000" cy="508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0" y="1524000"/>
            <a:ext cx="4826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15000" y="190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715000" y="2667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项目概述与测试设计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715000" y="3175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测试目的、对象与验收流程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668000" y="1524000"/>
            <a:ext cx="4826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049000" y="190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1049000" y="2667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软件工程方法应用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049000" y="3175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测试方法论与需求追踪矩阵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34000" y="4953000"/>
            <a:ext cx="4826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533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715000" y="6096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测试执行与结果分析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715000" y="6604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自动化验证、功能测试与缺陷分析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68000" y="4953000"/>
            <a:ext cx="4826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049000" y="533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11049000" y="6096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AI协作与测试结论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049000" y="6604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AI辅助内容与验收结论建议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项目概述与测试设计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444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测试目的、对象与验收流程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5080000"/>
            <a:ext cx="1524000" cy="38100"/>
          </a:xfrm>
          <a:prstGeom prst="rect">
            <a:avLst/>
          </a:prstGeom>
          <a:solidFill>
            <a:srgbClr val="FFFFFF">
              <a:alpha val="3764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项目概述与测试设计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97000" y="469900"/>
            <a:ext cx="1270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软件工程方法应用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测试执行与结果分析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AI协作与测试结论</a:t>
            </a:r>
            <a:endParaRPr lang="en-US" sz="1300" dirty="0"/>
          </a:p>
        </p:txBody>
      </p:sp>
      <p:pic>
        <p:nvPicPr>
          <p:cNvPr id="8" name="Image 0" descr="https://kimi-img.moonshot.cn/pub/slides/okc/pg44zfdijemcc/mnt/agents/output/sightcloud-qa-test/images/1__Logo_PNG_SVG_AI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0" y="50800"/>
            <a:ext cx="406400" cy="406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698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测试目的与对象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62000" y="1181100"/>
            <a:ext cx="635000" cy="381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1" name="Text 8"/>
          <p:cNvSpPr/>
          <p:nvPr/>
        </p:nvSpPr>
        <p:spPr>
          <a:xfrm>
            <a:off x="762000" y="1460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测试目的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1841500"/>
            <a:ext cx="6858000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从用户验收视角判断 SightCloud 系统是否满足需求清单、MVP 范围和课程设计交付要求。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测试重点覆盖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四类角色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业务边界：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游客浏览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数据采集工作者成果维护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景区管理者空间量测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政府管理部门监管汇报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28000" y="1460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测试对象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0" y="1841500"/>
          <a:ext cx="7366000" cy="2540000"/>
        </p:xfrm>
        <a:graphic>
          <a:graphicData uri="http://schemas.openxmlformats.org/drawingml/2006/table">
            <a:tbl>
              <a:tblPr/>
              <a:tblGrid>
                <a:gridCol w="1620520"/>
                <a:gridCol w="2799080"/>
                <a:gridCol w="294640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对象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技术栈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验收关注点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前端应用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Vue 3 + TS + Vite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角色路由、3D场景、量测交互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后端服务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Fastify + TS + Prisma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鉴权、接口、文件存储、日志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3DGS引擎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3dgs-engine RAD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RAD加载、渲染、相机漫游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762000" y="4699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测试依据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80000"/>
          <a:ext cx="14732000" cy="2286000"/>
        </p:xfrm>
        <a:graphic>
          <a:graphicData uri="http://schemas.openxmlformats.org/drawingml/2006/table">
            <a:tbl>
              <a:tblPr/>
              <a:tblGrid>
                <a:gridCol w="2651760"/>
                <a:gridCol w="5156200"/>
                <a:gridCol w="692404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依据类别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来源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用于判断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需求范围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MVP需求优先级清单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P0/P1/P2能力覆盖、角色边界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运行说明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前后端README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本地部署、验证命令、数据初始化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自动化测试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Vitest用例、typecheck、build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工程可验证性、构建可交付性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项目概述与测试设计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97000" y="469900"/>
            <a:ext cx="1270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软件工程方法应用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测试执行与结果分析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AI协作与测试结论</a:t>
            </a:r>
            <a:endParaRPr lang="en-US" sz="1300" dirty="0"/>
          </a:p>
        </p:txBody>
      </p:sp>
      <p:pic>
        <p:nvPicPr>
          <p:cNvPr id="8" name="Image 0" descr="https://kimi-img.moonshot.cn/pub/slides/okc/pg44zfdijemcc/mnt/agents/output/sightcloud-qa-test/images/1__Logo_PNG_SVG_AI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0" y="50800"/>
            <a:ext cx="406400" cy="406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698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验收测试流程设计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62000" y="1181100"/>
            <a:ext cx="635000" cy="38100"/>
          </a:xfrm>
          <a:prstGeom prst="rect">
            <a:avLst/>
          </a:prstGeom>
          <a:solidFill>
            <a:srgbClr val="1B5E3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5080000"/>
        </p:xfrm>
        <a:graphic>
          <a:graphicData uri="http://schemas.openxmlformats.org/drawingml/2006/table">
            <a:tbl>
              <a:tblPr/>
              <a:tblGrid>
                <a:gridCol w="1767840"/>
                <a:gridCol w="3241040"/>
                <a:gridCol w="4861560"/>
                <a:gridCol w="486156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阶段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活动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输入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输出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 需求审查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审阅MVP清单、README、接口和角色说明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需求清单、项目说明、代码结构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测试范围、验收准则、风险清单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 用例设计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按角色和模块设计黑盒场景、边界和异常用例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需求追踪矩阵、风险优先级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测试用例表、测试数据清单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3. 环境准备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安装依赖、生成Prisma Client、确认账号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前后端项目、package脚本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可执行测试环境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 冒烟测试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运行typecheck、test、build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本地工作区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自动化验证结果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5. 功能验收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按四类角色执行主流程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测试用例、演示数据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实际结果、截图或日志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6. 缺陷管理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记录缺陷、分级、复现、回归验证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失败用例和异常日志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缺陷清单、回归结果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7. 结论评审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统计通过率、缺陷影响和剩余风险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用例结果、缺陷闭环状态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验收结论和修复建议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验收准则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62000" y="6731000"/>
            <a:ext cx="14732000" cy="1270000"/>
          </a:xfrm>
          <a:prstGeom prst="rect">
            <a:avLst/>
          </a:prstGeom>
          <a:solidFill>
            <a:srgbClr val="1B5E3B">
              <a:alpha val="6275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016000" y="6858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验收准则：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P0 主流程无阻塞缺陷；P1 关键演示功能不存在稳定失败；类型检查和构建通过；严重缺陷有明确修复方案或规避方案；未完成功能必须在交付说明中明确标注。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软件工程方法应用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444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测试方法论与需求追踪矩阵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5080000"/>
            <a:ext cx="1524000" cy="38100"/>
          </a:xfrm>
          <a:prstGeom prst="rect">
            <a:avLst/>
          </a:prstGeom>
          <a:solidFill>
            <a:srgbClr val="FFFFFF">
              <a:alpha val="3764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项目概述与测试设计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软件工程方法应用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61000" y="469900"/>
            <a:ext cx="1270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测试执行与结果分析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AI协作与测试结论</a:t>
            </a:r>
            <a:endParaRPr lang="en-US" sz="1300" dirty="0"/>
          </a:p>
        </p:txBody>
      </p:sp>
      <p:pic>
        <p:nvPicPr>
          <p:cNvPr id="8" name="Image 0" descr="https://kimi-img.moonshot.cn/pub/slides/okc/pg44zfdijemcc/mnt/agents/output/sightcloud-qa-test/images/1__Logo_PNG_SVG_AI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0" y="50800"/>
            <a:ext cx="406400" cy="406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698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软件工程方法在验收测试中的应用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62000" y="1181100"/>
            <a:ext cx="635000" cy="38100"/>
          </a:xfrm>
          <a:prstGeom prst="rect">
            <a:avLst/>
          </a:prstGeom>
          <a:solidFill>
            <a:srgbClr val="1B5E3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3937000"/>
        </p:xfrm>
        <a:graphic>
          <a:graphicData uri="http://schemas.openxmlformats.org/drawingml/2006/table">
            <a:tbl>
              <a:tblPr/>
              <a:tblGrid>
                <a:gridCol w="2651760"/>
                <a:gridCol w="6629400"/>
                <a:gridCol w="5450840"/>
              </a:tblGrid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方法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在本次验收中的应用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对应产物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需求追踪矩阵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将P0/P1/P2需求映射到测试模块、用例和缺陷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需求覆盖表、用例清单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黑盒测试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从角色和业务输入输出出发验证功能，不依赖内部实现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登录、上传、量测、导出用例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场景法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围绕端到端业务路径设计核心场景用例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核心业务场景用例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等价类划分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对账号角色、文件类型、导出类型进行有效/无效分类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输入校验用例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边界值分析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检查日期边界、量测点数不足、空目录、无权限访问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异常与边界用例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风险驱动测试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优先验证权限、三维数据加载、成果状态机等高风险点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风险清单和缺陷等级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回归测试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缺陷修复后重新执行相关自动化测试和人工流程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回归记录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62000" y="5651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测试范围与需求追踪（部分）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032500"/>
          <a:ext cx="14732000" cy="2286000"/>
        </p:xfrm>
        <a:graphic>
          <a:graphicData uri="http://schemas.openxmlformats.org/drawingml/2006/table">
            <a:tbl>
              <a:tblPr/>
              <a:tblGrid>
                <a:gridCol w="2651760"/>
                <a:gridCol w="1473200"/>
                <a:gridCol w="6187440"/>
                <a:gridCol w="4419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模块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优先级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验收点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本轮状态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角色与权限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五类角色访问边界正确，越权被拦截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自动化通过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三维浏览与渲染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RAD通过/datasets加载，WASD/鼠标漫游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构建通过，待人工执行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监管看板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统计成果总量、覆盖、数据时点、渲染预算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后端summary通过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汇报导出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生成PDF/JSON材料并记录导出历史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PDF导出失败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测试执行与结果分析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444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自动化验证、功能测试与缺陷分析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5080000"/>
            <a:ext cx="1524000" cy="38100"/>
          </a:xfrm>
          <a:prstGeom prst="rect">
            <a:avLst/>
          </a:prstGeom>
          <a:solidFill>
            <a:srgbClr val="FFFFFF">
              <a:alpha val="3764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项目概述与测试设计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软件工程方法应用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测试执行与结果分析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AI协作与测试结论</a:t>
            </a:r>
            <a:endParaRPr lang="en-US" sz="1300" dirty="0"/>
          </a:p>
        </p:txBody>
      </p:sp>
      <p:pic>
        <p:nvPicPr>
          <p:cNvPr id="8" name="Image 0" descr="https://kimi-img.moonshot.cn/pub/slides/okc/pg44zfdijemcc/mnt/agents/output/sightcloud-qa-test/images/1__Logo_PNG_SVG_AI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0" y="50800"/>
            <a:ext cx="406400" cy="406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698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自动化验证与功能测试结果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62000" y="1181100"/>
            <a:ext cx="635000" cy="381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1" name="Text 8"/>
          <p:cNvSpPr/>
          <p:nvPr/>
        </p:nvSpPr>
        <p:spPr>
          <a:xfrm>
            <a:off x="762000" y="139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自动化验证结果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7112000" cy="3302000"/>
        </p:xfrm>
        <a:graphic>
          <a:graphicData uri="http://schemas.openxmlformats.org/drawingml/2006/table">
            <a:tbl>
              <a:tblPr/>
              <a:tblGrid>
                <a:gridCol w="1066800"/>
                <a:gridCol w="2844800"/>
                <a:gridCol w="1422400"/>
                <a:gridCol w="1778000"/>
              </a:tblGrid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对象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命令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结果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说明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pnpm run test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11/11 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pnpm run typecheck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无TS错误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pnpm run build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chunk 5.43MB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后端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pnpm run typecheck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无TS错误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后端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pnpm run build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输出dist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8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后端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pnpm run test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有条件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13/15通过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8382000" y="139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功能测试情况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778000"/>
          <a:ext cx="7112000" cy="3302000"/>
        </p:xfrm>
        <a:graphic>
          <a:graphicData uri="http://schemas.openxmlformats.org/drawingml/2006/table">
            <a:tbl>
              <a:tblPr/>
              <a:tblGrid>
                <a:gridCol w="2133600"/>
                <a:gridCol w="1422400"/>
                <a:gridCol w="3556000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测试域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结果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备注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权限与登录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auth 4/4, perm 3/3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成果上传与转换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upload 3/4,重试复测通过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空间量测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measurement 3/3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监管摘要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summary断言通过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监管PDF导出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失败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POST /api/exports 500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三维浏览人工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64748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待执行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未启动浏览器验收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用户管理权限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B4530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警告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需求与实现口径不一致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762000" y="5334000"/>
            <a:ext cx="14732000" cy="1016000"/>
          </a:xfrm>
          <a:prstGeom prst="rect">
            <a:avLst/>
          </a:prstGeom>
          <a:solidFill>
            <a:srgbClr val="1B5E3B">
              <a:alpha val="6275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1016000" y="5461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核心发现：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前后端工程化验证（typecheck/build）全部通过；核心业务功能（登录、上传、量测、监管摘要）自动化通过。主要问题：PDF导出接口500失败、三维浏览需人工补测、用户管理权限口径待确认。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项目概述与测试设计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软件工程方法应用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测试执行与结果分析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AI协作与测试结论</a:t>
            </a:r>
            <a:endParaRPr lang="en-US" sz="1300" dirty="0"/>
          </a:p>
        </p:txBody>
      </p:sp>
      <p:pic>
        <p:nvPicPr>
          <p:cNvPr id="8" name="Image 0" descr="https://kimi-img.moonshot.cn/pub/slides/okc/pg44zfdijemcc/mnt/agents/output/sightcloud-qa-test/images/1__Logo_PNG_SVG_AI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0" y="50800"/>
            <a:ext cx="406400" cy="406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698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缺陷与风险分析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62000" y="1181100"/>
            <a:ext cx="635000" cy="38100"/>
          </a:xfrm>
          <a:prstGeom prst="rect">
            <a:avLst/>
          </a:prstGeom>
          <a:solidFill>
            <a:srgbClr val="1B5E3B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5334000"/>
        </p:xfrm>
        <a:graphic>
          <a:graphicData uri="http://schemas.openxmlformats.org/drawingml/2006/table">
            <a:tbl>
              <a:tblPr/>
              <a:tblGrid>
                <a:gridCol w="1178560"/>
                <a:gridCol w="1473200"/>
                <a:gridCol w="4419600"/>
                <a:gridCol w="3683000"/>
                <a:gridCol w="397764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编号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等级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问题描述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影响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建议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D-01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严重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监管PDF导出接口返回500。PDFKit无法对msyh.ttc字体子集化，报this.font.createSubset is not a function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P1汇报导出不能生成PDF，影响监管验收和展示汇报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配置PDF_CJK_FONT_PATH指向PDFKit支持的.ttf/.otf中文字体；修复后回归导出流程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D-02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一般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用户管理权限口径不一致：需求清单描述supervisor可管理用户，当前实现和测试为admin专属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若未确认需求变更，会造成P1用户管理需求验收不通过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由产品/教师确认角色边界；若仍要求监管部门管理用户，应调整前后端权限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D-03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一般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后端全量测试在Windows上出现临时目录EBUSY/SQLite锁的环境性波动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影响自动化稳定性和验收复现效率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测试用例清理前等待子进程退出；隔离test.db或配置测试串行执行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D-04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64748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轻微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前端构建提示ScenicViewer相关chunk约5.43MB，超过Vite默认500kB警告阈值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不阻塞功能，但可能影响首次加载性能和课堂演示等待时间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对3DGS引擎做动态加载或manualChunks，演示前预热缓存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62000" y="7048500"/>
            <a:ext cx="14732000" cy="762000"/>
          </a:xfrm>
          <a:prstGeom prst="rect">
            <a:avLst/>
          </a:prstGeom>
          <a:solidFill>
            <a:srgbClr val="B45309">
              <a:alpha val="6275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016000" y="7137400"/>
            <a:ext cx="14224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最高优先级：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D-01 PDF导出缺陷直接影响监管汇报功能，建议生产小组优先修复并回归验证。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986000" y="8763000"/>
            <a:ext cx="825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项目概述与测试设计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软件工程方法应用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测试执行与结果分析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AI协作与测试结论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589000" y="469900"/>
            <a:ext cx="1270000" cy="381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https://kimi-img.moonshot.cn/pub/slides/okc/pg44zfdijemcc/mnt/agents/output/sightcloud-qa-test/images/1__Logo_PNG_SVG_AI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0" y="50800"/>
            <a:ext cx="406400" cy="406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698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与AI协作及测试结论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62000" y="1181100"/>
            <a:ext cx="635000" cy="381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1" name="Text 8"/>
          <p:cNvSpPr/>
          <p:nvPr/>
        </p:nvSpPr>
        <p:spPr>
          <a:xfrm>
            <a:off x="762000" y="146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与AI合作完成的内容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7112000" cy="3048000"/>
        </p:xfrm>
        <a:graphic>
          <a:graphicData uri="http://schemas.openxmlformats.org/drawingml/2006/table">
            <a:tbl>
              <a:tblPr/>
              <a:tblGrid>
                <a:gridCol w="1991360"/>
                <a:gridCol w="2987040"/>
                <a:gridCol w="21336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AI协作项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产出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人工复核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测试流程设计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形成七步验收流程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QA确认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测试范围提取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从MVP和代码提取角色模块接口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QA核对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自动化执行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运行typecheck/test/build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保留输出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缺陷描述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生成缺陷编号等级影响建议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QA确认严重度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报告排版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生成封面目录正文表格结论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QA检查格式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8382000" y="146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测试结论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382000" y="18415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36000" y="19685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验收结论：有条件通过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636000" y="25400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工程基础具备继续验收条件：</a:t>
            </a:r>
            <a:endParaRPr lang="en-US" sz="1400" dirty="0"/>
          </a:p>
          <a:p>
            <a:pPr algn="l" marL="222250" indent="-2222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22250" indent="-2222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前后端类型检查和构建均通过</a:t>
            </a:r>
            <a:endParaRPr lang="en-US" sz="1400" dirty="0"/>
          </a:p>
          <a:p>
            <a:pPr algn="l" marL="222250" indent="-2222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22250" indent="-2222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前端自动化测试 11/11 通过</a:t>
            </a:r>
            <a:endParaRPr lang="en-US" sz="1400" dirty="0"/>
          </a:p>
          <a:p>
            <a:pPr algn="l" marL="222250" indent="-2222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22250" indent="-2222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后端核心用例多数通过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需修复PDF导出、确认权限口径、完成浏览器人工验收。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62000" y="520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修复建议与后续计划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88000"/>
          <a:ext cx="14732000" cy="2413000"/>
        </p:xfrm>
        <a:graphic>
          <a:graphicData uri="http://schemas.openxmlformats.org/drawingml/2006/table">
            <a:tbl>
              <a:tblPr/>
              <a:tblGrid>
                <a:gridCol w="2946400"/>
                <a:gridCol w="7366000"/>
                <a:gridCol w="44196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优先级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事项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预期结果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P0-最高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修复D-01 PDF导出缺陷，配置正确字体路径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PDF导出回归通过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P1-高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确认D-02用户管理权限口径（supervisor vs admin）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需求与实现一致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P1-高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按附录用例完成真实浏览器端到端验收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三维场景人工验证通过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P2-中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优化前端3D chunk加载性能（动态加载/manualChunks）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构建无警告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5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>
                        <a:alpha val="3137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" name="Text 1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94000"/>
            <a:ext cx="1625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谢谢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858000" y="4064000"/>
            <a:ext cx="2540000" cy="25400"/>
          </a:xfrm>
          <a:prstGeom prst="rect">
            <a:avLst/>
          </a:prstGeom>
          <a:solidFill>
            <a:srgbClr val="FFFFFF">
              <a:alpha val="37647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381500"/>
            <a:ext cx="162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 验收测试小组 | 杜承敖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武汉大学计算机学院 | 软件工程课程设计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年 7 月 3 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096000"/>
            <a:ext cx="162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测试结论：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有条件通过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，建议修复后进入最终验收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SightCloud 评审测试报告</dc:title>
  <dc:subject>SightCloud 评审测试报告</dc:subject>
  <dc:creator>Kimi</dc:creator>
  <cp:lastModifiedBy>Kimi</cp:lastModifiedBy>
  <cp:revision>1</cp:revision>
  <dcterms:created xsi:type="dcterms:W3CDTF">2026-07-02T21:15:26Z</dcterms:created>
  <dcterms:modified xsi:type="dcterms:W3CDTF">2026-07-02T21:15:26Z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{"Label":"SightCloud 评审测试报告","ContentProducer":"001191110108MACG2KBH8F10000","ProduceID":"19f24a9d-efb2-8283-8000-000088d4abae","ReservedCode1":"","ContentPropagator":"001191110108MACG2KBH8F20000","PropagateID":"19f24a86-9262-810a-8000-0978f3feb520","ReservedCode2":""}</vt:lpwstr>
  </property>
</Properties>
</file>