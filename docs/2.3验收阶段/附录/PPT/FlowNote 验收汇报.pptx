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6256000" cy="9144000"/>
  <p:notesSz cx="9144000" cy="16256000"/>
  <p:custDataLst>
    <p:tags r:id="rId3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7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14499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213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13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27449562"/>
            <a:ext cx="5283200" cy="14499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3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image" Target="../media/image1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.png"/><Relationship Id="rId20" Type="http://schemas.openxmlformats.org/officeDocument/2006/relationships/tags" Target="../tags/tag54.xml"/><Relationship Id="rId2" Type="http://schemas.openxmlformats.org/officeDocument/2006/relationships/tags" Target="../tags/tag36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9" Type="http://schemas.openxmlformats.org/officeDocument/2006/relationships/notesSlide" Target="../notesSlides/notesSlide15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.png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53600" y="0"/>
            <a:ext cx="6502400" cy="9144000"/>
          </a:xfrm>
          <a:prstGeom prst="rect">
            <a:avLst/>
          </a:prstGeom>
          <a:solidFill>
            <a:srgbClr val="115740"/>
          </a:solidFill>
        </p:spPr>
      </p:sp>
      <p:pic>
        <p:nvPicPr>
          <p:cNvPr id="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10642600" y="2286000"/>
            <a:ext cx="4724400" cy="4724400"/>
          </a:xfrm>
          <a:prstGeom prst="rect">
            <a:avLst/>
          </a:prstGeom>
        </p:spPr>
      </p:pic>
      <p:pic>
        <p:nvPicPr>
          <p:cNvPr id="4" name="Image 1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000" y="635000"/>
            <a:ext cx="609600" cy="60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51000" y="698500"/>
            <a:ext cx="508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武汉大学计算机学院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89000" y="2197100"/>
            <a:ext cx="838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FlowNote</a:t>
            </a:r>
            <a:endParaRPr lang="en-US" sz="4400" dirty="0"/>
          </a:p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知识-任务闭环协作平台</a:t>
            </a:r>
            <a:endParaRPr lang="en-US" sz="4400" dirty="0"/>
          </a:p>
        </p:txBody>
      </p:sp>
      <p:sp>
        <p:nvSpPr>
          <p:cNvPr id="7" name="Shape 3"/>
          <p:cNvSpPr/>
          <p:nvPr/>
        </p:nvSpPr>
        <p:spPr>
          <a:xfrm>
            <a:off x="889000" y="3975100"/>
            <a:ext cx="1524000" cy="508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8" name="Text 4"/>
          <p:cNvSpPr/>
          <p:nvPr/>
        </p:nvSpPr>
        <p:spPr>
          <a:xfrm>
            <a:off x="889000" y="4292600"/>
            <a:ext cx="838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软件工程课程设计项目展示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本科生课程设计报告汇报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89000" y="5403850"/>
            <a:ext cx="838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团队名称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：FlowNote · 流知项目组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指导教师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：伍春香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团队成员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：全坤、肖昌珅、金奕辰、杜承敖</a:t>
            </a:r>
            <a:endParaRPr lang="en-US" sz="1600" dirty="0">
              <a:solidFill>
                <a:srgbClr val="1A1A1A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汇报人：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肖昌珅、金奕辰</a:t>
            </a:r>
            <a:endParaRPr lang="zh-CN" altLang="en-US" sz="1600" dirty="0"/>
          </a:p>
          <a:p>
            <a:pPr algn="l">
              <a:lnSpc>
                <a:spcPct val="180000"/>
              </a:lnSpc>
            </a:pPr>
            <a:r>
              <a:rPr lang="en-US" sz="16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制作人：</a:t>
            </a: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杜承敖</a:t>
            </a:r>
            <a:endParaRPr lang="en-US" sz="1600" dirty="0">
              <a:solidFill>
                <a:srgbClr val="1A1A1A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89000" y="77470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2026年7月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642600" y="7366000"/>
            <a:ext cx="47244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kern="0" spc="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WHU · SOFTWARE ENGINEERING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762000" y="2286000"/>
            <a:ext cx="355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kern="0" spc="600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3048000"/>
            <a:ext cx="254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汇报提纲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4826000" y="12700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715000" y="12700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领域背景与存在的问题</a:t>
            </a:r>
            <a:endParaRPr lang="en-US" sz="2400" dirty="0"/>
          </a:p>
        </p:txBody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4826000" y="1841500"/>
            <a:ext cx="5207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4826000" y="22225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5715000" y="2222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用户需求与系统目标</a:t>
            </a:r>
            <a:endParaRPr lang="en-US" sz="2400" dirty="0"/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826000" y="2794000"/>
            <a:ext cx="5207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4826000" y="31750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5715000" y="31750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软件工程方法的运用</a:t>
            </a:r>
            <a:endParaRPr lang="en-US" sz="24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826000" y="3746500"/>
            <a:ext cx="5207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826000" y="41275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5715000" y="4127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系统特色与创新亮点</a:t>
            </a:r>
            <a:endParaRPr lang="en-US" sz="2400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826000" y="4699000"/>
            <a:ext cx="5207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826000" y="50800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800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5715000" y="50800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AI协作与实践挑战</a:t>
            </a:r>
            <a:endParaRPr lang="en-US" sz="2400" dirty="0"/>
          </a:p>
        </p:txBody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4826000" y="5651500"/>
            <a:ext cx="5207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4826000" y="60325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800" dirty="0"/>
          </a:p>
        </p:txBody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5715000" y="6032500"/>
            <a:ext cx="4318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系统演示与总结</a:t>
            </a:r>
            <a:endParaRPr lang="en-US" sz="2400" dirty="0"/>
          </a:p>
        </p:txBody>
      </p:sp>
      <p:sp>
        <p:nvSpPr>
          <p:cNvPr id="23" name="Shape 21"/>
          <p:cNvSpPr/>
          <p:nvPr>
            <p:custDataLst>
              <p:tags r:id="rId18"/>
            </p:custDataLst>
          </p:nvPr>
        </p:nvSpPr>
        <p:spPr>
          <a:xfrm>
            <a:off x="4826000" y="6604000"/>
            <a:ext cx="5207000" cy="12700"/>
          </a:xfrm>
          <a:prstGeom prst="rect">
            <a:avLst/>
          </a:prstGeom>
          <a:solidFill>
            <a:srgbClr val="D0D0D0"/>
          </a:solidFill>
        </p:spPr>
      </p:sp>
      <p:pic>
        <p:nvPicPr>
          <p:cNvPr id="24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>
            <a:off x="14986000" y="812800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5" name="Text 3"/>
          <p:cNvSpPr/>
          <p:nvPr/>
        </p:nvSpPr>
        <p:spPr>
          <a:xfrm>
            <a:off x="1016000" y="4572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领域背景与存在的问题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6000" y="53340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从碎片化信息到知识-任务闭环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7874000"/>
            <a:ext cx="14224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pic>
        <p:nvPicPr>
          <p:cNvPr id="8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4732000" y="50800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02 用户需求与系统目标  |  03 软件工程方法的运用  |  04 系统特色与创新亮点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领域背景：信息管理的断点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524000"/>
            <a:ext cx="8382000" cy="457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在高校课程学习、软件项目实践和个人知识管理场景中，用户同时面对：</a:t>
            </a:r>
            <a:endParaRPr lang="en-US" sz="20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资料摘录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临时想法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会议记录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、</a:t>
            </a: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待办任务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和</a:t>
            </a: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阶段性成果</a:t>
            </a:r>
            <a:endParaRPr lang="en-US" sz="20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传统工具以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单一对象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为中心：</a:t>
            </a:r>
            <a:endParaRPr lang="en-US" sz="2000" dirty="0"/>
          </a:p>
          <a:p>
            <a:pPr marL="254000" indent="-25400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便签工具强调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快速记录</a:t>
            </a:r>
            <a:endParaRPr lang="en-US" sz="2000" dirty="0"/>
          </a:p>
          <a:p>
            <a:pPr marL="254000" indent="-25400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文档工具强调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长期沉淀</a:t>
            </a:r>
            <a:endParaRPr lang="en-US" sz="2000" dirty="0"/>
          </a:p>
          <a:p>
            <a:pPr marL="254000" indent="-25400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任务工具强调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执行推进</a:t>
            </a:r>
            <a:endParaRPr lang="en-US" sz="2000" dirty="0"/>
          </a:p>
          <a:p>
            <a:pPr algn="l">
              <a:lnSpc>
                <a:spcPct val="17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它们分别解决了信息生命周期中的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一段问题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，却较少支持从"记录"到"理解"再到"行动"的</a:t>
            </a: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连续转换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52000" y="1524000"/>
            <a:ext cx="5715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0" y="1714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对学生团队的影响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69500" y="2222500"/>
            <a:ext cx="5080000" cy="361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需求讨论的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碎片记录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如果不能及时整理成知识页面，就会在后续设计和实现阶段被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遗忘</a:t>
            </a:r>
            <a:endParaRPr lang="en-US" sz="20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知识页面中的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结论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如果不能转换为任务，就难以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落实到开发行动</a:t>
            </a:r>
            <a:endParaRPr lang="en-US" sz="20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任务完成后的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经验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如果不能回流到知识库，团队也难以形成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可复用资产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89000" y="6477000"/>
            <a:ext cx="50800" cy="1016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Shape 9"/>
          <p:cNvSpPr/>
          <p:nvPr/>
        </p:nvSpPr>
        <p:spPr>
          <a:xfrm>
            <a:off x="939800" y="6477000"/>
            <a:ext cx="14427200" cy="1016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12" name="Text 10"/>
          <p:cNvSpPr/>
          <p:nvPr/>
        </p:nvSpPr>
        <p:spPr>
          <a:xfrm>
            <a:off x="1193800" y="6604000"/>
            <a:ext cx="139192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核心洞察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：FlowNote 将"知识-任务闭环"作为选题核心，而不是单纯实现一个笔记系统。目标是打通从</a:t>
            </a: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记录 → 沉淀 → 执行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的完整链路。</a:t>
            </a:r>
            <a:endParaRPr lang="en-US" sz="2000" dirty="0"/>
          </a:p>
        </p:txBody>
      </p:sp>
      <p:pic>
        <p:nvPicPr>
          <p:cNvPr id="1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02 用户需求与系统目标  |  03 软件工程方法的运用  |  04 系统特色与创新亮点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四大核心问题与 FlowNote 的解决思路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889000" y="1524000"/>
            <a:ext cx="70485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079500" y="16256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778000" y="1651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碎片信息整理成本高</a:t>
            </a:r>
            <a:endParaRPr lang="en-US" sz="24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79500" y="20955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碎片化信息捕获成本低，但后续整理成本高，用户常常在记录之后失去上下文</a:t>
            </a:r>
            <a:endParaRPr lang="en-US" sz="20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8318500" y="1524000"/>
            <a:ext cx="70485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8509000" y="16256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9207500" y="1651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笔记与任务工具割裂</a:t>
            </a:r>
            <a:endParaRPr lang="en-US" sz="24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8509000" y="20955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笔记与任务工具割裂，信息虽然被保存，却没有自然转化为可执行行动</a:t>
            </a:r>
            <a:endParaRPr lang="en-US" sz="20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889000" y="3429000"/>
            <a:ext cx="70485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1079500" y="35306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1778000" y="3556000"/>
            <a:ext cx="4445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团队协作资料分散</a:t>
            </a:r>
            <a:endParaRPr lang="en-US" sz="24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1079500" y="40005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团队协作中需求、设计、接口、任务和测试资料分散在不同位置，缺少围绕同一对象的追踪关系</a:t>
            </a:r>
            <a:endParaRPr lang="en-US" sz="20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8318500" y="3429000"/>
            <a:ext cx="70485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8509000" y="35306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207500" y="3556000"/>
            <a:ext cx="4445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课程实践范围失控风险</a:t>
            </a:r>
            <a:endParaRPr lang="en-US" sz="24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8509000" y="4000500"/>
            <a:ext cx="66675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课程实践时间有限，如果一开始追求大而全的知识管理平台，容易导致核心流程不稳定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9000" y="5461000"/>
            <a:ext cx="14478000" cy="2667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23" name="Text 21"/>
          <p:cNvSpPr/>
          <p:nvPr/>
        </p:nvSpPr>
        <p:spPr>
          <a:xfrm>
            <a:off x="1206500" y="56515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FlowNote 的解决思路：MVP 最小闭环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206500" y="6286500"/>
            <a:ext cx="2540000" cy="635000"/>
          </a:xfrm>
          <a:prstGeom prst="homePlate">
            <a:avLst>
              <a:gd name="adj" fmla="val 25000"/>
            </a:avLst>
          </a:prstGeom>
          <a:solidFill>
            <a:srgbClr val="115740"/>
          </a:solidFill>
        </p:spPr>
      </p:sp>
      <p:sp>
        <p:nvSpPr>
          <p:cNvPr id="25" name="Text 23"/>
          <p:cNvSpPr/>
          <p:nvPr/>
        </p:nvSpPr>
        <p:spPr>
          <a:xfrm>
            <a:off x="1206500" y="6286500"/>
            <a:ext cx="228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便签捕获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3873500" y="6565900"/>
            <a:ext cx="5080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508500" y="6286500"/>
            <a:ext cx="3302000" cy="635000"/>
          </a:xfrm>
          <a:prstGeom prst="homePlate">
            <a:avLst>
              <a:gd name="adj" fmla="val 25000"/>
            </a:avLst>
          </a:prstGeom>
          <a:solidFill>
            <a:srgbClr val="002554"/>
          </a:solidFill>
        </p:spPr>
      </p:sp>
      <p:sp>
        <p:nvSpPr>
          <p:cNvPr id="28" name="Text 26"/>
          <p:cNvSpPr/>
          <p:nvPr/>
        </p:nvSpPr>
        <p:spPr>
          <a:xfrm>
            <a:off x="4508500" y="6286500"/>
            <a:ext cx="292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知识页面结构化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937500" y="6565900"/>
            <a:ext cx="508000" cy="0"/>
          </a:xfrm>
          <a:prstGeom prst="straightConnector1">
            <a:avLst/>
          </a:prstGeom>
          <a:noFill/>
          <a:ln w="25400">
            <a:solidFill>
              <a:srgbClr val="002554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572500" y="6286500"/>
            <a:ext cx="3302000" cy="635000"/>
          </a:xfrm>
          <a:prstGeom prst="homePlate">
            <a:avLst>
              <a:gd name="adj" fmla="val 25000"/>
            </a:avLst>
          </a:prstGeom>
          <a:solidFill>
            <a:srgbClr val="115740"/>
          </a:solidFill>
        </p:spPr>
      </p:sp>
      <p:sp>
        <p:nvSpPr>
          <p:cNvPr id="31" name="Text 29"/>
          <p:cNvSpPr/>
          <p:nvPr/>
        </p:nvSpPr>
        <p:spPr>
          <a:xfrm>
            <a:off x="8572500" y="6286500"/>
            <a:ext cx="2921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任务看板执行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206500" y="7175500"/>
            <a:ext cx="13843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该闭环覆盖</a:t>
            </a: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"记录、沉淀、执行"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三个关键环节，使系统能够在有限开发周期内形成</a:t>
            </a: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可演示、可测试、可反馈</a:t>
            </a: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的用户价值</a:t>
            </a:r>
            <a:endParaRPr lang="en-US" sz="2000" dirty="0"/>
          </a:p>
        </p:txBody>
      </p:sp>
      <p:pic>
        <p:nvPicPr>
          <p:cNvPr id="3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7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5" name="Text 3"/>
          <p:cNvSpPr/>
          <p:nvPr/>
        </p:nvSpPr>
        <p:spPr>
          <a:xfrm>
            <a:off x="1016000" y="4572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用户需求与系统目标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6000" y="53340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面向学生项目团队与小型协作场景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7874000"/>
            <a:ext cx="14224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pic>
        <p:nvPicPr>
          <p:cNvPr id="8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4732000" y="50800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用户需求与系统目标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03 软件工程方法的运用  |  04 系统特色与创新亮点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目标用户与需求分析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460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目标用户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9000" y="1905000"/>
            <a:ext cx="6858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学生项目团队、软件工程课程实践小组</a:t>
            </a:r>
            <a:endParaRPr lang="en-US" dirty="0"/>
          </a:p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需要管理学习笔记和开发任务的个人用户</a:t>
            </a:r>
            <a:endParaRPr lang="en-US" dirty="0"/>
          </a:p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需要从想法沉淀到任务执行的小型协作团队</a:t>
            </a:r>
            <a:endParaRPr lang="en-US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共同特征：信息产生频繁，任务推进周期短，工具切换成本敏感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9000" y="374015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核心需求与功能映射（P0/P1/P2 优先级）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889000" y="4248150"/>
          <a:ext cx="14478000" cy="4064000"/>
        </p:xfrm>
        <a:graphic>
          <a:graphicData uri="http://schemas.openxmlformats.org/drawingml/2006/table">
            <a:tbl>
              <a:tblPr/>
              <a:tblGrid>
                <a:gridCol w="4053840"/>
                <a:gridCol w="6080760"/>
                <a:gridCol w="43434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优先级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需求项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对应功能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 核心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账号注册登录与个人数据隔离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JWT 认证 + userId 数据隔离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 核心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便签 CRUD 与时间线展示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便签模块 + 列表/创建/详情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 核心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知识页面 CRUD 与 Markdown 编辑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知识页模块 + CodeMirror 编辑器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 核心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便签转知识页 / 便签转任务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转换接口 + 来源标记保留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P0 核心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三列任务看板（TODO/IN_PROGRESS/DONE）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任务模块 + 看板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980B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P1 增强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标签管理、全局搜索、文件夹树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标签/搜索/文件夹模块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7F8C8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P2 后置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知识图谱、番茄钟、记忆卡片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后续版本迭代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986000" y="875665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用户需求与系统目标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03 软件工程方法的运用  |  04 系统特色与创新亮点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系统目标：可运行、可闭环、可验证、可演进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889000" y="1524000"/>
            <a:ext cx="3365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889000" y="1524000"/>
            <a:ext cx="3365500" cy="635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1143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3073" y="32951"/>
                </a:moveTo>
                <a:cubicBezTo>
                  <a:pt x="80418" y="26878"/>
                  <a:pt x="65110" y="27146"/>
                  <a:pt x="52660" y="33576"/>
                </a:cubicBezTo>
                <a:cubicBezTo>
                  <a:pt x="40209" y="40005"/>
                  <a:pt x="32657" y="51703"/>
                  <a:pt x="32657" y="64294"/>
                </a:cubicBezTo>
                <a:lnTo>
                  <a:pt x="32657" y="392906"/>
                </a:lnTo>
                <a:cubicBezTo>
                  <a:pt x="32657" y="405497"/>
                  <a:pt x="40311" y="417195"/>
                  <a:pt x="52660" y="423624"/>
                </a:cubicBezTo>
                <a:cubicBezTo>
                  <a:pt x="65008" y="430054"/>
                  <a:pt x="80418" y="430322"/>
                  <a:pt x="93073" y="424249"/>
                </a:cubicBezTo>
                <a:lnTo>
                  <a:pt x="435973" y="259943"/>
                </a:lnTo>
                <a:cubicBezTo>
                  <a:pt x="449036" y="253692"/>
                  <a:pt x="457200" y="241637"/>
                  <a:pt x="457200" y="228600"/>
                </a:cubicBezTo>
                <a:cubicBezTo>
                  <a:pt x="457200" y="215563"/>
                  <a:pt x="449036" y="203508"/>
                  <a:pt x="435973" y="197257"/>
                </a:cubicBezTo>
                <a:lnTo>
                  <a:pt x="93073" y="32951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143000" y="2476500"/>
            <a:ext cx="2857500" cy="406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可运行</a:t>
            </a:r>
            <a:endParaRPr lang="en-US" sz="22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1143000" y="2984500"/>
            <a:ext cx="28575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他人能够根据 README 和 Docker Compose 一键启动后端、前端和数据库</a:t>
            </a:r>
            <a:endParaRPr lang="en-US" dirty="0"/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4508500" y="1524000"/>
            <a:ext cx="3365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508500" y="1524000"/>
            <a:ext cx="3365500" cy="63500"/>
          </a:xfrm>
          <a:prstGeom prst="rect">
            <a:avLst/>
          </a:prstGeom>
          <a:solidFill>
            <a:srgbClr val="002554"/>
          </a:solidFill>
        </p:spPr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4762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002554"/>
          </a:solidFill>
        </p:spPr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4762500" y="2476500"/>
            <a:ext cx="2857500" cy="406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可闭环</a:t>
            </a:r>
            <a:endParaRPr lang="en-US" sz="22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762500" y="2984500"/>
            <a:ext cx="28575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用户能完成注册登录 → 创建便签 → 转知识页 → 转任务 → 推进任务状态的完整流程</a:t>
            </a:r>
            <a:endParaRPr lang="en-US" dirty="0"/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8128000" y="1524000"/>
            <a:ext cx="3365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8128000" y="1524000"/>
            <a:ext cx="3365500" cy="635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8382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537" y="59650"/>
                </a:moveTo>
                <a:cubicBezTo>
                  <a:pt x="309920" y="46881"/>
                  <a:pt x="306110" y="29021"/>
                  <a:pt x="289084" y="19735"/>
                </a:cubicBezTo>
                <a:cubicBezTo>
                  <a:pt x="272058" y="10448"/>
                  <a:pt x="248245" y="13305"/>
                  <a:pt x="235863" y="26075"/>
                </a:cubicBezTo>
                <a:lnTo>
                  <a:pt x="109657" y="156180"/>
                </a:lnTo>
                <a:lnTo>
                  <a:pt x="65008" y="122694"/>
                </a:lnTo>
                <a:cubicBezTo>
                  <a:pt x="50125" y="111532"/>
                  <a:pt x="25956" y="111532"/>
                  <a:pt x="11073" y="122694"/>
                </a:cubicBezTo>
                <a:cubicBezTo>
                  <a:pt x="-3810" y="133856"/>
                  <a:pt x="-3810" y="151983"/>
                  <a:pt x="11073" y="163145"/>
                </a:cubicBezTo>
                <a:lnTo>
                  <a:pt x="87273" y="220295"/>
                </a:lnTo>
                <a:cubicBezTo>
                  <a:pt x="95131" y="226189"/>
                  <a:pt x="106085" y="229225"/>
                  <a:pt x="117158" y="228600"/>
                </a:cubicBezTo>
                <a:cubicBezTo>
                  <a:pt x="128230" y="227975"/>
                  <a:pt x="138470" y="223689"/>
                  <a:pt x="145018" y="216902"/>
                </a:cubicBezTo>
                <a:lnTo>
                  <a:pt x="297418" y="59740"/>
                </a:lnTo>
                <a:close/>
                <a:moveTo>
                  <a:pt x="449937" y="181094"/>
                </a:moveTo>
                <a:cubicBezTo>
                  <a:pt x="462320" y="168325"/>
                  <a:pt x="458510" y="150465"/>
                  <a:pt x="441484" y="141178"/>
                </a:cubicBezTo>
                <a:cubicBezTo>
                  <a:pt x="424458" y="131891"/>
                  <a:pt x="400645" y="134749"/>
                  <a:pt x="388263" y="147518"/>
                </a:cubicBezTo>
                <a:lnTo>
                  <a:pt x="185857" y="356205"/>
                </a:lnTo>
                <a:lnTo>
                  <a:pt x="103108" y="294144"/>
                </a:lnTo>
                <a:cubicBezTo>
                  <a:pt x="88225" y="282982"/>
                  <a:pt x="64056" y="282982"/>
                  <a:pt x="49173" y="294144"/>
                </a:cubicBezTo>
                <a:cubicBezTo>
                  <a:pt x="34290" y="305306"/>
                  <a:pt x="34290" y="323433"/>
                  <a:pt x="49173" y="334595"/>
                </a:cubicBezTo>
                <a:lnTo>
                  <a:pt x="163473" y="420320"/>
                </a:lnTo>
                <a:cubicBezTo>
                  <a:pt x="171331" y="426214"/>
                  <a:pt x="182285" y="429250"/>
                  <a:pt x="193357" y="428625"/>
                </a:cubicBezTo>
                <a:cubicBezTo>
                  <a:pt x="204430" y="428000"/>
                  <a:pt x="214670" y="423714"/>
                  <a:pt x="221218" y="416927"/>
                </a:cubicBezTo>
                <a:lnTo>
                  <a:pt x="449818" y="181183"/>
                </a:lnTo>
                <a:close/>
              </a:path>
            </a:pathLst>
          </a:custGeom>
          <a:solidFill>
            <a:srgbClr val="C9A96E"/>
          </a:solidFill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8382000" y="2476500"/>
            <a:ext cx="2857500" cy="406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可验证</a:t>
            </a:r>
            <a:endParaRPr lang="en-US" sz="22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8382000" y="2984500"/>
            <a:ext cx="28575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 API、校验器、中间件具备自动化测试</a:t>
            </a:r>
            <a:endParaRPr lang="en-US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b="1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167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个用例通过</a:t>
            </a:r>
            <a:endParaRPr lang="en-US" dirty="0"/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个测试文件</a:t>
            </a:r>
            <a:endParaRPr lang="en-US" dirty="0"/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11747500" y="1524000"/>
            <a:ext cx="33655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11747500" y="1524000"/>
            <a:ext cx="3365500" cy="635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3" name="Shape 21"/>
          <p:cNvSpPr/>
          <p:nvPr>
            <p:custDataLst>
              <p:tags r:id="rId18"/>
            </p:custDataLst>
          </p:nvPr>
        </p:nvSpPr>
        <p:spPr>
          <a:xfrm>
            <a:off x="12001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85725" y="28575"/>
                </a:moveTo>
                <a:cubicBezTo>
                  <a:pt x="69919" y="28575"/>
                  <a:pt x="57150" y="41344"/>
                  <a:pt x="57150" y="57150"/>
                </a:cubicBezTo>
                <a:cubicBezTo>
                  <a:pt x="57150" y="72956"/>
                  <a:pt x="69919" y="85725"/>
                  <a:pt x="85725" y="85725"/>
                </a:cubicBezTo>
                <a:lnTo>
                  <a:pt x="102424" y="85725"/>
                </a:lnTo>
                <a:lnTo>
                  <a:pt x="8394" y="179844"/>
                </a:lnTo>
                <a:cubicBezTo>
                  <a:pt x="-2768" y="191006"/>
                  <a:pt x="-2768" y="209133"/>
                  <a:pt x="8394" y="220295"/>
                </a:cubicBezTo>
                <a:cubicBezTo>
                  <a:pt x="19556" y="231458"/>
                  <a:pt x="37683" y="231458"/>
                  <a:pt x="48845" y="220295"/>
                </a:cubicBezTo>
                <a:lnTo>
                  <a:pt x="142875" y="126176"/>
                </a:lnTo>
                <a:lnTo>
                  <a:pt x="142875" y="142875"/>
                </a:lnTo>
                <a:cubicBezTo>
                  <a:pt x="142875" y="158681"/>
                  <a:pt x="155644" y="171450"/>
                  <a:pt x="171450" y="171450"/>
                </a:cubicBezTo>
                <a:cubicBezTo>
                  <a:pt x="187256" y="171450"/>
                  <a:pt x="200025" y="158681"/>
                  <a:pt x="200025" y="142875"/>
                </a:cubicBezTo>
                <a:lnTo>
                  <a:pt x="200025" y="57150"/>
                </a:lnTo>
                <a:cubicBezTo>
                  <a:pt x="200025" y="41344"/>
                  <a:pt x="187256" y="28575"/>
                  <a:pt x="171450" y="28575"/>
                </a:cubicBezTo>
                <a:lnTo>
                  <a:pt x="85725" y="28575"/>
                </a:lnTo>
                <a:close/>
                <a:moveTo>
                  <a:pt x="360581" y="62597"/>
                </a:moveTo>
                <a:cubicBezTo>
                  <a:pt x="360581" y="74752"/>
                  <a:pt x="367065" y="85984"/>
                  <a:pt x="377592" y="92061"/>
                </a:cubicBezTo>
                <a:cubicBezTo>
                  <a:pt x="388118" y="98139"/>
                  <a:pt x="401087" y="98139"/>
                  <a:pt x="411614" y="92061"/>
                </a:cubicBezTo>
                <a:cubicBezTo>
                  <a:pt x="422140" y="85984"/>
                  <a:pt x="428625" y="74752"/>
                  <a:pt x="428625" y="62597"/>
                </a:cubicBezTo>
                <a:cubicBezTo>
                  <a:pt x="428625" y="50442"/>
                  <a:pt x="422140" y="39211"/>
                  <a:pt x="411614" y="33133"/>
                </a:cubicBezTo>
                <a:cubicBezTo>
                  <a:pt x="401087" y="27056"/>
                  <a:pt x="388118" y="27056"/>
                  <a:pt x="377592" y="33133"/>
                </a:cubicBezTo>
                <a:cubicBezTo>
                  <a:pt x="367065" y="39211"/>
                  <a:pt x="360581" y="50442"/>
                  <a:pt x="360581" y="62597"/>
                </a:cubicBezTo>
                <a:close/>
                <a:moveTo>
                  <a:pt x="249763" y="173415"/>
                </a:moveTo>
                <a:cubicBezTo>
                  <a:pt x="249763" y="185569"/>
                  <a:pt x="256248" y="196801"/>
                  <a:pt x="266774" y="202879"/>
                </a:cubicBezTo>
                <a:cubicBezTo>
                  <a:pt x="277301" y="208956"/>
                  <a:pt x="290270" y="208956"/>
                  <a:pt x="300797" y="202879"/>
                </a:cubicBezTo>
                <a:cubicBezTo>
                  <a:pt x="311323" y="196801"/>
                  <a:pt x="317808" y="185569"/>
                  <a:pt x="317808" y="173415"/>
                </a:cubicBezTo>
                <a:cubicBezTo>
                  <a:pt x="317808" y="161260"/>
                  <a:pt x="311323" y="150028"/>
                  <a:pt x="300797" y="143951"/>
                </a:cubicBezTo>
                <a:cubicBezTo>
                  <a:pt x="290270" y="137873"/>
                  <a:pt x="277301" y="137873"/>
                  <a:pt x="266774" y="143951"/>
                </a:cubicBezTo>
                <a:cubicBezTo>
                  <a:pt x="256248" y="150028"/>
                  <a:pt x="249763" y="161260"/>
                  <a:pt x="249763" y="173415"/>
                </a:cubicBezTo>
                <a:close/>
                <a:moveTo>
                  <a:pt x="394603" y="139392"/>
                </a:moveTo>
                <a:cubicBezTo>
                  <a:pt x="375826" y="139392"/>
                  <a:pt x="360581" y="154637"/>
                  <a:pt x="360581" y="173415"/>
                </a:cubicBezTo>
                <a:cubicBezTo>
                  <a:pt x="360581" y="192192"/>
                  <a:pt x="375826" y="207437"/>
                  <a:pt x="394603" y="207437"/>
                </a:cubicBezTo>
                <a:cubicBezTo>
                  <a:pt x="406758" y="207437"/>
                  <a:pt x="417989" y="200952"/>
                  <a:pt x="424067" y="190426"/>
                </a:cubicBezTo>
                <a:cubicBezTo>
                  <a:pt x="430144" y="179899"/>
                  <a:pt x="430144" y="166930"/>
                  <a:pt x="424067" y="156403"/>
                </a:cubicBezTo>
                <a:cubicBezTo>
                  <a:pt x="417989" y="145877"/>
                  <a:pt x="406758" y="139392"/>
                  <a:pt x="394603" y="139392"/>
                </a:cubicBezTo>
                <a:close/>
                <a:moveTo>
                  <a:pt x="139482" y="283785"/>
                </a:moveTo>
                <a:cubicBezTo>
                  <a:pt x="139482" y="295940"/>
                  <a:pt x="145966" y="307172"/>
                  <a:pt x="156493" y="313249"/>
                </a:cubicBezTo>
                <a:cubicBezTo>
                  <a:pt x="167019" y="319327"/>
                  <a:pt x="179988" y="319327"/>
                  <a:pt x="190515" y="313249"/>
                </a:cubicBezTo>
                <a:cubicBezTo>
                  <a:pt x="201041" y="307172"/>
                  <a:pt x="207526" y="295940"/>
                  <a:pt x="207526" y="283785"/>
                </a:cubicBezTo>
                <a:cubicBezTo>
                  <a:pt x="207526" y="271631"/>
                  <a:pt x="201041" y="260399"/>
                  <a:pt x="190515" y="254321"/>
                </a:cubicBezTo>
                <a:cubicBezTo>
                  <a:pt x="179988" y="248244"/>
                  <a:pt x="167019" y="248244"/>
                  <a:pt x="156493" y="254321"/>
                </a:cubicBezTo>
                <a:cubicBezTo>
                  <a:pt x="145966" y="260399"/>
                  <a:pt x="139482" y="271631"/>
                  <a:pt x="139482" y="283785"/>
                </a:cubicBezTo>
                <a:close/>
                <a:moveTo>
                  <a:pt x="283785" y="249763"/>
                </a:moveTo>
                <a:cubicBezTo>
                  <a:pt x="271631" y="249763"/>
                  <a:pt x="260399" y="256248"/>
                  <a:pt x="254321" y="266774"/>
                </a:cubicBezTo>
                <a:cubicBezTo>
                  <a:pt x="248244" y="277301"/>
                  <a:pt x="248244" y="290270"/>
                  <a:pt x="254321" y="300797"/>
                </a:cubicBezTo>
                <a:cubicBezTo>
                  <a:pt x="260399" y="311323"/>
                  <a:pt x="271631" y="317808"/>
                  <a:pt x="283785" y="317808"/>
                </a:cubicBezTo>
                <a:cubicBezTo>
                  <a:pt x="295940" y="317808"/>
                  <a:pt x="307172" y="311323"/>
                  <a:pt x="313249" y="300797"/>
                </a:cubicBezTo>
                <a:cubicBezTo>
                  <a:pt x="319327" y="290270"/>
                  <a:pt x="319327" y="277301"/>
                  <a:pt x="313249" y="266774"/>
                </a:cubicBezTo>
                <a:cubicBezTo>
                  <a:pt x="307172" y="256248"/>
                  <a:pt x="295940" y="249763"/>
                  <a:pt x="283785" y="249763"/>
                </a:cubicBezTo>
                <a:close/>
                <a:moveTo>
                  <a:pt x="360670" y="283785"/>
                </a:moveTo>
                <a:cubicBezTo>
                  <a:pt x="360670" y="295940"/>
                  <a:pt x="367155" y="307172"/>
                  <a:pt x="377681" y="313249"/>
                </a:cubicBezTo>
                <a:cubicBezTo>
                  <a:pt x="388208" y="319327"/>
                  <a:pt x="401177" y="319327"/>
                  <a:pt x="411703" y="313249"/>
                </a:cubicBezTo>
                <a:cubicBezTo>
                  <a:pt x="422230" y="307172"/>
                  <a:pt x="428714" y="295940"/>
                  <a:pt x="428714" y="283785"/>
                </a:cubicBezTo>
                <a:cubicBezTo>
                  <a:pt x="428714" y="265008"/>
                  <a:pt x="413470" y="249763"/>
                  <a:pt x="394692" y="249763"/>
                </a:cubicBezTo>
                <a:cubicBezTo>
                  <a:pt x="375915" y="249763"/>
                  <a:pt x="360670" y="265008"/>
                  <a:pt x="360670" y="283785"/>
                </a:cubicBezTo>
                <a:close/>
                <a:moveTo>
                  <a:pt x="62597" y="360581"/>
                </a:moveTo>
                <a:cubicBezTo>
                  <a:pt x="50442" y="360581"/>
                  <a:pt x="39211" y="367065"/>
                  <a:pt x="33133" y="377592"/>
                </a:cubicBezTo>
                <a:cubicBezTo>
                  <a:pt x="27056" y="388118"/>
                  <a:pt x="27056" y="401087"/>
                  <a:pt x="33133" y="411614"/>
                </a:cubicBezTo>
                <a:cubicBezTo>
                  <a:pt x="39211" y="422140"/>
                  <a:pt x="50442" y="428625"/>
                  <a:pt x="62597" y="428625"/>
                </a:cubicBezTo>
                <a:cubicBezTo>
                  <a:pt x="74752" y="428625"/>
                  <a:pt x="85984" y="422140"/>
                  <a:pt x="92061" y="411614"/>
                </a:cubicBezTo>
                <a:cubicBezTo>
                  <a:pt x="98139" y="401087"/>
                  <a:pt x="98139" y="388118"/>
                  <a:pt x="92061" y="377592"/>
                </a:cubicBezTo>
                <a:cubicBezTo>
                  <a:pt x="85984" y="367065"/>
                  <a:pt x="74752" y="360581"/>
                  <a:pt x="62597" y="360581"/>
                </a:cubicBezTo>
                <a:close/>
                <a:moveTo>
                  <a:pt x="139482" y="394603"/>
                </a:moveTo>
                <a:cubicBezTo>
                  <a:pt x="139482" y="406758"/>
                  <a:pt x="145966" y="417989"/>
                  <a:pt x="156493" y="424067"/>
                </a:cubicBezTo>
                <a:cubicBezTo>
                  <a:pt x="167019" y="430144"/>
                  <a:pt x="179988" y="430144"/>
                  <a:pt x="190515" y="424067"/>
                </a:cubicBezTo>
                <a:cubicBezTo>
                  <a:pt x="201041" y="417989"/>
                  <a:pt x="207526" y="406758"/>
                  <a:pt x="207526" y="394603"/>
                </a:cubicBezTo>
                <a:cubicBezTo>
                  <a:pt x="207526" y="382448"/>
                  <a:pt x="201041" y="371216"/>
                  <a:pt x="190515" y="365139"/>
                </a:cubicBezTo>
                <a:cubicBezTo>
                  <a:pt x="179988" y="359061"/>
                  <a:pt x="167019" y="359061"/>
                  <a:pt x="156493" y="365139"/>
                </a:cubicBezTo>
                <a:cubicBezTo>
                  <a:pt x="145966" y="371216"/>
                  <a:pt x="139482" y="382448"/>
                  <a:pt x="139482" y="394603"/>
                </a:cubicBezTo>
                <a:close/>
                <a:moveTo>
                  <a:pt x="283785" y="360581"/>
                </a:moveTo>
                <a:cubicBezTo>
                  <a:pt x="271631" y="360581"/>
                  <a:pt x="260399" y="367065"/>
                  <a:pt x="254321" y="377592"/>
                </a:cubicBezTo>
                <a:cubicBezTo>
                  <a:pt x="248244" y="388118"/>
                  <a:pt x="248244" y="401087"/>
                  <a:pt x="254321" y="411614"/>
                </a:cubicBezTo>
                <a:cubicBezTo>
                  <a:pt x="260399" y="422140"/>
                  <a:pt x="271631" y="428625"/>
                  <a:pt x="283785" y="428625"/>
                </a:cubicBezTo>
                <a:cubicBezTo>
                  <a:pt x="295940" y="428625"/>
                  <a:pt x="307172" y="422140"/>
                  <a:pt x="313249" y="411614"/>
                </a:cubicBezTo>
                <a:cubicBezTo>
                  <a:pt x="319327" y="401087"/>
                  <a:pt x="319327" y="388118"/>
                  <a:pt x="313249" y="377592"/>
                </a:cubicBezTo>
                <a:cubicBezTo>
                  <a:pt x="307172" y="367065"/>
                  <a:pt x="295940" y="360581"/>
                  <a:pt x="283785" y="360581"/>
                </a:cubicBezTo>
                <a:close/>
                <a:moveTo>
                  <a:pt x="360670" y="394603"/>
                </a:moveTo>
                <a:cubicBezTo>
                  <a:pt x="360670" y="406758"/>
                  <a:pt x="367155" y="417989"/>
                  <a:pt x="377681" y="424067"/>
                </a:cubicBezTo>
                <a:cubicBezTo>
                  <a:pt x="388208" y="430144"/>
                  <a:pt x="401177" y="430144"/>
                  <a:pt x="411703" y="424067"/>
                </a:cubicBezTo>
                <a:cubicBezTo>
                  <a:pt x="422230" y="417989"/>
                  <a:pt x="428714" y="406758"/>
                  <a:pt x="428714" y="394603"/>
                </a:cubicBezTo>
                <a:cubicBezTo>
                  <a:pt x="428714" y="375826"/>
                  <a:pt x="413470" y="360581"/>
                  <a:pt x="394692" y="360581"/>
                </a:cubicBezTo>
                <a:cubicBezTo>
                  <a:pt x="375915" y="360581"/>
                  <a:pt x="360670" y="375826"/>
                  <a:pt x="360670" y="394603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12001500" y="2476500"/>
            <a:ext cx="2857500" cy="406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可演进</a:t>
            </a:r>
            <a:endParaRPr lang="en-US" sz="22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12001500" y="2984500"/>
            <a:ext cx="2857500" cy="184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系统架构保留标签、搜索、文件夹树、反向链接、知识图谱等扩展空间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89000" y="5461000"/>
            <a:ext cx="14478000" cy="1016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27" name="Shape 25"/>
          <p:cNvSpPr/>
          <p:nvPr/>
        </p:nvSpPr>
        <p:spPr>
          <a:xfrm>
            <a:off x="889000" y="5461000"/>
            <a:ext cx="50800" cy="1016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8" name="Text 26"/>
          <p:cNvSpPr/>
          <p:nvPr/>
        </p:nvSpPr>
        <p:spPr>
          <a:xfrm>
            <a:off x="1193800" y="5588000"/>
            <a:ext cx="139192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策略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：团队将知识图谱、番茄钟、记忆卡片等复杂功能后置到后续版本。v1.2 分支在不破坏核心闭环的前提下补齐了知识页文件夹树和 Markdown/TXT 导入导出，体现了</a:t>
            </a:r>
            <a:r>
              <a:rPr lang="en-US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渐进式扩展</a:t>
            </a: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能力。</a:t>
            </a:r>
            <a:endParaRPr lang="en-US" dirty="0"/>
          </a:p>
        </p:txBody>
      </p:sp>
      <p:pic>
        <p:nvPicPr>
          <p:cNvPr id="29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2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5" name="Text 3"/>
          <p:cNvSpPr/>
          <p:nvPr/>
        </p:nvSpPr>
        <p:spPr>
          <a:xfrm>
            <a:off x="1016000" y="4572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软件工程方法的运用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6000" y="53340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分析、设计、实现与测试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16000" y="7874000"/>
            <a:ext cx="14224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pic>
        <p:nvPicPr>
          <p:cNvPr id="8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4732000" y="50800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软件工程方法的运用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04 系统特色与创新亮点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分析阶段：MVP 范围与需求优先级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460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核心假设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89000" y="1905000"/>
            <a:ext cx="6858000" cy="1016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8" name="Shape 6"/>
          <p:cNvSpPr/>
          <p:nvPr/>
        </p:nvSpPr>
        <p:spPr>
          <a:xfrm>
            <a:off x="889000" y="1905000"/>
            <a:ext cx="50800" cy="1016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9" name="Text 7"/>
          <p:cNvSpPr/>
          <p:nvPr/>
        </p:nvSpPr>
        <p:spPr>
          <a:xfrm>
            <a:off x="1143000" y="2006600"/>
            <a:ext cx="6350000" cy="81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如果系统能够让用户把碎片便签转化为知识页面和任务，就能缓解信息散落、知识无法沉淀和行动断裂的问题。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8000" y="1460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优先级划分策略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8000" y="1905000"/>
            <a:ext cx="2540000" cy="1016000"/>
          </a:xfrm>
          <a:prstGeom prst="rect">
            <a:avLst/>
          </a:prstGeom>
          <a:solidFill>
            <a:srgbClr val="FADBD8"/>
          </a:solidFill>
        </p:spPr>
      </p:sp>
      <p:sp>
        <p:nvSpPr>
          <p:cNvPr id="12" name="Text 10"/>
          <p:cNvSpPr/>
          <p:nvPr/>
        </p:nvSpPr>
        <p:spPr>
          <a:xfrm>
            <a:off x="8255000" y="2006600"/>
            <a:ext cx="2286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P0 必须进入 MVP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核心闭环功能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858500" y="1905000"/>
            <a:ext cx="2159000" cy="1016000"/>
          </a:xfrm>
          <a:prstGeom prst="rect">
            <a:avLst/>
          </a:prstGeom>
          <a:solidFill>
            <a:srgbClr val="D6EAF8"/>
          </a:solidFill>
        </p:spPr>
      </p:sp>
      <p:sp>
        <p:nvSpPr>
          <p:cNvPr id="14" name="Text 12"/>
          <p:cNvSpPr/>
          <p:nvPr/>
        </p:nvSpPr>
        <p:spPr>
          <a:xfrm>
            <a:off x="10922000" y="2006600"/>
            <a:ext cx="2032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2980B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P1 时间允许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增强功能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3208000" y="1905000"/>
            <a:ext cx="2159000" cy="1016000"/>
          </a:xfrm>
          <a:prstGeom prst="rect">
            <a:avLst/>
          </a:prstGeom>
          <a:solidFill>
            <a:srgbClr val="E5E8E8"/>
          </a:solidFill>
        </p:spPr>
      </p:sp>
      <p:sp>
        <p:nvSpPr>
          <p:cNvPr id="16" name="Text 14"/>
          <p:cNvSpPr/>
          <p:nvPr/>
        </p:nvSpPr>
        <p:spPr>
          <a:xfrm>
            <a:off x="13271500" y="2006600"/>
            <a:ext cx="2032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P2 明确后置</a:t>
            </a:r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后续版本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9000" y="3238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范围收敛过程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89000" y="4191000"/>
            <a:ext cx="14478000" cy="381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9" name="Shape 17"/>
          <p:cNvSpPr/>
          <p:nvPr/>
        </p:nvSpPr>
        <p:spPr>
          <a:xfrm>
            <a:off x="1778000" y="4089400"/>
            <a:ext cx="228600" cy="228600"/>
          </a:xfrm>
          <a:prstGeom prst="ellipse">
            <a:avLst/>
          </a:prstGeom>
          <a:solidFill>
            <a:srgbClr val="115740"/>
          </a:solidFill>
        </p:spPr>
      </p:sp>
      <p:sp>
        <p:nvSpPr>
          <p:cNvPr id="20" name="Text 18"/>
          <p:cNvSpPr/>
          <p:nvPr/>
        </p:nvSpPr>
        <p:spPr>
          <a:xfrm>
            <a:off x="1143000" y="3746500"/>
            <a:ext cx="2032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初期设想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9000" y="4508500"/>
            <a:ext cx="254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知识图谱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双向链接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番茄钟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记忆卡片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导入导出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556000" y="4127500"/>
            <a:ext cx="762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223000" y="4089400"/>
            <a:ext cx="228600" cy="228600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24" name="Text 22"/>
          <p:cNvSpPr/>
          <p:nvPr/>
        </p:nvSpPr>
        <p:spPr>
          <a:xfrm>
            <a:off x="5334000" y="37465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范围冻结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80000" y="4508500"/>
            <a:ext cx="3048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交付目标调整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从完整 v1.0 调整为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6月13日可验证 MVP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非核心能力后置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55000" y="4127500"/>
            <a:ext cx="762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0922000" y="4089400"/>
            <a:ext cx="228600" cy="228600"/>
          </a:xfrm>
          <a:prstGeom prst="ellipse">
            <a:avLst/>
          </a:prstGeom>
          <a:solidFill>
            <a:srgbClr val="115740"/>
          </a:solidFill>
        </p:spPr>
      </p:sp>
      <p:sp>
        <p:nvSpPr>
          <p:cNvPr id="28" name="Text 26"/>
          <p:cNvSpPr/>
          <p:nvPr/>
        </p:nvSpPr>
        <p:spPr>
          <a:xfrm>
            <a:off x="10033000" y="3746500"/>
            <a:ext cx="2540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交付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79000" y="4508500"/>
            <a:ext cx="3048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核心闭环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认证 + 便签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知识页面 + 任务看板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转换 + 部署 + 测试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2954000" y="4127500"/>
            <a:ext cx="7620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4859000" y="4089400"/>
            <a:ext cx="228600" cy="228600"/>
          </a:xfrm>
          <a:prstGeom prst="ellipse">
            <a:avLst/>
          </a:prstGeom>
          <a:solidFill>
            <a:srgbClr val="002554"/>
          </a:solidFill>
        </p:spPr>
      </p:sp>
      <p:sp>
        <p:nvSpPr>
          <p:cNvPr id="32" name="Text 30"/>
          <p:cNvSpPr/>
          <p:nvPr/>
        </p:nvSpPr>
        <p:spPr>
          <a:xfrm>
            <a:off x="13716000" y="3746500"/>
            <a:ext cx="203200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v1.2 增强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462000" y="4508500"/>
            <a:ext cx="2032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文件夹树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导入导出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任务筛选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日期修复</a:t>
            </a:r>
            <a:endParaRPr lang="en-US" sz="2000" dirty="0"/>
          </a:p>
        </p:txBody>
      </p:sp>
      <p:pic>
        <p:nvPicPr>
          <p:cNvPr id="34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软件工程方法的运用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04 系统特色与创新亮点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设计阶段：系统架构与模块划分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422400"/>
            <a:ext cx="14478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前后端分离 + Monorepo 组织（pnpm workspace） | 共享包降低接口不一致风险 | Docker Compose 统一环境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9000" y="2032000"/>
            <a:ext cx="2794000" cy="1778000"/>
          </a:xfrm>
          <a:prstGeom prst="rect">
            <a:avLst/>
          </a:prstGeom>
          <a:solidFill>
            <a:srgbClr val="D6EAF8"/>
          </a:solidFill>
          <a:ln w="12700">
            <a:solidFill>
              <a:srgbClr val="0025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" y="2133600"/>
            <a:ext cx="2794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前端 apps/web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6000" y="2514600"/>
            <a:ext cx="25400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Nuxt 3 / Vue 3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CodeMirror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83000" y="2857500"/>
            <a:ext cx="1016000" cy="0"/>
          </a:xfrm>
          <a:prstGeom prst="straightConnector1">
            <a:avLst/>
          </a:prstGeom>
          <a:noFill/>
          <a:ln w="25400">
            <a:solidFill>
              <a:srgbClr val="002554"/>
            </a:solidFill>
            <a:prstDash val="solid"/>
            <a:headEnd type="none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3746500" y="2603500"/>
            <a:ext cx="8890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9000" y="2032000"/>
            <a:ext cx="2794000" cy="1778000"/>
          </a:xfrm>
          <a:prstGeom prst="rect">
            <a:avLst/>
          </a:prstGeom>
          <a:solidFill>
            <a:srgbClr val="D5F5E3"/>
          </a:solidFill>
          <a:ln w="12700">
            <a:solidFill>
              <a:srgbClr val="115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9000" y="2133600"/>
            <a:ext cx="2794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后端 apps/api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6000" y="2514600"/>
            <a:ext cx="25400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Hono Framework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鉴权中间件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路由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Scalar API 文档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3000" y="2857500"/>
            <a:ext cx="7620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255000" y="2032000"/>
            <a:ext cx="2794000" cy="1778000"/>
          </a:xfrm>
          <a:prstGeom prst="rect">
            <a:avLst/>
          </a:prstGeom>
          <a:solidFill>
            <a:srgbClr val="FCF3CF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5000" y="2133600"/>
            <a:ext cx="2794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B795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包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2000" y="2514600"/>
            <a:ext cx="25400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Drizzle Schema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Zod Validators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Types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前后端同源共享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049000" y="2857500"/>
            <a:ext cx="762000" cy="0"/>
          </a:xfrm>
          <a:prstGeom prst="straightConnector1">
            <a:avLst/>
          </a:prstGeom>
          <a:noFill/>
          <a:ln w="25400">
            <a:solidFill>
              <a:srgbClr val="6B6B6B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1811000" y="2032000"/>
            <a:ext cx="2794000" cy="1778000"/>
          </a:xfrm>
          <a:prstGeom prst="rect">
            <a:avLst/>
          </a:prstGeom>
          <a:solidFill>
            <a:srgbClr val="E8DAEF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11000" y="2133600"/>
            <a:ext cx="2794000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7D3C9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938000" y="2514600"/>
            <a:ext cx="25400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 16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外键 + 枚举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级联删除</a:t>
            </a:r>
            <a:endParaRPr lang="en-US" sz="1100" dirty="0"/>
          </a:p>
          <a:p>
            <a:pPr algn="l">
              <a:lnSpc>
                <a:spcPct val="160000"/>
              </a:lnSpc>
            </a:pPr>
            <a:r>
              <a:rPr lang="en-US" sz="11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9000" y="4127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模块划分与职责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889000" y="4572000"/>
          <a:ext cx="14478000" cy="3556000"/>
        </p:xfrm>
        <a:graphic>
          <a:graphicData uri="http://schemas.openxmlformats.org/drawingml/2006/table">
            <a:tbl>
              <a:tblPr/>
              <a:tblGrid>
                <a:gridCol w="2606040"/>
                <a:gridCol w="6080760"/>
                <a:gridCol w="579120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模块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职责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关键实现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Web 前端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页面展示、用户交互、登录态管理、看板操作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Nuxt 3、Vue Composables、Tailwind、CodeMirror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API 后端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认证、业务接口、权限控制、错误处理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Hono、JWT 中间件、RESTful 路由、Scalar 文档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Shared 包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数据库表、类型和校验规则共享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Drizzle Schema、Zod Validators、TypeScript 类型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数据库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持久化用户、便签、知识页、任务和标签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PostgreSQL 16、外键、枚举、级联删除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59740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工程化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统一依赖、运行、测试和部署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pnpm workspace、Docker Compose、Vitest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软件工程方法的运用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04 系统特色与创新亮点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实现与测试：前后端协同与质量保障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460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后端实现要点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9000" y="1905000"/>
            <a:ext cx="6858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认证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：bcryptjs 密码加密 + jose JWT 签发校验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错误处理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：ZodError → 统一 400 响应；通用错误 → 500 响应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文档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：OpenAPI JSON + Scalar 文档挂载于 /docs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校验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：所有模块使用 shared 包 Zod schema 校验输入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数据隔离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：所有操作 where 条件包含 userId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事务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：转换接口使用事务包裹，避免孤儿数据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0" y="1460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前端实现要点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28000" y="1905000"/>
            <a:ext cx="7239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请求封装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：useApi 统一基地址、token 注入、401 清理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业务隔离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：useAuth/useNotes/usePages/useTasks Composables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路由覆盖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：登录/注册/首页/便签/知识页/任务看板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Markdown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：CodeMirror 编辑器 + 实时预览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v1.2 增强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：文件夹侧栏、.md/.txt 导入导出、状态筛选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89000" y="4699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11" name="Text 9"/>
          <p:cNvSpPr/>
          <p:nvPr/>
        </p:nvSpPr>
        <p:spPr>
          <a:xfrm>
            <a:off x="889000" y="4889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测试与质量保障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89000" y="53975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55245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079500" y="6223000"/>
            <a:ext cx="3048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个测试用例通过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个测试文件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53975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625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17" name="Text 15"/>
          <p:cNvSpPr/>
          <p:nvPr/>
        </p:nvSpPr>
        <p:spPr>
          <a:xfrm>
            <a:off x="4762500" y="6096000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单元测试覆盖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环境变量、认证工具、鉴权中间件、错误处理、Zod 校验器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55000" y="53975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55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5981" y="76200"/>
                </a:moveTo>
                <a:cubicBezTo>
                  <a:pt x="284268" y="76200"/>
                  <a:pt x="272909" y="79772"/>
                  <a:pt x="262961" y="86281"/>
                </a:cubicBezTo>
                <a:cubicBezTo>
                  <a:pt x="251813" y="73581"/>
                  <a:pt x="238831" y="62944"/>
                  <a:pt x="224508" y="54928"/>
                </a:cubicBezTo>
                <a:cubicBezTo>
                  <a:pt x="244404" y="35878"/>
                  <a:pt x="269734" y="25400"/>
                  <a:pt x="295981" y="25400"/>
                </a:cubicBezTo>
                <a:cubicBezTo>
                  <a:pt x="356941" y="25400"/>
                  <a:pt x="406400" y="80963"/>
                  <a:pt x="406400" y="149622"/>
                </a:cubicBezTo>
                <a:cubicBezTo>
                  <a:pt x="406400" y="182563"/>
                  <a:pt x="394758" y="214154"/>
                  <a:pt x="374086" y="237411"/>
                </a:cubicBezTo>
                <a:lnTo>
                  <a:pt x="323921" y="293846"/>
                </a:lnTo>
                <a:cubicBezTo>
                  <a:pt x="303248" y="317103"/>
                  <a:pt x="275167" y="330200"/>
                  <a:pt x="245886" y="330200"/>
                </a:cubicBezTo>
                <a:cubicBezTo>
                  <a:pt x="184926" y="330200"/>
                  <a:pt x="135467" y="274638"/>
                  <a:pt x="135467" y="205978"/>
                </a:cubicBezTo>
                <a:cubicBezTo>
                  <a:pt x="135467" y="204788"/>
                  <a:pt x="135467" y="203597"/>
                  <a:pt x="135537" y="202406"/>
                </a:cubicBezTo>
                <a:cubicBezTo>
                  <a:pt x="135890" y="188357"/>
                  <a:pt x="146262" y="177324"/>
                  <a:pt x="158750" y="177721"/>
                </a:cubicBezTo>
                <a:cubicBezTo>
                  <a:pt x="171238" y="178118"/>
                  <a:pt x="181046" y="189786"/>
                  <a:pt x="180693" y="203835"/>
                </a:cubicBezTo>
                <a:cubicBezTo>
                  <a:pt x="180693" y="204549"/>
                  <a:pt x="180693" y="205264"/>
                  <a:pt x="180693" y="205899"/>
                </a:cubicBezTo>
                <a:cubicBezTo>
                  <a:pt x="180693" y="246459"/>
                  <a:pt x="209903" y="279321"/>
                  <a:pt x="245957" y="279321"/>
                </a:cubicBezTo>
                <a:cubicBezTo>
                  <a:pt x="263243" y="279321"/>
                  <a:pt x="279823" y="271621"/>
                  <a:pt x="292100" y="257810"/>
                </a:cubicBezTo>
                <a:lnTo>
                  <a:pt x="342265" y="201374"/>
                </a:lnTo>
                <a:cubicBezTo>
                  <a:pt x="354471" y="187643"/>
                  <a:pt x="361386" y="168910"/>
                  <a:pt x="361386" y="149463"/>
                </a:cubicBezTo>
                <a:cubicBezTo>
                  <a:pt x="361386" y="108903"/>
                  <a:pt x="332176" y="76041"/>
                  <a:pt x="296122" y="76041"/>
                </a:cubicBezTo>
                <a:close/>
                <a:moveTo>
                  <a:pt x="194169" y="137557"/>
                </a:moveTo>
                <a:cubicBezTo>
                  <a:pt x="192828" y="136922"/>
                  <a:pt x="191488" y="136049"/>
                  <a:pt x="190288" y="135096"/>
                </a:cubicBezTo>
                <a:cubicBezTo>
                  <a:pt x="181398" y="129937"/>
                  <a:pt x="171238" y="127000"/>
                  <a:pt x="160584" y="127000"/>
                </a:cubicBezTo>
                <a:cubicBezTo>
                  <a:pt x="143298" y="127000"/>
                  <a:pt x="126718" y="134699"/>
                  <a:pt x="114441" y="148511"/>
                </a:cubicBezTo>
                <a:lnTo>
                  <a:pt x="64276" y="204946"/>
                </a:lnTo>
                <a:cubicBezTo>
                  <a:pt x="52070" y="218678"/>
                  <a:pt x="45156" y="237411"/>
                  <a:pt x="45156" y="256858"/>
                </a:cubicBezTo>
                <a:cubicBezTo>
                  <a:pt x="45156" y="297418"/>
                  <a:pt x="74366" y="330279"/>
                  <a:pt x="110419" y="330279"/>
                </a:cubicBezTo>
                <a:cubicBezTo>
                  <a:pt x="122061" y="330279"/>
                  <a:pt x="133421" y="326787"/>
                  <a:pt x="143369" y="320278"/>
                </a:cubicBezTo>
                <a:cubicBezTo>
                  <a:pt x="154517" y="332978"/>
                  <a:pt x="167499" y="343614"/>
                  <a:pt x="181892" y="351631"/>
                </a:cubicBezTo>
                <a:cubicBezTo>
                  <a:pt x="161996" y="370602"/>
                  <a:pt x="136737" y="381159"/>
                  <a:pt x="110419" y="381159"/>
                </a:cubicBezTo>
                <a:cubicBezTo>
                  <a:pt x="49459" y="381159"/>
                  <a:pt x="0" y="325596"/>
                  <a:pt x="0" y="256937"/>
                </a:cubicBezTo>
                <a:cubicBezTo>
                  <a:pt x="0" y="223996"/>
                  <a:pt x="11642" y="192405"/>
                  <a:pt x="32314" y="169148"/>
                </a:cubicBezTo>
                <a:lnTo>
                  <a:pt x="82479" y="112713"/>
                </a:lnTo>
                <a:cubicBezTo>
                  <a:pt x="103152" y="89456"/>
                  <a:pt x="131233" y="76359"/>
                  <a:pt x="160514" y="76359"/>
                </a:cubicBezTo>
                <a:cubicBezTo>
                  <a:pt x="221615" y="76359"/>
                  <a:pt x="270933" y="132398"/>
                  <a:pt x="270933" y="200898"/>
                </a:cubicBezTo>
                <a:cubicBezTo>
                  <a:pt x="270933" y="201930"/>
                  <a:pt x="270933" y="202962"/>
                  <a:pt x="270933" y="203994"/>
                </a:cubicBezTo>
                <a:cubicBezTo>
                  <a:pt x="270651" y="218043"/>
                  <a:pt x="260279" y="229076"/>
                  <a:pt x="247791" y="228759"/>
                </a:cubicBezTo>
                <a:cubicBezTo>
                  <a:pt x="235303" y="228441"/>
                  <a:pt x="225496" y="216773"/>
                  <a:pt x="225778" y="202724"/>
                </a:cubicBezTo>
                <a:cubicBezTo>
                  <a:pt x="225778" y="202089"/>
                  <a:pt x="225778" y="201533"/>
                  <a:pt x="225778" y="200898"/>
                </a:cubicBezTo>
                <a:cubicBezTo>
                  <a:pt x="225778" y="174149"/>
                  <a:pt x="213078" y="150654"/>
                  <a:pt x="194169" y="137716"/>
                </a:cubicBezTo>
                <a:close/>
              </a:path>
            </a:pathLst>
          </a:custGeom>
          <a:solidFill>
            <a:srgbClr val="002554"/>
          </a:solidFill>
        </p:spPr>
      </p:sp>
      <p:sp>
        <p:nvSpPr>
          <p:cNvPr id="20" name="Text 18"/>
          <p:cNvSpPr/>
          <p:nvPr/>
        </p:nvSpPr>
        <p:spPr>
          <a:xfrm>
            <a:off x="8445500" y="6096000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集成测试覆盖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认证、便签、知识页、任务等核心 API 流程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938000" y="53975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128500" y="5588000"/>
            <a:ext cx="406400" cy="406400"/>
          </a:xfrm>
          <a:prstGeom prst="ellipse">
            <a:avLst/>
          </a:prstGeom>
          <a:solidFill>
            <a:srgbClr val="2496ED"/>
          </a:solidFill>
        </p:spPr>
      </p:sp>
      <p:sp>
        <p:nvSpPr>
          <p:cNvPr id="23" name="Text 21"/>
          <p:cNvSpPr/>
          <p:nvPr/>
        </p:nvSpPr>
        <p:spPr>
          <a:xfrm>
            <a:off x="12128500" y="6096000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环境统一</a:t>
            </a:r>
            <a:endParaRPr lang="en-US" sz="1100" dirty="0"/>
          </a:p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Compose + .env.example + README 启动流程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9000" y="7239000"/>
            <a:ext cx="14478000" cy="1016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25" name="Shape 23"/>
          <p:cNvSpPr/>
          <p:nvPr/>
        </p:nvSpPr>
        <p:spPr>
          <a:xfrm>
            <a:off x="889000" y="7239000"/>
            <a:ext cx="50800" cy="1016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6" name="Text 24"/>
          <p:cNvSpPr/>
          <p:nvPr/>
        </p:nvSpPr>
        <p:spPr>
          <a:xfrm>
            <a:off x="1193800" y="7366000"/>
            <a:ext cx="139192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测试场景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：正常路径、非法输入、鉴权失败、重复注册、CRUD 边界、便签转换、任务状态流转 | </a:t>
            </a: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框架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：Vitest | </a:t>
            </a: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分支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：xiaochangshen/v1.2-folder-tree-and-task-fixes</a:t>
            </a:r>
            <a:endParaRPr lang="en-US" sz="1400" dirty="0"/>
          </a:p>
        </p:txBody>
      </p:sp>
      <p:pic>
        <p:nvPicPr>
          <p:cNvPr id="27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5" name="Text 3"/>
          <p:cNvSpPr/>
          <p:nvPr/>
        </p:nvSpPr>
        <p:spPr>
          <a:xfrm>
            <a:off x="1016000" y="4572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系统特色与创新亮点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6000" y="53340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知识-任务闭环的工程实践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7874000"/>
            <a:ext cx="14224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pic>
        <p:nvPicPr>
          <p:cNvPr id="8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4732000" y="50800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03 软件工程方法的运用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系统特色与创新亮点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核心业务流程：便签 → 知识页 → 任务看板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Shape 4"/>
          <p:cNvSpPr/>
          <p:nvPr/>
        </p:nvSpPr>
        <p:spPr>
          <a:xfrm>
            <a:off x="889000" y="1651000"/>
            <a:ext cx="2032000" cy="1143000"/>
          </a:xfrm>
          <a:prstGeom prst="rect">
            <a:avLst/>
          </a:prstGeom>
          <a:solidFill>
            <a:srgbClr val="002554"/>
          </a:solidFill>
        </p:spPr>
      </p:sp>
      <p:sp>
        <p:nvSpPr>
          <p:cNvPr id="7" name="Shape 5"/>
          <p:cNvSpPr/>
          <p:nvPr/>
        </p:nvSpPr>
        <p:spPr>
          <a:xfrm>
            <a:off x="1651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5565" y="88900"/>
                </a:moveTo>
                <a:cubicBezTo>
                  <a:pt x="75565" y="42901"/>
                  <a:pt x="105441" y="5556"/>
                  <a:pt x="142240" y="5556"/>
                </a:cubicBezTo>
                <a:cubicBezTo>
                  <a:pt x="179039" y="5556"/>
                  <a:pt x="208915" y="42901"/>
                  <a:pt x="208915" y="88900"/>
                </a:cubicBezTo>
                <a:cubicBezTo>
                  <a:pt x="208915" y="134899"/>
                  <a:pt x="179039" y="172244"/>
                  <a:pt x="142240" y="172244"/>
                </a:cubicBezTo>
                <a:cubicBezTo>
                  <a:pt x="105441" y="172244"/>
                  <a:pt x="75565" y="134899"/>
                  <a:pt x="75565" y="88900"/>
                </a:cubicBezTo>
                <a:close/>
                <a:moveTo>
                  <a:pt x="26670" y="334972"/>
                </a:moveTo>
                <a:cubicBezTo>
                  <a:pt x="26670" y="266561"/>
                  <a:pt x="71009" y="211138"/>
                  <a:pt x="125738" y="211138"/>
                </a:cubicBezTo>
                <a:lnTo>
                  <a:pt x="158742" y="211138"/>
                </a:lnTo>
                <a:cubicBezTo>
                  <a:pt x="213471" y="211138"/>
                  <a:pt x="257810" y="266561"/>
                  <a:pt x="257810" y="334972"/>
                </a:cubicBezTo>
                <a:cubicBezTo>
                  <a:pt x="257810" y="346363"/>
                  <a:pt x="250420" y="355600"/>
                  <a:pt x="241308" y="355600"/>
                </a:cubicBezTo>
                <a:lnTo>
                  <a:pt x="43172" y="355600"/>
                </a:lnTo>
                <a:cubicBezTo>
                  <a:pt x="34060" y="355600"/>
                  <a:pt x="26670" y="346363"/>
                  <a:pt x="26670" y="334972"/>
                </a:cubicBezTo>
                <a:close/>
                <a:moveTo>
                  <a:pt x="340265" y="92164"/>
                </a:moveTo>
                <a:lnTo>
                  <a:pt x="295815" y="181064"/>
                </a:lnTo>
                <a:cubicBezTo>
                  <a:pt x="293481" y="185718"/>
                  <a:pt x="289481" y="188635"/>
                  <a:pt x="285091" y="188913"/>
                </a:cubicBezTo>
                <a:cubicBezTo>
                  <a:pt x="280702" y="189190"/>
                  <a:pt x="276479" y="186690"/>
                  <a:pt x="273868" y="182245"/>
                </a:cubicBezTo>
                <a:lnTo>
                  <a:pt x="247198" y="137795"/>
                </a:lnTo>
                <a:cubicBezTo>
                  <a:pt x="242753" y="130433"/>
                  <a:pt x="243975" y="120015"/>
                  <a:pt x="249865" y="114459"/>
                </a:cubicBezTo>
                <a:cubicBezTo>
                  <a:pt x="255754" y="108903"/>
                  <a:pt x="264089" y="110430"/>
                  <a:pt x="268534" y="117793"/>
                </a:cubicBezTo>
                <a:lnTo>
                  <a:pt x="283535" y="142796"/>
                </a:lnTo>
                <a:lnTo>
                  <a:pt x="317651" y="74523"/>
                </a:lnTo>
                <a:cubicBezTo>
                  <a:pt x="321540" y="66744"/>
                  <a:pt x="329763" y="64314"/>
                  <a:pt x="336042" y="69245"/>
                </a:cubicBezTo>
                <a:cubicBezTo>
                  <a:pt x="342321" y="74176"/>
                  <a:pt x="344210" y="84386"/>
                  <a:pt x="340265" y="9223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52500" y="2184400"/>
            <a:ext cx="1905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注册登录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认证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48000" y="2184400"/>
            <a:ext cx="508000" cy="0"/>
          </a:xfrm>
          <a:prstGeom prst="straightConnector1">
            <a:avLst/>
          </a:prstGeom>
          <a:noFill/>
          <a:ln w="25400">
            <a:solidFill>
              <a:srgbClr val="002554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683000" y="1651000"/>
            <a:ext cx="2032000" cy="1143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1" name="Shape 9"/>
          <p:cNvSpPr/>
          <p:nvPr/>
        </p:nvSpPr>
        <p:spPr>
          <a:xfrm>
            <a:off x="4445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333375"/>
                </a:moveTo>
                <a:cubicBezTo>
                  <a:pt x="22781" y="333375"/>
                  <a:pt x="0" y="313442"/>
                  <a:pt x="0" y="288925"/>
                </a:cubicBezTo>
                <a:lnTo>
                  <a:pt x="0" y="66675"/>
                </a:lnTo>
                <a:cubicBezTo>
                  <a:pt x="0" y="42158"/>
                  <a:pt x="22781" y="22225"/>
                  <a:pt x="50800" y="22225"/>
                </a:cubicBezTo>
                <a:lnTo>
                  <a:pt x="304800" y="22225"/>
                </a:lnTo>
                <a:cubicBezTo>
                  <a:pt x="332819" y="22225"/>
                  <a:pt x="355600" y="42158"/>
                  <a:pt x="355600" y="66675"/>
                </a:cubicBezTo>
                <a:lnTo>
                  <a:pt x="355600" y="214957"/>
                </a:lnTo>
                <a:cubicBezTo>
                  <a:pt x="355600" y="226764"/>
                  <a:pt x="350282" y="238085"/>
                  <a:pt x="340757" y="246420"/>
                </a:cubicBezTo>
                <a:lnTo>
                  <a:pt x="256143" y="320387"/>
                </a:lnTo>
                <a:cubicBezTo>
                  <a:pt x="246618" y="328722"/>
                  <a:pt x="233680" y="333375"/>
                  <a:pt x="220186" y="333375"/>
                </a:cubicBezTo>
                <a:lnTo>
                  <a:pt x="50800" y="333375"/>
                </a:lnTo>
                <a:close/>
                <a:moveTo>
                  <a:pt x="309166" y="211138"/>
                </a:moveTo>
                <a:lnTo>
                  <a:pt x="234950" y="211138"/>
                </a:lnTo>
                <a:cubicBezTo>
                  <a:pt x="224393" y="211138"/>
                  <a:pt x="215900" y="218569"/>
                  <a:pt x="215900" y="227806"/>
                </a:cubicBezTo>
                <a:lnTo>
                  <a:pt x="215900" y="292745"/>
                </a:lnTo>
                <a:lnTo>
                  <a:pt x="309166" y="21113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3746500" y="2184400"/>
            <a:ext cx="1905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创建便签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时间线展示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42000" y="1968500"/>
            <a:ext cx="5080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842000" y="2476500"/>
            <a:ext cx="508000" cy="38100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6477000" y="1651000"/>
            <a:ext cx="2032000" cy="635000"/>
          </a:xfrm>
          <a:prstGeom prst="homePlate">
            <a:avLst>
              <a:gd name="adj" fmla="val 25000"/>
            </a:avLst>
          </a:prstGeom>
          <a:solidFill>
            <a:srgbClr val="1E8449"/>
          </a:solidFill>
        </p:spPr>
      </p:sp>
      <p:sp>
        <p:nvSpPr>
          <p:cNvPr id="16" name="Text 14"/>
          <p:cNvSpPr/>
          <p:nvPr/>
        </p:nvSpPr>
        <p:spPr>
          <a:xfrm>
            <a:off x="6477000" y="1651000"/>
            <a:ext cx="177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转知识页面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77000" y="2667000"/>
            <a:ext cx="2032000" cy="635000"/>
          </a:xfrm>
          <a:prstGeom prst="homePlate">
            <a:avLst>
              <a:gd name="adj" fmla="val 25000"/>
            </a:avLst>
          </a:prstGeom>
          <a:solidFill>
            <a:srgbClr val="1E8449"/>
          </a:solidFill>
        </p:spPr>
      </p:sp>
      <p:sp>
        <p:nvSpPr>
          <p:cNvPr id="18" name="Text 16"/>
          <p:cNvSpPr/>
          <p:nvPr/>
        </p:nvSpPr>
        <p:spPr>
          <a:xfrm>
            <a:off x="6477000" y="2667000"/>
            <a:ext cx="177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转任务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36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115740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271000" y="2032000"/>
            <a:ext cx="2032000" cy="8890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9334500" y="2095500"/>
            <a:ext cx="190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知识页转任务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v1.2 新增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30000" y="2438400"/>
            <a:ext cx="508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065000" y="1651000"/>
            <a:ext cx="3302000" cy="1143000"/>
          </a:xfrm>
          <a:prstGeom prst="rect">
            <a:avLst/>
          </a:prstGeom>
          <a:solidFill>
            <a:srgbClr val="002554"/>
          </a:solidFill>
        </p:spPr>
      </p:sp>
      <p:sp>
        <p:nvSpPr>
          <p:cNvPr id="25" name="Text 23"/>
          <p:cNvSpPr/>
          <p:nvPr/>
        </p:nvSpPr>
        <p:spPr>
          <a:xfrm>
            <a:off x="12128500" y="1778000"/>
            <a:ext cx="3175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看板推进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TODO → IN_PROGRESS → DONE</a:t>
            </a:r>
            <a:endParaRPr lang="en-US" sz="12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状态筛选 / 优先级 / 截止日期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9000" y="3746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流程关键特性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89000" y="4254500"/>
            <a:ext cx="4572000" cy="2840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9000" y="4254500"/>
            <a:ext cx="4572000" cy="86995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9" name="Text 27"/>
          <p:cNvSpPr/>
          <p:nvPr/>
        </p:nvSpPr>
        <p:spPr>
          <a:xfrm>
            <a:off x="1079500" y="4445000"/>
            <a:ext cx="4191000" cy="2294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来源标记保留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便签转知识页或任务时，系统保留原内容并记录来源类型和来源 ID，确保上下文不丢失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715000" y="4254500"/>
            <a:ext cx="4572000" cy="2840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4254500"/>
            <a:ext cx="4572000" cy="86995"/>
          </a:xfrm>
          <a:prstGeom prst="rect">
            <a:avLst/>
          </a:prstGeom>
          <a:solidFill>
            <a:srgbClr val="002554"/>
          </a:solidFill>
        </p:spPr>
      </p:sp>
      <p:sp>
        <p:nvSpPr>
          <p:cNvPr id="32" name="Text 30"/>
          <p:cNvSpPr/>
          <p:nvPr/>
        </p:nvSpPr>
        <p:spPr>
          <a:xfrm>
            <a:off x="5905500" y="4445000"/>
            <a:ext cx="4191000" cy="2294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事务保证一致性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所有转换操作使用数据库事务包裹查询、插入、更新和标签复制，避免并发下产生不一致状态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541000" y="4254500"/>
            <a:ext cx="4826000" cy="2840355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41000" y="4254500"/>
            <a:ext cx="4826000" cy="86995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5" name="Text 33"/>
          <p:cNvSpPr/>
          <p:nvPr/>
        </p:nvSpPr>
        <p:spPr>
          <a:xfrm>
            <a:off x="10731500" y="4445000"/>
            <a:ext cx="4445000" cy="2294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v1.2 渐进增强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文件夹树组织、Markdown/TXT 导入导出、任务状态筛选、截止日期兼容修复，不破坏核心闭环</a:t>
            </a:r>
            <a:endParaRPr lang="en-US" sz="2000" dirty="0"/>
          </a:p>
        </p:txBody>
      </p:sp>
      <p:pic>
        <p:nvPicPr>
          <p:cNvPr id="36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03 软件工程方法的运用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系统特色与创新亮点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系统特色与创新亮点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889000" y="1524000"/>
            <a:ext cx="7048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1079500" y="16256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905000" y="1676400"/>
            <a:ext cx="5715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三类对象的可执行闭环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79500" y="2222500"/>
            <a:ext cx="66675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便签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低成本输入入口，快速捕获碎片信息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知识页面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结构化沉淀载体，Markdown 编辑与预览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任务看板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执行推进工具，</a:t>
            </a:r>
            <a:r>
              <a:rPr lang="zh-CN" alt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状态流转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三者之间的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转换关系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使用户能够根据内容性质选择下一步，而不必在多个工具之间手动复制粘贴</a:t>
            </a:r>
            <a:endParaRPr lang="en-US" sz="1400" dirty="0"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8318500" y="1524000"/>
            <a:ext cx="7048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8509000" y="16256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9334500" y="1676400"/>
            <a:ext cx="5715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工程结构共享化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8509000" y="2222500"/>
            <a:ext cx="66675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Drizzle schema、Zod validators 和 TypeScript 类型集中在 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packages/shared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使数据库结构、接口校验和类型定义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保持同源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显著减少了前后端联调中的字段不一致、状态枚举不一致和错误格式不一致问题</a:t>
            </a:r>
            <a:endParaRPr lang="en-US" sz="1400" dirty="0"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889000" y="4889500"/>
            <a:ext cx="7048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1079500" y="49911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1905000" y="5041900"/>
            <a:ext cx="5715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文件夹树轻量实现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1079500" y="5588000"/>
            <a:ext cx="66675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没有引入复杂的</a:t>
            </a: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独立目录实体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而是在便签、知识页面和任务上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复用 folder 路径字段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通过 /api/v1/folders 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聚合路径、构建树节点、累加子目录数量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实现成本低，满足按目录组织知识材料的主要需求，为后续迁移保留空间</a:t>
            </a:r>
            <a:endParaRPr lang="en-US" sz="14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8318500" y="4889500"/>
            <a:ext cx="70485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8509000" y="4991100"/>
            <a:ext cx="762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9334500" y="5041900"/>
            <a:ext cx="5715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范围治理</a:t>
            </a:r>
            <a:endParaRPr lang="en-US" sz="1800" dirty="0"/>
          </a:p>
        </p:txBody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8509000" y="5588000"/>
            <a:ext cx="66675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未将知识图谱、记忆卡片等展示性强但</a:t>
            </a:r>
            <a:r>
              <a:rPr lang="en-US" sz="14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风险较高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的功能硬塞入首版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而是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优先确保核心闭环稳定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v1.2 分支的文件夹树、任务筛选和日期修复都属于围绕核心使用痛点的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渐进式增强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使系统更接近真实工程中的迭代开发方式</a:t>
            </a:r>
            <a:endParaRPr lang="en-US" sz="1400" dirty="0"/>
          </a:p>
        </p:txBody>
      </p:sp>
      <p:pic>
        <p:nvPicPr>
          <p:cNvPr id="22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7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03 软件工程方法的运用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系统特色与创新亮点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05 AI协作与实践挑战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业务价值与需求满足程度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4224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业务价值：降低从记录到行动的摩擦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89000" y="1905000"/>
            <a:ext cx="4572000" cy="2032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8" name="Shape 6"/>
          <p:cNvSpPr/>
          <p:nvPr/>
        </p:nvSpPr>
        <p:spPr>
          <a:xfrm>
            <a:off x="889000" y="1905000"/>
            <a:ext cx="4572000" cy="508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9" name="Shape 7"/>
          <p:cNvSpPr/>
          <p:nvPr/>
        </p:nvSpPr>
        <p:spPr>
          <a:xfrm>
            <a:off x="1143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633" y="135989"/>
                </a:moveTo>
                <a:lnTo>
                  <a:pt x="158785" y="195788"/>
                </a:lnTo>
                <a:cubicBezTo>
                  <a:pt x="164835" y="198566"/>
                  <a:pt x="171256" y="200025"/>
                  <a:pt x="177800" y="200025"/>
                </a:cubicBezTo>
                <a:cubicBezTo>
                  <a:pt x="184344" y="200025"/>
                  <a:pt x="190765" y="198566"/>
                  <a:pt x="196815" y="195788"/>
                </a:cubicBezTo>
                <a:lnTo>
                  <a:pt x="346463" y="126474"/>
                </a:lnTo>
                <a:cubicBezTo>
                  <a:pt x="352019" y="123904"/>
                  <a:pt x="355600" y="117862"/>
                  <a:pt x="355600" y="111125"/>
                </a:cubicBezTo>
                <a:cubicBezTo>
                  <a:pt x="355600" y="104388"/>
                  <a:pt x="352019" y="98346"/>
                  <a:pt x="346463" y="95776"/>
                </a:cubicBezTo>
                <a:lnTo>
                  <a:pt x="196815" y="26462"/>
                </a:lnTo>
                <a:cubicBezTo>
                  <a:pt x="190765" y="23684"/>
                  <a:pt x="184344" y="22225"/>
                  <a:pt x="177800" y="22225"/>
                </a:cubicBezTo>
                <a:cubicBezTo>
                  <a:pt x="171256" y="22225"/>
                  <a:pt x="164835" y="23684"/>
                  <a:pt x="158785" y="26462"/>
                </a:cubicBezTo>
                <a:lnTo>
                  <a:pt x="9137" y="95776"/>
                </a:lnTo>
                <a:cubicBezTo>
                  <a:pt x="3581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6606" y="333375"/>
                  <a:pt x="14817" y="333375"/>
                </a:cubicBezTo>
                <a:cubicBezTo>
                  <a:pt x="23028" y="333375"/>
                  <a:pt x="29633" y="325944"/>
                  <a:pt x="29633" y="316706"/>
                </a:cubicBezTo>
                <a:lnTo>
                  <a:pt x="29633" y="135989"/>
                </a:lnTo>
                <a:close/>
                <a:moveTo>
                  <a:pt x="59267" y="185787"/>
                </a:moveTo>
                <a:lnTo>
                  <a:pt x="59267" y="266700"/>
                </a:lnTo>
                <a:cubicBezTo>
                  <a:pt x="59267" y="303510"/>
                  <a:pt x="112360" y="333375"/>
                  <a:pt x="177800" y="333375"/>
                </a:cubicBezTo>
                <a:cubicBezTo>
                  <a:pt x="243240" y="333375"/>
                  <a:pt x="296333" y="303510"/>
                  <a:pt x="296333" y="266700"/>
                </a:cubicBezTo>
                <a:lnTo>
                  <a:pt x="296333" y="185718"/>
                </a:lnTo>
                <a:lnTo>
                  <a:pt x="208112" y="226626"/>
                </a:lnTo>
                <a:cubicBezTo>
                  <a:pt x="198482" y="231071"/>
                  <a:pt x="188233" y="233362"/>
                  <a:pt x="177800" y="233362"/>
                </a:cubicBezTo>
                <a:cubicBezTo>
                  <a:pt x="167367" y="233362"/>
                  <a:pt x="157118" y="231071"/>
                  <a:pt x="147488" y="226626"/>
                </a:cubicBezTo>
                <a:lnTo>
                  <a:pt x="59267" y="185718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10" name="Text 8"/>
          <p:cNvSpPr/>
          <p:nvPr/>
        </p:nvSpPr>
        <p:spPr>
          <a:xfrm>
            <a:off x="1625600" y="21336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学习用户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603500"/>
            <a:ext cx="406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课堂或阅读中的临时记录可以沉淀为知识页面，并按课程、章节或项目文件夹组织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15000" y="1905000"/>
            <a:ext cx="4572000" cy="2032000"/>
          </a:xfrm>
          <a:prstGeom prst="rect">
            <a:avLst/>
          </a:prstGeom>
          <a:solidFill>
            <a:srgbClr val="E5EAF0"/>
          </a:solidFill>
        </p:spPr>
      </p:sp>
      <p:sp>
        <p:nvSpPr>
          <p:cNvPr id="13" name="Shape 11"/>
          <p:cNvSpPr/>
          <p:nvPr/>
        </p:nvSpPr>
        <p:spPr>
          <a:xfrm>
            <a:off x="5715000" y="1905000"/>
            <a:ext cx="4572000" cy="50800"/>
          </a:xfrm>
          <a:prstGeom prst="rect">
            <a:avLst/>
          </a:prstGeom>
          <a:solidFill>
            <a:srgbClr val="002554"/>
          </a:solidFill>
        </p:spPr>
      </p:sp>
      <p:sp>
        <p:nvSpPr>
          <p:cNvPr id="14" name="Shape 12"/>
          <p:cNvSpPr/>
          <p:nvPr/>
        </p:nvSpPr>
        <p:spPr>
          <a:xfrm>
            <a:off x="5969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02333" y="0"/>
                  <a:pt x="222250" y="19917"/>
                  <a:pt x="222250" y="44450"/>
                </a:cubicBezTo>
                <a:cubicBezTo>
                  <a:pt x="222250" y="68983"/>
                  <a:pt x="202333" y="88900"/>
                  <a:pt x="177800" y="88900"/>
                </a:cubicBezTo>
                <a:cubicBezTo>
                  <a:pt x="153267" y="88900"/>
                  <a:pt x="133350" y="68983"/>
                  <a:pt x="133350" y="44450"/>
                </a:cubicBezTo>
                <a:cubicBezTo>
                  <a:pt x="133350" y="19917"/>
                  <a:pt x="153267" y="0"/>
                  <a:pt x="177800" y="0"/>
                </a:cubicBezTo>
                <a:close/>
                <a:moveTo>
                  <a:pt x="244475" y="216694"/>
                </a:moveTo>
                <a:cubicBezTo>
                  <a:pt x="244475" y="234057"/>
                  <a:pt x="235654" y="249337"/>
                  <a:pt x="222250" y="258296"/>
                </a:cubicBezTo>
                <a:lnTo>
                  <a:pt x="222250" y="322263"/>
                </a:lnTo>
                <a:cubicBezTo>
                  <a:pt x="222250" y="340668"/>
                  <a:pt x="207318" y="355600"/>
                  <a:pt x="188913" y="355600"/>
                </a:cubicBezTo>
                <a:lnTo>
                  <a:pt x="166688" y="355600"/>
                </a:lnTo>
                <a:cubicBezTo>
                  <a:pt x="148282" y="355600"/>
                  <a:pt x="133350" y="340668"/>
                  <a:pt x="133350" y="322263"/>
                </a:cubicBezTo>
                <a:lnTo>
                  <a:pt x="133350" y="258296"/>
                </a:lnTo>
                <a:cubicBezTo>
                  <a:pt x="119946" y="249337"/>
                  <a:pt x="111125" y="234057"/>
                  <a:pt x="111125" y="216694"/>
                </a:cubicBezTo>
                <a:lnTo>
                  <a:pt x="111125" y="188913"/>
                </a:lnTo>
                <a:cubicBezTo>
                  <a:pt x="111125" y="152102"/>
                  <a:pt x="140990" y="122238"/>
                  <a:pt x="177800" y="122238"/>
                </a:cubicBezTo>
                <a:cubicBezTo>
                  <a:pt x="214610" y="122238"/>
                  <a:pt x="244475" y="152102"/>
                  <a:pt x="244475" y="188913"/>
                </a:cubicBezTo>
                <a:lnTo>
                  <a:pt x="244475" y="216694"/>
                </a:lnTo>
                <a:close/>
                <a:moveTo>
                  <a:pt x="66675" y="22225"/>
                </a:moveTo>
                <a:cubicBezTo>
                  <a:pt x="88141" y="22225"/>
                  <a:pt x="105569" y="39653"/>
                  <a:pt x="105569" y="61119"/>
                </a:cubicBezTo>
                <a:cubicBezTo>
                  <a:pt x="105569" y="82585"/>
                  <a:pt x="88141" y="100013"/>
                  <a:pt x="66675" y="100013"/>
                </a:cubicBezTo>
                <a:cubicBezTo>
                  <a:pt x="45209" y="100013"/>
                  <a:pt x="27781" y="82585"/>
                  <a:pt x="27781" y="61119"/>
                </a:cubicBezTo>
                <a:cubicBezTo>
                  <a:pt x="27781" y="39653"/>
                  <a:pt x="45209" y="22225"/>
                  <a:pt x="66675" y="22225"/>
                </a:cubicBezTo>
                <a:close/>
                <a:moveTo>
                  <a:pt x="77788" y="188913"/>
                </a:moveTo>
                <a:lnTo>
                  <a:pt x="77788" y="211138"/>
                </a:lnTo>
                <a:cubicBezTo>
                  <a:pt x="77788" y="233710"/>
                  <a:pt x="86191" y="254268"/>
                  <a:pt x="100013" y="269964"/>
                </a:cubicBezTo>
                <a:lnTo>
                  <a:pt x="100013" y="322263"/>
                </a:lnTo>
                <a:cubicBezTo>
                  <a:pt x="100013" y="323096"/>
                  <a:pt x="100013" y="323999"/>
                  <a:pt x="100082" y="324832"/>
                </a:cubicBezTo>
                <a:cubicBezTo>
                  <a:pt x="94178" y="330111"/>
                  <a:pt x="86400" y="333375"/>
                  <a:pt x="77788" y="333375"/>
                </a:cubicBezTo>
                <a:lnTo>
                  <a:pt x="55563" y="333375"/>
                </a:lnTo>
                <a:cubicBezTo>
                  <a:pt x="37157" y="333375"/>
                  <a:pt x="22225" y="318443"/>
                  <a:pt x="22225" y="300038"/>
                </a:cubicBezTo>
                <a:lnTo>
                  <a:pt x="22225" y="260727"/>
                </a:lnTo>
                <a:cubicBezTo>
                  <a:pt x="8959" y="253087"/>
                  <a:pt x="0" y="238710"/>
                  <a:pt x="0" y="222250"/>
                </a:cubicBezTo>
                <a:lnTo>
                  <a:pt x="0" y="200025"/>
                </a:lnTo>
                <a:cubicBezTo>
                  <a:pt x="0" y="163215"/>
                  <a:pt x="29865" y="133350"/>
                  <a:pt x="66675" y="133350"/>
                </a:cubicBezTo>
                <a:cubicBezTo>
                  <a:pt x="75496" y="133350"/>
                  <a:pt x="83899" y="135086"/>
                  <a:pt x="91609" y="138142"/>
                </a:cubicBezTo>
                <a:cubicBezTo>
                  <a:pt x="82858" y="153005"/>
                  <a:pt x="77788" y="170369"/>
                  <a:pt x="77788" y="188913"/>
                </a:cubicBezTo>
                <a:close/>
                <a:moveTo>
                  <a:pt x="255587" y="322263"/>
                </a:moveTo>
                <a:lnTo>
                  <a:pt x="255587" y="269964"/>
                </a:lnTo>
                <a:cubicBezTo>
                  <a:pt x="269409" y="254337"/>
                  <a:pt x="277813" y="233710"/>
                  <a:pt x="277813" y="211138"/>
                </a:cubicBezTo>
                <a:lnTo>
                  <a:pt x="277813" y="188913"/>
                </a:lnTo>
                <a:cubicBezTo>
                  <a:pt x="277813" y="170369"/>
                  <a:pt x="272742" y="153075"/>
                  <a:pt x="263991" y="138142"/>
                </a:cubicBezTo>
                <a:cubicBezTo>
                  <a:pt x="271701" y="135017"/>
                  <a:pt x="280104" y="133350"/>
                  <a:pt x="288925" y="133350"/>
                </a:cubicBezTo>
                <a:cubicBezTo>
                  <a:pt x="325735" y="133350"/>
                  <a:pt x="355600" y="163215"/>
                  <a:pt x="355600" y="200025"/>
                </a:cubicBezTo>
                <a:lnTo>
                  <a:pt x="355600" y="222250"/>
                </a:lnTo>
                <a:cubicBezTo>
                  <a:pt x="355600" y="238710"/>
                  <a:pt x="346641" y="253087"/>
                  <a:pt x="333375" y="260727"/>
                </a:cubicBezTo>
                <a:lnTo>
                  <a:pt x="333375" y="300038"/>
                </a:lnTo>
                <a:cubicBezTo>
                  <a:pt x="333375" y="318443"/>
                  <a:pt x="318443" y="333375"/>
                  <a:pt x="300038" y="333375"/>
                </a:cubicBezTo>
                <a:lnTo>
                  <a:pt x="277813" y="333375"/>
                </a:lnTo>
                <a:cubicBezTo>
                  <a:pt x="269270" y="333375"/>
                  <a:pt x="261422" y="330180"/>
                  <a:pt x="255518" y="324832"/>
                </a:cubicBezTo>
                <a:cubicBezTo>
                  <a:pt x="255518" y="323999"/>
                  <a:pt x="255587" y="323096"/>
                  <a:pt x="255587" y="322263"/>
                </a:cubicBezTo>
                <a:close/>
                <a:moveTo>
                  <a:pt x="288925" y="22225"/>
                </a:moveTo>
                <a:cubicBezTo>
                  <a:pt x="310391" y="22225"/>
                  <a:pt x="327819" y="39653"/>
                  <a:pt x="327819" y="61119"/>
                </a:cubicBezTo>
                <a:cubicBezTo>
                  <a:pt x="327819" y="82585"/>
                  <a:pt x="310391" y="100013"/>
                  <a:pt x="288925" y="100013"/>
                </a:cubicBezTo>
                <a:cubicBezTo>
                  <a:pt x="267459" y="100013"/>
                  <a:pt x="250031" y="82585"/>
                  <a:pt x="250031" y="61119"/>
                </a:cubicBezTo>
                <a:cubicBezTo>
                  <a:pt x="250031" y="39653"/>
                  <a:pt x="267459" y="22225"/>
                  <a:pt x="288925" y="22225"/>
                </a:cubicBezTo>
                <a:close/>
              </a:path>
            </a:pathLst>
          </a:custGeom>
          <a:solidFill>
            <a:srgbClr val="002554"/>
          </a:solidFill>
        </p:spPr>
      </p:sp>
      <p:sp>
        <p:nvSpPr>
          <p:cNvPr id="15" name="Text 13"/>
          <p:cNvSpPr/>
          <p:nvPr/>
        </p:nvSpPr>
        <p:spPr>
          <a:xfrm>
            <a:off x="6451600" y="2133600"/>
            <a:ext cx="3556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项目团队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69000" y="2603500"/>
            <a:ext cx="406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讨论中的结论和待办可以快速转换为任务，较长的知识页面也能继续转换为任务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41000" y="1905000"/>
            <a:ext cx="4826000" cy="2032000"/>
          </a:xfrm>
          <a:prstGeom prst="rect">
            <a:avLst/>
          </a:prstGeom>
          <a:solidFill>
            <a:srgbClr val="FEF9E7"/>
          </a:solidFill>
        </p:spPr>
      </p:sp>
      <p:sp>
        <p:nvSpPr>
          <p:cNvPr id="18" name="Shape 16"/>
          <p:cNvSpPr/>
          <p:nvPr/>
        </p:nvSpPr>
        <p:spPr>
          <a:xfrm>
            <a:off x="10541000" y="1905000"/>
            <a:ext cx="4826000" cy="508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9" name="Shape 17"/>
          <p:cNvSpPr/>
          <p:nvPr/>
        </p:nvSpPr>
        <p:spPr>
          <a:xfrm>
            <a:off x="10795000" y="2133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" y="66675"/>
                </a:moveTo>
                <a:cubicBezTo>
                  <a:pt x="35560" y="42158"/>
                  <a:pt x="51506" y="22225"/>
                  <a:pt x="71120" y="22225"/>
                </a:cubicBezTo>
                <a:lnTo>
                  <a:pt x="284480" y="22225"/>
                </a:lnTo>
                <a:cubicBezTo>
                  <a:pt x="304094" y="22225"/>
                  <a:pt x="320040" y="42158"/>
                  <a:pt x="320040" y="66675"/>
                </a:cubicBezTo>
                <a:lnTo>
                  <a:pt x="320040" y="233363"/>
                </a:lnTo>
                <a:lnTo>
                  <a:pt x="284480" y="233363"/>
                </a:lnTo>
                <a:lnTo>
                  <a:pt x="284480" y="66675"/>
                </a:lnTo>
                <a:lnTo>
                  <a:pt x="71120" y="66675"/>
                </a:lnTo>
                <a:lnTo>
                  <a:pt x="71120" y="233363"/>
                </a:lnTo>
                <a:lnTo>
                  <a:pt x="35560" y="233363"/>
                </a:lnTo>
                <a:lnTo>
                  <a:pt x="35560" y="66675"/>
                </a:lnTo>
                <a:close/>
                <a:moveTo>
                  <a:pt x="0" y="280035"/>
                </a:moveTo>
                <a:cubicBezTo>
                  <a:pt x="0" y="272673"/>
                  <a:pt x="4778" y="266700"/>
                  <a:pt x="10668" y="266700"/>
                </a:cubicBezTo>
                <a:lnTo>
                  <a:pt x="344932" y="266700"/>
                </a:lnTo>
                <a:cubicBezTo>
                  <a:pt x="350822" y="266700"/>
                  <a:pt x="355600" y="272673"/>
                  <a:pt x="355600" y="280035"/>
                </a:cubicBezTo>
                <a:cubicBezTo>
                  <a:pt x="355600" y="309483"/>
                  <a:pt x="336487" y="333375"/>
                  <a:pt x="312928" y="333375"/>
                </a:cubicBezTo>
                <a:lnTo>
                  <a:pt x="42672" y="333375"/>
                </a:lnTo>
                <a:cubicBezTo>
                  <a:pt x="19113" y="333375"/>
                  <a:pt x="0" y="309483"/>
                  <a:pt x="0" y="280035"/>
                </a:cubicBezTo>
                <a:close/>
                <a:moveTo>
                  <a:pt x="156131" y="145157"/>
                </a:moveTo>
                <a:lnTo>
                  <a:pt x="138906" y="166688"/>
                </a:lnTo>
                <a:lnTo>
                  <a:pt x="156131" y="188218"/>
                </a:lnTo>
                <a:cubicBezTo>
                  <a:pt x="161354" y="194747"/>
                  <a:pt x="161354" y="205303"/>
                  <a:pt x="156131" y="211763"/>
                </a:cubicBezTo>
                <a:cubicBezTo>
                  <a:pt x="150908" y="218222"/>
                  <a:pt x="142462" y="218291"/>
                  <a:pt x="137295" y="211763"/>
                </a:cubicBezTo>
                <a:lnTo>
                  <a:pt x="110625" y="178425"/>
                </a:lnTo>
                <a:cubicBezTo>
                  <a:pt x="105402" y="171896"/>
                  <a:pt x="105402" y="161340"/>
                  <a:pt x="110625" y="154880"/>
                </a:cubicBezTo>
                <a:lnTo>
                  <a:pt x="137295" y="121543"/>
                </a:lnTo>
                <a:cubicBezTo>
                  <a:pt x="142518" y="115014"/>
                  <a:pt x="150963" y="115014"/>
                  <a:pt x="156131" y="121543"/>
                </a:cubicBezTo>
                <a:cubicBezTo>
                  <a:pt x="161298" y="128072"/>
                  <a:pt x="161354" y="138628"/>
                  <a:pt x="156131" y="145088"/>
                </a:cubicBezTo>
                <a:close/>
                <a:moveTo>
                  <a:pt x="218361" y="121543"/>
                </a:moveTo>
                <a:lnTo>
                  <a:pt x="245031" y="154880"/>
                </a:lnTo>
                <a:cubicBezTo>
                  <a:pt x="250253" y="161409"/>
                  <a:pt x="250253" y="171966"/>
                  <a:pt x="245031" y="178425"/>
                </a:cubicBezTo>
                <a:lnTo>
                  <a:pt x="218361" y="211763"/>
                </a:lnTo>
                <a:cubicBezTo>
                  <a:pt x="213138" y="218291"/>
                  <a:pt x="204692" y="218291"/>
                  <a:pt x="199525" y="211763"/>
                </a:cubicBezTo>
                <a:cubicBezTo>
                  <a:pt x="194358" y="205234"/>
                  <a:pt x="194302" y="194677"/>
                  <a:pt x="199525" y="188218"/>
                </a:cubicBezTo>
                <a:lnTo>
                  <a:pt x="216749" y="166688"/>
                </a:lnTo>
                <a:lnTo>
                  <a:pt x="199525" y="145157"/>
                </a:lnTo>
                <a:cubicBezTo>
                  <a:pt x="194302" y="138628"/>
                  <a:pt x="194302" y="128072"/>
                  <a:pt x="199525" y="121612"/>
                </a:cubicBezTo>
                <a:cubicBezTo>
                  <a:pt x="204748" y="115153"/>
                  <a:pt x="213193" y="115084"/>
                  <a:pt x="218361" y="121612"/>
                </a:cubicBezTo>
                <a:close/>
              </a:path>
            </a:pathLst>
          </a:custGeom>
          <a:solidFill>
            <a:srgbClr val="C9A96E"/>
          </a:solidFill>
        </p:spPr>
      </p:sp>
      <p:sp>
        <p:nvSpPr>
          <p:cNvPr id="20" name="Text 18"/>
          <p:cNvSpPr/>
          <p:nvPr/>
        </p:nvSpPr>
        <p:spPr>
          <a:xfrm>
            <a:off x="11277600" y="2133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B795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课程实践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95000" y="2603500"/>
            <a:ext cx="4318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项目需求、实现、测试和反馈材料可以围绕同一平台形成闭环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9000" y="4254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需求满足程度评估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889000" y="4762500"/>
          <a:ext cx="14478000" cy="3302000"/>
        </p:xfrm>
        <a:graphic>
          <a:graphicData uri="http://schemas.openxmlformats.org/drawingml/2006/table">
            <a:tbl>
              <a:tblPr/>
              <a:tblGrid>
                <a:gridCol w="4343400"/>
                <a:gridCol w="5791200"/>
                <a:gridCol w="434340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需求维度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已实现能力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满足程度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便签管理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CRUD、时间线、folder 过滤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已满足 MVP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知识页面管理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CRUD、Markdown 编辑、文件夹树、导入导出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已满足 v1.2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任务看板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三列</a:t>
                      </a: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看板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、状态筛选、优先级、截止日期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已满足 MVP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内容转换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便签→知识页、便签→任务、知识页→任务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已满足 v1.2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内容组织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标签、全局搜索、文件夹树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39C12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基础能力，可增强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部署与运行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Docker Compose、README、健康检查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已满足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889000" y="8255000"/>
            <a:ext cx="14478000" cy="355600"/>
          </a:xfrm>
          <a:prstGeom prst="rect">
            <a:avLst/>
          </a:prstGeom>
          <a:solidFill>
            <a:srgbClr val="FADBD8"/>
          </a:solidFill>
        </p:spPr>
      </p:sp>
      <p:sp>
        <p:nvSpPr>
          <p:cNvPr id="25" name="Text 22"/>
          <p:cNvSpPr/>
          <p:nvPr/>
        </p:nvSpPr>
        <p:spPr>
          <a:xfrm>
            <a:off x="1079500" y="8280400"/>
            <a:ext cx="1371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922B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待改进</a:t>
            </a:r>
            <a:r>
              <a:rPr lang="en-US" sz="1200" dirty="0">
                <a:solidFill>
                  <a:srgbClr val="922B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：文件夹缺少重命名/批量移动、双向链接体验较基础、前端自动化测试覆盖不足、搜索排序有提升空间</a:t>
            </a:r>
            <a:endParaRPr lang="en-US" sz="1200" dirty="0"/>
          </a:p>
        </p:txBody>
      </p:sp>
      <p:pic>
        <p:nvPicPr>
          <p:cNvPr id="26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5" name="Text 3"/>
          <p:cNvSpPr/>
          <p:nvPr/>
        </p:nvSpPr>
        <p:spPr>
          <a:xfrm>
            <a:off x="1016000" y="4572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协作与实践挑战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6000" y="53340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智能辅助与工程问题解决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7874000"/>
            <a:ext cx="14224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pic>
        <p:nvPicPr>
          <p:cNvPr id="8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4732000" y="50800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03 软件工程方法的运用  |  04 系统特色与创新亮点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AI协作与实践挑战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 AI 合作完成的内容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Shape 4"/>
          <p:cNvSpPr/>
          <p:nvPr/>
        </p:nvSpPr>
        <p:spPr>
          <a:xfrm>
            <a:off x="889000" y="1460500"/>
            <a:ext cx="14478000" cy="6985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7" name="Shape 5"/>
          <p:cNvSpPr/>
          <p:nvPr/>
        </p:nvSpPr>
        <p:spPr>
          <a:xfrm>
            <a:off x="889000" y="1460500"/>
            <a:ext cx="50800" cy="6985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8" name="Text 6"/>
          <p:cNvSpPr/>
          <p:nvPr/>
        </p:nvSpPr>
        <p:spPr>
          <a:xfrm>
            <a:off x="1143000" y="1549400"/>
            <a:ext cx="1397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角色定位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：辅助开发和工程提效工具，</a:t>
            </a: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不替代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团队进行需求决策或最终验收。团队成员负责确定选题方向、MVP 范围、功能取舍、代码合并和最终交付。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9000" y="2413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协作内容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89000" y="2895600"/>
            <a:ext cx="33655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9000" y="2895600"/>
            <a:ext cx="3365500" cy="508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12" name="Shape 10"/>
          <p:cNvSpPr/>
          <p:nvPr/>
        </p:nvSpPr>
        <p:spPr>
          <a:xfrm>
            <a:off x="1143000" y="311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44450"/>
                </a:moveTo>
                <a:cubicBezTo>
                  <a:pt x="0" y="19933"/>
                  <a:pt x="26577" y="0"/>
                  <a:pt x="59267" y="0"/>
                </a:cubicBezTo>
                <a:lnTo>
                  <a:pt x="197710" y="0"/>
                </a:lnTo>
                <a:cubicBezTo>
                  <a:pt x="213453" y="0"/>
                  <a:pt x="228547" y="4653"/>
                  <a:pt x="239660" y="12988"/>
                </a:cubicBezTo>
                <a:lnTo>
                  <a:pt x="338283" y="87025"/>
                </a:lnTo>
                <a:cubicBezTo>
                  <a:pt x="349396" y="95359"/>
                  <a:pt x="355600" y="106680"/>
                  <a:pt x="355600" y="118487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92617" y="40630"/>
                </a:moveTo>
                <a:lnTo>
                  <a:pt x="192617" y="105569"/>
                </a:lnTo>
                <a:cubicBezTo>
                  <a:pt x="192617" y="114806"/>
                  <a:pt x="202525" y="122238"/>
                  <a:pt x="214842" y="122238"/>
                </a:cubicBezTo>
                <a:lnTo>
                  <a:pt x="301427" y="122238"/>
                </a:lnTo>
                <a:lnTo>
                  <a:pt x="192617" y="40630"/>
                </a:lnTo>
                <a:close/>
                <a:moveTo>
                  <a:pt x="111125" y="177800"/>
                </a:moveTo>
                <a:cubicBezTo>
                  <a:pt x="98809" y="177800"/>
                  <a:pt x="88900" y="185231"/>
                  <a:pt x="88900" y="194469"/>
                </a:cubicBezTo>
                <a:cubicBezTo>
                  <a:pt x="88900" y="203706"/>
                  <a:pt x="98809" y="211138"/>
                  <a:pt x="111125" y="211138"/>
                </a:cubicBezTo>
                <a:lnTo>
                  <a:pt x="244475" y="211138"/>
                </a:lnTo>
                <a:cubicBezTo>
                  <a:pt x="256791" y="211138"/>
                  <a:pt x="266700" y="203706"/>
                  <a:pt x="266700" y="194469"/>
                </a:cubicBezTo>
                <a:cubicBezTo>
                  <a:pt x="266700" y="185231"/>
                  <a:pt x="256791" y="177800"/>
                  <a:pt x="244475" y="177800"/>
                </a:cubicBezTo>
                <a:lnTo>
                  <a:pt x="111125" y="177800"/>
                </a:lnTo>
                <a:close/>
                <a:moveTo>
                  <a:pt x="111125" y="244475"/>
                </a:moveTo>
                <a:cubicBezTo>
                  <a:pt x="98809" y="244475"/>
                  <a:pt x="88900" y="251906"/>
                  <a:pt x="88900" y="261144"/>
                </a:cubicBezTo>
                <a:cubicBezTo>
                  <a:pt x="88900" y="270381"/>
                  <a:pt x="98809" y="277813"/>
                  <a:pt x="111125" y="277813"/>
                </a:cubicBezTo>
                <a:lnTo>
                  <a:pt x="244475" y="277813"/>
                </a:lnTo>
                <a:cubicBezTo>
                  <a:pt x="256791" y="277813"/>
                  <a:pt x="266700" y="270381"/>
                  <a:pt x="266700" y="261144"/>
                </a:cubicBezTo>
                <a:cubicBezTo>
                  <a:pt x="266700" y="251906"/>
                  <a:pt x="256791" y="244475"/>
                  <a:pt x="244475" y="244475"/>
                </a:cubicBezTo>
                <a:lnTo>
                  <a:pt x="111125" y="244475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13" name="Text 11"/>
          <p:cNvSpPr/>
          <p:nvPr/>
        </p:nvSpPr>
        <p:spPr>
          <a:xfrm>
            <a:off x="1143000" y="3556000"/>
            <a:ext cx="28575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需求与文档阶段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937000"/>
            <a:ext cx="28575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协助整理项目背景、痛点分析、MVP 优先级划分、验收要点和展示逻辑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08500" y="2895600"/>
            <a:ext cx="33655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8500" y="2895600"/>
            <a:ext cx="3365500" cy="50800"/>
          </a:xfrm>
          <a:prstGeom prst="rect">
            <a:avLst/>
          </a:prstGeom>
          <a:solidFill>
            <a:srgbClr val="002554"/>
          </a:solidFill>
        </p:spPr>
      </p:sp>
      <p:sp>
        <p:nvSpPr>
          <p:cNvPr id="17" name="Shape 15"/>
          <p:cNvSpPr/>
          <p:nvPr/>
        </p:nvSpPr>
        <p:spPr>
          <a:xfrm>
            <a:off x="4762500" y="311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002554"/>
          </a:solidFill>
        </p:spPr>
      </p:sp>
      <p:sp>
        <p:nvSpPr>
          <p:cNvPr id="18" name="Text 16"/>
          <p:cNvSpPr/>
          <p:nvPr/>
        </p:nvSpPr>
        <p:spPr>
          <a:xfrm>
            <a:off x="4762500" y="3556000"/>
            <a:ext cx="28575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0255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开发阶段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62500" y="3937000"/>
            <a:ext cx="28575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协助阅读代码结构，定位环境变量、数据库连接、JWT 配置、Hono 错误处理中间件等问题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28000" y="2895600"/>
            <a:ext cx="33655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8000" y="2895600"/>
            <a:ext cx="3365500" cy="508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Shape 20"/>
          <p:cNvSpPr/>
          <p:nvPr/>
        </p:nvSpPr>
        <p:spPr>
          <a:xfrm>
            <a:off x="8382000" y="311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946" y="6529"/>
                </a:moveTo>
                <a:cubicBezTo>
                  <a:pt x="229265" y="-2153"/>
                  <a:pt x="215166" y="-2153"/>
                  <a:pt x="206484" y="6529"/>
                </a:cubicBezTo>
                <a:cubicBezTo>
                  <a:pt x="197803" y="15210"/>
                  <a:pt x="197803" y="29309"/>
                  <a:pt x="206484" y="37991"/>
                </a:cubicBezTo>
                <a:lnTo>
                  <a:pt x="213013" y="44450"/>
                </a:lnTo>
                <a:lnTo>
                  <a:pt x="19516" y="237946"/>
                </a:lnTo>
                <a:cubicBezTo>
                  <a:pt x="7015" y="250448"/>
                  <a:pt x="0" y="267395"/>
                  <a:pt x="0" y="28510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70495" y="355600"/>
                </a:lnTo>
                <a:cubicBezTo>
                  <a:pt x="88205" y="355600"/>
                  <a:pt x="105152" y="348585"/>
                  <a:pt x="117654" y="336084"/>
                </a:cubicBezTo>
                <a:lnTo>
                  <a:pt x="311150" y="142587"/>
                </a:lnTo>
                <a:lnTo>
                  <a:pt x="317679" y="149116"/>
                </a:lnTo>
                <a:cubicBezTo>
                  <a:pt x="326360" y="157797"/>
                  <a:pt x="340459" y="157797"/>
                  <a:pt x="349141" y="149116"/>
                </a:cubicBezTo>
                <a:cubicBezTo>
                  <a:pt x="357823" y="140434"/>
                  <a:pt x="357823" y="126335"/>
                  <a:pt x="349141" y="117654"/>
                </a:cubicBezTo>
                <a:lnTo>
                  <a:pt x="238016" y="6529"/>
                </a:lnTo>
                <a:close/>
                <a:moveTo>
                  <a:pt x="142587" y="177800"/>
                </a:moveTo>
                <a:lnTo>
                  <a:pt x="244475" y="75912"/>
                </a:lnTo>
                <a:lnTo>
                  <a:pt x="279688" y="111125"/>
                </a:lnTo>
                <a:lnTo>
                  <a:pt x="213013" y="177800"/>
                </a:lnTo>
                <a:lnTo>
                  <a:pt x="142518" y="177800"/>
                </a:lnTo>
                <a:close/>
              </a:path>
            </a:pathLst>
          </a:custGeom>
          <a:solidFill>
            <a:srgbClr val="C9A96E"/>
          </a:solidFill>
        </p:spPr>
      </p:sp>
      <p:sp>
        <p:nvSpPr>
          <p:cNvPr id="23" name="Text 21"/>
          <p:cNvSpPr/>
          <p:nvPr/>
        </p:nvSpPr>
        <p:spPr>
          <a:xfrm>
            <a:off x="8382000" y="3556000"/>
            <a:ext cx="28575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B795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测试阶段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82000" y="3937000"/>
            <a:ext cx="28575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协助提出认证、CRUD、转换、鉴权失败和边界输入等测试场景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1747500" y="2895600"/>
            <a:ext cx="33655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47500" y="2895600"/>
            <a:ext cx="3365500" cy="508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27" name="Shape 25"/>
          <p:cNvSpPr/>
          <p:nvPr/>
        </p:nvSpPr>
        <p:spPr>
          <a:xfrm>
            <a:off x="12001500" y="311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4800" y="355600"/>
                </a:moveTo>
                <a:lnTo>
                  <a:pt x="76200" y="355600"/>
                </a:lnTo>
                <a:cubicBezTo>
                  <a:pt x="34131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34131" y="0"/>
                  <a:pt x="76200" y="0"/>
                </a:cubicBezTo>
                <a:lnTo>
                  <a:pt x="317500" y="0"/>
                </a:lnTo>
                <a:cubicBezTo>
                  <a:pt x="338534" y="0"/>
                  <a:pt x="355600" y="14932"/>
                  <a:pt x="355600" y="33337"/>
                </a:cubicBezTo>
                <a:lnTo>
                  <a:pt x="355600" y="233363"/>
                </a:lnTo>
                <a:cubicBezTo>
                  <a:pt x="355600" y="247878"/>
                  <a:pt x="344964" y="260241"/>
                  <a:pt x="330200" y="264825"/>
                </a:cubicBezTo>
                <a:lnTo>
                  <a:pt x="330200" y="311150"/>
                </a:lnTo>
                <a:cubicBezTo>
                  <a:pt x="344249" y="311150"/>
                  <a:pt x="355600" y="321082"/>
                  <a:pt x="355600" y="333375"/>
                </a:cubicBezTo>
                <a:cubicBezTo>
                  <a:pt x="355600" y="345668"/>
                  <a:pt x="344249" y="355600"/>
                  <a:pt x="330200" y="355600"/>
                </a:cubicBezTo>
                <a:lnTo>
                  <a:pt x="304800" y="355600"/>
                </a:lnTo>
                <a:close/>
                <a:moveTo>
                  <a:pt x="76200" y="266700"/>
                </a:moveTo>
                <a:cubicBezTo>
                  <a:pt x="62151" y="266700"/>
                  <a:pt x="50800" y="276632"/>
                  <a:pt x="50800" y="288925"/>
                </a:cubicBezTo>
                <a:cubicBezTo>
                  <a:pt x="50800" y="301218"/>
                  <a:pt x="62151" y="311150"/>
                  <a:pt x="76200" y="311150"/>
                </a:cubicBezTo>
                <a:lnTo>
                  <a:pt x="279400" y="311150"/>
                </a:lnTo>
                <a:lnTo>
                  <a:pt x="279400" y="266700"/>
                </a:lnTo>
                <a:lnTo>
                  <a:pt x="76200" y="266700"/>
                </a:lnTo>
                <a:close/>
                <a:moveTo>
                  <a:pt x="101600" y="105569"/>
                </a:moveTo>
                <a:cubicBezTo>
                  <a:pt x="101600" y="114806"/>
                  <a:pt x="110093" y="122238"/>
                  <a:pt x="120650" y="122238"/>
                </a:cubicBezTo>
                <a:lnTo>
                  <a:pt x="260350" y="122238"/>
                </a:lnTo>
                <a:cubicBezTo>
                  <a:pt x="270907" y="122238"/>
                  <a:pt x="279400" y="114806"/>
                  <a:pt x="279400" y="105569"/>
                </a:cubicBezTo>
                <a:cubicBezTo>
                  <a:pt x="279400" y="96331"/>
                  <a:pt x="270907" y="88900"/>
                  <a:pt x="260350" y="88900"/>
                </a:cubicBezTo>
                <a:lnTo>
                  <a:pt x="120650" y="88900"/>
                </a:lnTo>
                <a:cubicBezTo>
                  <a:pt x="110093" y="88900"/>
                  <a:pt x="101600" y="96331"/>
                  <a:pt x="101600" y="105569"/>
                </a:cubicBezTo>
                <a:close/>
                <a:moveTo>
                  <a:pt x="120650" y="155575"/>
                </a:moveTo>
                <a:cubicBezTo>
                  <a:pt x="110093" y="155575"/>
                  <a:pt x="101600" y="163006"/>
                  <a:pt x="101600" y="172244"/>
                </a:cubicBezTo>
                <a:cubicBezTo>
                  <a:pt x="101600" y="181481"/>
                  <a:pt x="110093" y="188913"/>
                  <a:pt x="120650" y="188913"/>
                </a:cubicBezTo>
                <a:lnTo>
                  <a:pt x="260350" y="188913"/>
                </a:lnTo>
                <a:cubicBezTo>
                  <a:pt x="270907" y="188913"/>
                  <a:pt x="279400" y="181481"/>
                  <a:pt x="279400" y="172244"/>
                </a:cubicBezTo>
                <a:cubicBezTo>
                  <a:pt x="279400" y="163006"/>
                  <a:pt x="270907" y="155575"/>
                  <a:pt x="260350" y="155575"/>
                </a:cubicBezTo>
                <a:lnTo>
                  <a:pt x="120650" y="155575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28" name="Text 26"/>
          <p:cNvSpPr/>
          <p:nvPr/>
        </p:nvSpPr>
        <p:spPr>
          <a:xfrm>
            <a:off x="12001500" y="3556000"/>
            <a:ext cx="2857500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材料阶段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001500" y="3937000"/>
            <a:ext cx="28575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协助把项目实现与软件工程方法进行对应，生成课程设计报告和汇报材料初稿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9000" y="5715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协作边界与质量控制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89000" y="6197600"/>
            <a:ext cx="14478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6350000"/>
            <a:ext cx="1397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代码层面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：AI 修改必须基于现有仓库结构和测试结果，不接受脱离项目上下文的重写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文档层面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：AI 输出必须与实际实现一致，不能夸大未完成能力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数据层面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：测试和报告中的数据必须以仓库文件、目标 GitHub 分支内容和课程材料为依据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复核机制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：所有 AI 生成内容均需由团队成员复核，以 xiaochangshen/v1.2-folder-tree-and-task-fixes 为事实来源</a:t>
            </a:r>
            <a:endParaRPr lang="en-US" sz="1400" dirty="0"/>
          </a:p>
        </p:txBody>
      </p:sp>
      <p:pic>
        <p:nvPicPr>
          <p:cNvPr id="33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03 软件工程方法的运用  |  04 系统特色与创新亮点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AI协作与实践挑战</a:t>
            </a: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实践中的挑战与解决方案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889000" y="1498600"/>
          <a:ext cx="14478000" cy="6731000"/>
        </p:xfrm>
        <a:graphic>
          <a:graphicData uri="http://schemas.openxmlformats.org/drawingml/2006/table">
            <a:tbl>
              <a:tblPr/>
              <a:tblGrid>
                <a:gridCol w="2606040"/>
                <a:gridCol w="5067300"/>
                <a:gridCol w="6804660"/>
              </a:tblGrid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挑战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表现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解决方案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范围控制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最初设想包含知识图谱、番茄钟、记忆卡片等多项增强功能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使用 MVP 和 P0/P1/P2 分层，优先保证闭环流程稳定，将非核心能力后置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环境配置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Node、pnpm、Docker、数据库端口和环境变量因成员机器差异导致启动失败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使用 Docker Compose、.env.example、README 启动步骤和健康检查约束环境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接口联调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前后端字段、枚举和错误格式容易不一致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将 schema、validator 和类型放入 shared 包，并在后端统一错误处理中间件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文件夹树设计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引入独立目录表会增加迁移、权限和级联移动复杂度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v1.2 分支先使用 folder 路径字段和聚合接口构建树形目录，满足轻量组织需求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任务日期兼容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前端日期输入框提交 YYYY-MM-DD，严格 ISO 校验会误拒绝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将 dueDate 校验调整为 Date.parse 可解析的字符串，兼容纯日期与 ISO datetime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转换一致性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便签转换为页面或任务时可能产生部分成功、部分失败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使用数据库事务包裹检查、插入、更新和标签复制，确保原子性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89000" y="8318500"/>
            <a:ext cx="13970000" cy="3302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8" name="Text 5"/>
          <p:cNvSpPr/>
          <p:nvPr/>
        </p:nvSpPr>
        <p:spPr>
          <a:xfrm>
            <a:off x="1079500" y="8343900"/>
            <a:ext cx="13462000" cy="279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核心策略</a:t>
            </a:r>
            <a:r>
              <a:rPr lang="en-US" sz="1200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：风险优先——短周期内无法达到大型项目的完整测试体系，优先补齐后端核心 API 和校验器测试，前端通过人工走查验证可用性</a:t>
            </a:r>
            <a:endParaRPr lang="en-US" sz="1200" dirty="0"/>
          </a:p>
        </p:txBody>
      </p:sp>
      <p:pic>
        <p:nvPicPr>
          <p:cNvPr id="9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1016000" y="3556000"/>
            <a:ext cx="1524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16000" y="4318000"/>
            <a:ext cx="1016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5" name="Text 3"/>
          <p:cNvSpPr/>
          <p:nvPr/>
        </p:nvSpPr>
        <p:spPr>
          <a:xfrm>
            <a:off x="1016000" y="4572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系统演示与总结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6000" y="53340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演示视频与项目回顾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7874000"/>
            <a:ext cx="14224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pic>
        <p:nvPicPr>
          <p:cNvPr id="8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14732000" y="50800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03 软件工程方法的运用  |  04 系统特色与创新亮点  |  05 AI协作与实践挑战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系统演示要点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460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推荐演示路线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89000" y="2095500"/>
            <a:ext cx="14478000" cy="381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8" name="Shape 6"/>
          <p:cNvSpPr/>
          <p:nvPr/>
        </p:nvSpPr>
        <p:spPr>
          <a:xfrm>
            <a:off x="1333500" y="1993900"/>
            <a:ext cx="228600" cy="228600"/>
          </a:xfrm>
          <a:prstGeom prst="ellipse">
            <a:avLst/>
          </a:prstGeom>
          <a:solidFill>
            <a:srgbClr val="115740"/>
          </a:solidFill>
        </p:spPr>
      </p:sp>
      <p:sp>
        <p:nvSpPr>
          <p:cNvPr id="9" name="Text 7"/>
          <p:cNvSpPr/>
          <p:nvPr/>
        </p:nvSpPr>
        <p:spPr>
          <a:xfrm>
            <a:off x="889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注册登录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认证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11500" y="1993900"/>
            <a:ext cx="228600" cy="228600"/>
          </a:xfrm>
          <a:prstGeom prst="ellipse">
            <a:avLst/>
          </a:prstGeom>
          <a:solidFill>
            <a:srgbClr val="115740"/>
          </a:solidFill>
        </p:spPr>
      </p:sp>
      <p:sp>
        <p:nvSpPr>
          <p:cNvPr id="11" name="Text 9"/>
          <p:cNvSpPr/>
          <p:nvPr/>
        </p:nvSpPr>
        <p:spPr>
          <a:xfrm>
            <a:off x="2667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创建便签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时间线展示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89500" y="1993900"/>
            <a:ext cx="228600" cy="228600"/>
          </a:xfrm>
          <a:prstGeom prst="ellipse">
            <a:avLst/>
          </a:prstGeom>
          <a:solidFill>
            <a:srgbClr val="115740"/>
          </a:solidFill>
        </p:spPr>
      </p:sp>
      <p:sp>
        <p:nvSpPr>
          <p:cNvPr id="13" name="Text 11"/>
          <p:cNvSpPr/>
          <p:nvPr/>
        </p:nvSpPr>
        <p:spPr>
          <a:xfrm>
            <a:off x="4445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转知识页面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Markdown 编辑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7500" y="1993900"/>
            <a:ext cx="228600" cy="228600"/>
          </a:xfrm>
          <a:prstGeom prst="ellipse">
            <a:avLst/>
          </a:prstGeom>
          <a:solidFill>
            <a:srgbClr val="002554"/>
          </a:solidFill>
        </p:spPr>
      </p:sp>
      <p:sp>
        <p:nvSpPr>
          <p:cNvPr id="15" name="Text 13"/>
          <p:cNvSpPr/>
          <p:nvPr/>
        </p:nvSpPr>
        <p:spPr>
          <a:xfrm>
            <a:off x="6223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文件夹树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轻量组织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45500" y="1993900"/>
            <a:ext cx="228600" cy="228600"/>
          </a:xfrm>
          <a:prstGeom prst="ellipse">
            <a:avLst/>
          </a:prstGeom>
          <a:solidFill>
            <a:srgbClr val="002554"/>
          </a:solidFill>
        </p:spPr>
      </p:sp>
      <p:sp>
        <p:nvSpPr>
          <p:cNvPr id="17" name="Text 15"/>
          <p:cNvSpPr/>
          <p:nvPr/>
        </p:nvSpPr>
        <p:spPr>
          <a:xfrm>
            <a:off x="8001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导入导出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.md / .txt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23500" y="1993900"/>
            <a:ext cx="228600" cy="228600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19" name="Text 17"/>
          <p:cNvSpPr/>
          <p:nvPr/>
        </p:nvSpPr>
        <p:spPr>
          <a:xfrm>
            <a:off x="9779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转任务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保留来源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001500" y="1993900"/>
            <a:ext cx="228600" cy="228600"/>
          </a:xfrm>
          <a:prstGeom prst="ellipse">
            <a:avLst/>
          </a:prstGeom>
          <a:solidFill>
            <a:srgbClr val="C9A96E"/>
          </a:solidFill>
        </p:spPr>
      </p:sp>
      <p:sp>
        <p:nvSpPr>
          <p:cNvPr id="21" name="Text 19"/>
          <p:cNvSpPr/>
          <p:nvPr/>
        </p:nvSpPr>
        <p:spPr>
          <a:xfrm>
            <a:off x="11557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状态推进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79500" y="1993900"/>
            <a:ext cx="228600" cy="228600"/>
          </a:xfrm>
          <a:prstGeom prst="ellipse">
            <a:avLst/>
          </a:prstGeom>
          <a:solidFill>
            <a:srgbClr val="115740"/>
          </a:solidFill>
        </p:spPr>
      </p:sp>
      <p:sp>
        <p:nvSpPr>
          <p:cNvPr id="23" name="Text 21"/>
          <p:cNvSpPr/>
          <p:nvPr/>
        </p:nvSpPr>
        <p:spPr>
          <a:xfrm>
            <a:off x="13335000" y="2349500"/>
            <a:ext cx="152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标签与搜索</a:t>
            </a:r>
            <a:endParaRPr lang="en-US" sz="12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内容组织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9000" y="34925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关键展示要点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89000" y="4000500"/>
            <a:ext cx="3365500" cy="1778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26" name="Shape 24"/>
          <p:cNvSpPr/>
          <p:nvPr/>
        </p:nvSpPr>
        <p:spPr>
          <a:xfrm>
            <a:off x="1143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27" name="Text 25"/>
          <p:cNvSpPr/>
          <p:nvPr/>
        </p:nvSpPr>
        <p:spPr>
          <a:xfrm>
            <a:off x="1143000" y="4635500"/>
            <a:ext cx="28575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核心闭环流程的顺畅性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从便签到知识页到任务的完整转换链路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08500" y="4000500"/>
            <a:ext cx="3365500" cy="1778000"/>
          </a:xfrm>
          <a:prstGeom prst="rect">
            <a:avLst/>
          </a:prstGeom>
          <a:solidFill>
            <a:srgbClr val="E5EAF0"/>
          </a:solidFill>
        </p:spPr>
      </p:sp>
      <p:sp>
        <p:nvSpPr>
          <p:cNvPr id="29" name="Shape 27"/>
          <p:cNvSpPr/>
          <p:nvPr/>
        </p:nvSpPr>
        <p:spPr>
          <a:xfrm>
            <a:off x="47625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541" y="15071"/>
                </a:moveTo>
                <a:cubicBezTo>
                  <a:pt x="312331" y="-139"/>
                  <a:pt x="287744" y="-139"/>
                  <a:pt x="272534" y="15071"/>
                </a:cubicBezTo>
                <a:lnTo>
                  <a:pt x="255587" y="32018"/>
                </a:lnTo>
                <a:lnTo>
                  <a:pt x="323582" y="100013"/>
                </a:lnTo>
                <a:lnTo>
                  <a:pt x="340529" y="83066"/>
                </a:lnTo>
                <a:cubicBezTo>
                  <a:pt x="355739" y="67856"/>
                  <a:pt x="355739" y="43269"/>
                  <a:pt x="340529" y="28059"/>
                </a:cubicBezTo>
                <a:lnTo>
                  <a:pt x="327541" y="15071"/>
                </a:lnTo>
                <a:close/>
                <a:moveTo>
                  <a:pt x="119737" y="167868"/>
                </a:moveTo>
                <a:cubicBezTo>
                  <a:pt x="115501" y="172105"/>
                  <a:pt x="112236" y="177314"/>
                  <a:pt x="110361" y="183078"/>
                </a:cubicBezTo>
                <a:lnTo>
                  <a:pt x="89803" y="244753"/>
                </a:lnTo>
                <a:cubicBezTo>
                  <a:pt x="87789" y="250726"/>
                  <a:pt x="89386" y="257324"/>
                  <a:pt x="93831" y="261838"/>
                </a:cubicBezTo>
                <a:cubicBezTo>
                  <a:pt x="98276" y="266353"/>
                  <a:pt x="104874" y="267881"/>
                  <a:pt x="110917" y="265867"/>
                </a:cubicBezTo>
                <a:lnTo>
                  <a:pt x="172591" y="245308"/>
                </a:lnTo>
                <a:cubicBezTo>
                  <a:pt x="178286" y="243433"/>
                  <a:pt x="183495" y="240169"/>
                  <a:pt x="187801" y="235932"/>
                </a:cubicBezTo>
                <a:lnTo>
                  <a:pt x="300038" y="123557"/>
                </a:lnTo>
                <a:lnTo>
                  <a:pt x="232043" y="55563"/>
                </a:lnTo>
                <a:lnTo>
                  <a:pt x="119737" y="167868"/>
                </a:lnTo>
                <a:close/>
                <a:moveTo>
                  <a:pt x="66675" y="44450"/>
                </a:moveTo>
                <a:cubicBezTo>
                  <a:pt x="29865" y="44450"/>
                  <a:pt x="0" y="74315"/>
                  <a:pt x="0" y="11112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244475" y="355600"/>
                </a:lnTo>
                <a:cubicBezTo>
                  <a:pt x="281285" y="355600"/>
                  <a:pt x="311150" y="325735"/>
                  <a:pt x="311150" y="288925"/>
                </a:cubicBezTo>
                <a:lnTo>
                  <a:pt x="311150" y="222250"/>
                </a:lnTo>
                <a:cubicBezTo>
                  <a:pt x="311150" y="209957"/>
                  <a:pt x="301218" y="200025"/>
                  <a:pt x="288925" y="200025"/>
                </a:cubicBezTo>
                <a:cubicBezTo>
                  <a:pt x="276632" y="200025"/>
                  <a:pt x="266700" y="209957"/>
                  <a:pt x="266700" y="222250"/>
                </a:cubicBezTo>
                <a:lnTo>
                  <a:pt x="266700" y="288925"/>
                </a:lnTo>
                <a:cubicBezTo>
                  <a:pt x="266700" y="301218"/>
                  <a:pt x="256768" y="311150"/>
                  <a:pt x="244475" y="311150"/>
                </a:cubicBezTo>
                <a:lnTo>
                  <a:pt x="66675" y="311150"/>
                </a:lnTo>
                <a:cubicBezTo>
                  <a:pt x="54382" y="311150"/>
                  <a:pt x="44450" y="301218"/>
                  <a:pt x="44450" y="288925"/>
                </a:cubicBezTo>
                <a:lnTo>
                  <a:pt x="44450" y="111125"/>
                </a:lnTo>
                <a:cubicBezTo>
                  <a:pt x="44450" y="98832"/>
                  <a:pt x="54382" y="88900"/>
                  <a:pt x="66675" y="88900"/>
                </a:cubicBezTo>
                <a:lnTo>
                  <a:pt x="133350" y="88900"/>
                </a:lnTo>
                <a:cubicBezTo>
                  <a:pt x="145643" y="88900"/>
                  <a:pt x="155575" y="78968"/>
                  <a:pt x="155575" y="66675"/>
                </a:cubicBezTo>
                <a:cubicBezTo>
                  <a:pt x="155575" y="54382"/>
                  <a:pt x="145643" y="44450"/>
                  <a:pt x="133350" y="44450"/>
                </a:cubicBezTo>
                <a:lnTo>
                  <a:pt x="66675" y="44450"/>
                </a:lnTo>
                <a:close/>
              </a:path>
            </a:pathLst>
          </a:custGeom>
          <a:solidFill>
            <a:srgbClr val="002554"/>
          </a:solidFill>
        </p:spPr>
      </p:sp>
      <p:sp>
        <p:nvSpPr>
          <p:cNvPr id="30" name="Text 28"/>
          <p:cNvSpPr/>
          <p:nvPr/>
        </p:nvSpPr>
        <p:spPr>
          <a:xfrm>
            <a:off x="4762500" y="4635500"/>
            <a:ext cx="28575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Markdown 实时编辑体验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CodeMirror 编辑器 + 实时预览的双栏模式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28000" y="4000500"/>
            <a:ext cx="3365500" cy="1778000"/>
          </a:xfrm>
          <a:prstGeom prst="rect">
            <a:avLst/>
          </a:prstGeom>
          <a:solidFill>
            <a:srgbClr val="FEF9E7"/>
          </a:solidFill>
        </p:spPr>
      </p:sp>
      <p:sp>
        <p:nvSpPr>
          <p:cNvPr id="32" name="Shape 30"/>
          <p:cNvSpPr/>
          <p:nvPr/>
        </p:nvSpPr>
        <p:spPr>
          <a:xfrm>
            <a:off x="8382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633" y="16669"/>
                </a:moveTo>
                <a:cubicBezTo>
                  <a:pt x="29633" y="7431"/>
                  <a:pt x="23028" y="0"/>
                  <a:pt x="14817" y="0"/>
                </a:cubicBezTo>
                <a:cubicBezTo>
                  <a:pt x="6606" y="0"/>
                  <a:pt x="0" y="7431"/>
                  <a:pt x="0" y="16669"/>
                </a:cubicBezTo>
                <a:lnTo>
                  <a:pt x="0" y="272256"/>
                </a:lnTo>
                <a:cubicBezTo>
                  <a:pt x="0" y="293717"/>
                  <a:pt x="15496" y="311150"/>
                  <a:pt x="34572" y="311150"/>
                </a:cubicBezTo>
                <a:lnTo>
                  <a:pt x="148167" y="311150"/>
                </a:lnTo>
                <a:lnTo>
                  <a:pt x="148167" y="277813"/>
                </a:lnTo>
                <a:lnTo>
                  <a:pt x="34572" y="277813"/>
                </a:lnTo>
                <a:cubicBezTo>
                  <a:pt x="31856" y="277813"/>
                  <a:pt x="29633" y="275312"/>
                  <a:pt x="29633" y="272256"/>
                </a:cubicBezTo>
                <a:lnTo>
                  <a:pt x="29633" y="111125"/>
                </a:lnTo>
                <a:lnTo>
                  <a:pt x="148167" y="111125"/>
                </a:lnTo>
                <a:lnTo>
                  <a:pt x="148167" y="77788"/>
                </a:lnTo>
                <a:lnTo>
                  <a:pt x="29633" y="77788"/>
                </a:lnTo>
                <a:lnTo>
                  <a:pt x="29633" y="16669"/>
                </a:lnTo>
                <a:close/>
                <a:moveTo>
                  <a:pt x="207433" y="155575"/>
                </a:moveTo>
                <a:lnTo>
                  <a:pt x="325967" y="155575"/>
                </a:lnTo>
                <a:cubicBezTo>
                  <a:pt x="342327" y="155575"/>
                  <a:pt x="355600" y="140643"/>
                  <a:pt x="355600" y="122238"/>
                </a:cubicBezTo>
                <a:lnTo>
                  <a:pt x="355600" y="55563"/>
                </a:lnTo>
                <a:cubicBezTo>
                  <a:pt x="355600" y="37157"/>
                  <a:pt x="342327" y="22225"/>
                  <a:pt x="325967" y="22225"/>
                </a:cubicBezTo>
                <a:lnTo>
                  <a:pt x="274911" y="22225"/>
                </a:lnTo>
                <a:cubicBezTo>
                  <a:pt x="269663" y="22225"/>
                  <a:pt x="264663" y="19864"/>
                  <a:pt x="260959" y="15696"/>
                </a:cubicBezTo>
                <a:lnTo>
                  <a:pt x="255649" y="9723"/>
                </a:lnTo>
                <a:cubicBezTo>
                  <a:pt x="250093" y="3473"/>
                  <a:pt x="242561" y="-69"/>
                  <a:pt x="234721" y="-69"/>
                </a:cubicBezTo>
                <a:lnTo>
                  <a:pt x="207433" y="0"/>
                </a:lnTo>
                <a:cubicBezTo>
                  <a:pt x="191073" y="0"/>
                  <a:pt x="177800" y="14932"/>
                  <a:pt x="177800" y="33337"/>
                </a:cubicBezTo>
                <a:lnTo>
                  <a:pt x="177800" y="122238"/>
                </a:lnTo>
                <a:cubicBezTo>
                  <a:pt x="177800" y="140643"/>
                  <a:pt x="191073" y="155575"/>
                  <a:pt x="207433" y="155575"/>
                </a:cubicBezTo>
                <a:close/>
                <a:moveTo>
                  <a:pt x="207433" y="355600"/>
                </a:moveTo>
                <a:lnTo>
                  <a:pt x="325967" y="355600"/>
                </a:lnTo>
                <a:cubicBezTo>
                  <a:pt x="342327" y="355600"/>
                  <a:pt x="355600" y="340668"/>
                  <a:pt x="355600" y="322263"/>
                </a:cubicBezTo>
                <a:lnTo>
                  <a:pt x="355600" y="255587"/>
                </a:lnTo>
                <a:cubicBezTo>
                  <a:pt x="355600" y="237182"/>
                  <a:pt x="342327" y="222250"/>
                  <a:pt x="325967" y="222250"/>
                </a:cubicBezTo>
                <a:lnTo>
                  <a:pt x="274911" y="222250"/>
                </a:lnTo>
                <a:cubicBezTo>
                  <a:pt x="269663" y="222250"/>
                  <a:pt x="264663" y="219889"/>
                  <a:pt x="260959" y="215721"/>
                </a:cubicBezTo>
                <a:lnTo>
                  <a:pt x="255649" y="209748"/>
                </a:lnTo>
                <a:cubicBezTo>
                  <a:pt x="250093" y="203498"/>
                  <a:pt x="242561" y="199956"/>
                  <a:pt x="234721" y="199956"/>
                </a:cubicBezTo>
                <a:lnTo>
                  <a:pt x="207433" y="200025"/>
                </a:lnTo>
                <a:cubicBezTo>
                  <a:pt x="191073" y="200025"/>
                  <a:pt x="177800" y="214957"/>
                  <a:pt x="177800" y="233363"/>
                </a:cubicBezTo>
                <a:lnTo>
                  <a:pt x="177800" y="322263"/>
                </a:lnTo>
                <a:cubicBezTo>
                  <a:pt x="177800" y="340668"/>
                  <a:pt x="191073" y="355600"/>
                  <a:pt x="207433" y="355600"/>
                </a:cubicBezTo>
                <a:close/>
              </a:path>
            </a:pathLst>
          </a:custGeom>
          <a:solidFill>
            <a:srgbClr val="C9A96E"/>
          </a:solidFill>
        </p:spPr>
      </p:sp>
      <p:sp>
        <p:nvSpPr>
          <p:cNvPr id="33" name="Text 31"/>
          <p:cNvSpPr/>
          <p:nvPr/>
        </p:nvSpPr>
        <p:spPr>
          <a:xfrm>
            <a:off x="8382000" y="4635500"/>
            <a:ext cx="28575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文件夹树的轻量组织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路径字段聚合实现树形目录，无独立目录表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1747500" y="4000500"/>
            <a:ext cx="3365500" cy="1778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35" name="Shape 33"/>
          <p:cNvSpPr/>
          <p:nvPr/>
        </p:nvSpPr>
        <p:spPr>
          <a:xfrm>
            <a:off x="120015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66675"/>
                </a:moveTo>
                <a:cubicBezTo>
                  <a:pt x="0" y="42158"/>
                  <a:pt x="22781" y="22225"/>
                  <a:pt x="50800" y="22225"/>
                </a:cubicBezTo>
                <a:lnTo>
                  <a:pt x="304800" y="22225"/>
                </a:lnTo>
                <a:cubicBezTo>
                  <a:pt x="332819" y="22225"/>
                  <a:pt x="355600" y="42158"/>
                  <a:pt x="355600" y="66675"/>
                </a:cubicBezTo>
                <a:lnTo>
                  <a:pt x="355600" y="288925"/>
                </a:lnTo>
                <a:cubicBezTo>
                  <a:pt x="355600" y="313442"/>
                  <a:pt x="332819" y="333375"/>
                  <a:pt x="304800" y="333375"/>
                </a:cubicBezTo>
                <a:lnTo>
                  <a:pt x="50800" y="333375"/>
                </a:lnTo>
                <a:cubicBezTo>
                  <a:pt x="22781" y="333375"/>
                  <a:pt x="0" y="313442"/>
                  <a:pt x="0" y="288925"/>
                </a:cubicBezTo>
                <a:lnTo>
                  <a:pt x="0" y="66675"/>
                </a:lnTo>
                <a:close/>
                <a:moveTo>
                  <a:pt x="50800" y="111125"/>
                </a:moveTo>
                <a:lnTo>
                  <a:pt x="50800" y="288925"/>
                </a:lnTo>
                <a:lnTo>
                  <a:pt x="152400" y="288925"/>
                </a:lnTo>
                <a:lnTo>
                  <a:pt x="152400" y="111125"/>
                </a:lnTo>
                <a:lnTo>
                  <a:pt x="50800" y="111125"/>
                </a:lnTo>
                <a:close/>
                <a:moveTo>
                  <a:pt x="304800" y="111125"/>
                </a:moveTo>
                <a:lnTo>
                  <a:pt x="203200" y="111125"/>
                </a:lnTo>
                <a:lnTo>
                  <a:pt x="203200" y="288925"/>
                </a:lnTo>
                <a:lnTo>
                  <a:pt x="304800" y="288925"/>
                </a:lnTo>
                <a:lnTo>
                  <a:pt x="304800" y="111125"/>
                </a:lnTo>
                <a:close/>
              </a:path>
            </a:pathLst>
          </a:custGeom>
          <a:solidFill>
            <a:srgbClr val="115740"/>
          </a:solidFill>
        </p:spPr>
      </p:sp>
      <p:sp>
        <p:nvSpPr>
          <p:cNvPr id="36" name="Text 34"/>
          <p:cNvSpPr/>
          <p:nvPr/>
        </p:nvSpPr>
        <p:spPr>
          <a:xfrm>
            <a:off x="12001500" y="4635500"/>
            <a:ext cx="28575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看板任务推进的直观性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三列</a:t>
            </a:r>
            <a:r>
              <a:rPr lang="zh-CN" alt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看板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状态筛选 + 优先级排序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89000" y="6096000"/>
            <a:ext cx="14478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06500" y="641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115740"/>
          </a:solidFill>
        </p:spPr>
      </p:sp>
      <p:sp>
        <p:nvSpPr>
          <p:cNvPr id="39" name="Text 37"/>
          <p:cNvSpPr/>
          <p:nvPr/>
        </p:nvSpPr>
        <p:spPr>
          <a:xfrm>
            <a:off x="1651000" y="6286500"/>
            <a:ext cx="13462000" cy="88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演示提示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：建议按照上述路线依次展示，重点突出便签→知识页→任务的</a:t>
            </a: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闭环转换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过程。演示视频中应体现系统的响应速度和交互流畅度，以及 Markdown 编辑器的实时预览效果。</a:t>
            </a:r>
            <a:endParaRPr lang="en-US" sz="1400" dirty="0"/>
          </a:p>
        </p:txBody>
      </p:sp>
      <p:pic>
        <p:nvPicPr>
          <p:cNvPr id="40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15740"/>
          </a:solidFill>
        </p:spPr>
      </p:sp>
      <p:sp>
        <p:nvSpPr>
          <p:cNvPr id="3" name="Text 1"/>
          <p:cNvSpPr/>
          <p:nvPr/>
        </p:nvSpPr>
        <p:spPr>
          <a:xfrm>
            <a:off x="889000" y="127000"/>
            <a:ext cx="14478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领域背景与存在的问题  |  02 用户需求与系统目标  |  03 软件工程方法的运用  |  04 系统特色与创新亮点  |  05 AI协作与实践挑战  |  </a:t>
            </a: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系统演示与总结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000" y="6985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团队工作模式与成员贡献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89000" y="1270000"/>
            <a:ext cx="14478000" cy="12700"/>
          </a:xfrm>
          <a:prstGeom prst="rect">
            <a:avLst/>
          </a:prstGeom>
          <a:solidFill>
            <a:srgbClr val="D0D0D0"/>
          </a:solidFill>
        </p:spPr>
      </p:sp>
      <p:sp>
        <p:nvSpPr>
          <p:cNvPr id="6" name="Text 4"/>
          <p:cNvSpPr/>
          <p:nvPr/>
        </p:nvSpPr>
        <p:spPr>
          <a:xfrm>
            <a:off x="889000" y="1460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团队工作模式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9000" y="1905000"/>
            <a:ext cx="14478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小组协作 + 阶段性交付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：前期由组长组织需求捕获、选题汇报和 MVP 范围冻结；中期按前端、后端、全栈和文档测试分工推进；后期围绕演示脚本、测试结果、部署说明和课程材料进行整合。协作中强调</a:t>
            </a:r>
            <a:r>
              <a:rPr lang="en-US" sz="1500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"先完成主流程，再补充增强功能"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9000" y="2921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团队成员贡献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889000" y="3403600"/>
          <a:ext cx="14478000" cy="3302000"/>
        </p:xfrm>
        <a:graphic>
          <a:graphicData uri="http://schemas.openxmlformats.org/drawingml/2006/table">
            <a:tbl>
              <a:tblPr/>
              <a:tblGrid>
                <a:gridCol w="1882140"/>
                <a:gridCol w="3185160"/>
                <a:gridCol w="941070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成员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角色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主要贡献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74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全坤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组长 / 项目管理 / 架构师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组织选题和需求分析，冻结 MVP 范围，制定里程碑与试用脚本，统筹文档、反馈、测试说明和最终交付材料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肖昌珅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后端负责人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负责 Hono API 骨架、认证模块、JWT 鉴权、Docker/PostgreSQL 环境、Drizzle 数据模型、文件夹聚合接口、任务日期兼容修复、接口联调和部署说明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金奕辰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前端负责人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负责 Nuxt 前端页面、便签交互、任务看板、任务创建与状态流转、状态/优先级筛选排序、任务卡片可读性优化和用户界面可用性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杜承敖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全栈开发</a:t>
                      </a:r>
                      <a:endParaRPr lang="en-US" sz="14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负责知识页面 CRUD、Markdown 编辑与实时预览、便签转知识页流程、知识页文件夹侧栏与导入导出、shared 包协同和部分前后端整合</a:t>
                      </a:r>
                      <a:endParaRPr lang="en-US" sz="1300" dirty="0">
                        <a:latin typeface="Quattrocento Sans" pitchFamily="34" charset="0"/>
                        <a:ea typeface="Quattrocento Sans" pitchFamily="34" charset="0"/>
                        <a:cs typeface="Quattrocento Sans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89000" y="7048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协作效果评价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89000" y="7493000"/>
            <a:ext cx="7048500" cy="1016000"/>
          </a:xfrm>
          <a:prstGeom prst="rect">
            <a:avLst/>
          </a:prstGeom>
          <a:solidFill>
            <a:srgbClr val="E8F0EC"/>
          </a:solidFill>
        </p:spPr>
      </p:sp>
      <p:sp>
        <p:nvSpPr>
          <p:cNvPr id="12" name="Text 9"/>
          <p:cNvSpPr/>
          <p:nvPr/>
        </p:nvSpPr>
        <p:spPr>
          <a:xfrm>
            <a:off x="1079500" y="7594600"/>
            <a:ext cx="6667500" cy="81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157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有效做法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：工作拆分到功能模块，使用共享包减少接口沟通成本，用测试结果作为质量基准，用演示路线倒推必要功能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318500" y="7493000"/>
            <a:ext cx="7048500" cy="1016000"/>
          </a:xfrm>
          <a:prstGeom prst="rect">
            <a:avLst/>
          </a:prstGeom>
          <a:solidFill>
            <a:srgbClr val="FADBD8"/>
          </a:solidFill>
        </p:spPr>
      </p:sp>
      <p:sp>
        <p:nvSpPr>
          <p:cNvPr id="14" name="Text 11"/>
          <p:cNvSpPr/>
          <p:nvPr/>
        </p:nvSpPr>
        <p:spPr>
          <a:xfrm>
            <a:off x="8509000" y="7594600"/>
            <a:ext cx="6667500" cy="812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待改进</a:t>
            </a:r>
            <a:r>
              <a:rPr lang="en-US" sz="14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：前端测试和用户反馈分析仍偏后期，部分文档和实现更新之间存在同步压力，后续应加强日常记录和增量验收</a:t>
            </a:r>
            <a:endParaRPr lang="en-US" sz="1400" dirty="0"/>
          </a:p>
        </p:txBody>
      </p:sp>
      <p:pic>
        <p:nvPicPr>
          <p:cNvPr id="15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4986000" y="6985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986000" y="8636000"/>
            <a:ext cx="635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6223000" y="1016000"/>
            <a:ext cx="3810000" cy="3810000"/>
          </a:xfrm>
          <a:prstGeom prst="rect">
            <a:avLst/>
          </a:prstGeom>
        </p:spPr>
      </p:pic>
      <p:pic>
        <p:nvPicPr>
          <p:cNvPr id="3" name="Image 1" descr="https://kimi-img.moonshot.cn/pub/slides/okc/pf5z2q2q76cqy/mnt/agents/images/1__Logo_PNG_SVG_AI_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0" y="1778000"/>
            <a:ext cx="812800" cy="812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48000" y="2921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7112000" y="3873500"/>
            <a:ext cx="2032000" cy="381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6" name="Text 2"/>
          <p:cNvSpPr/>
          <p:nvPr/>
        </p:nvSpPr>
        <p:spPr>
          <a:xfrm>
            <a:off x="3048000" y="4191000"/>
            <a:ext cx="10160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FlowNote · 流知项目组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武汉大学计算机学院（雷军班）· 软件工程课程设计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指导教师：伍春香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048000" y="5969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团队成员：全坤 | 肖昌珅 | 金奕辰 | 杜承敖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588000" y="6858000"/>
            <a:ext cx="5080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5588000" y="7048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二〇二六年七月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2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3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4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5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6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7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8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9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0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1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2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3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4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5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6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7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8.xml><?xml version="1.0" encoding="utf-8"?>
<p:tagLst xmlns:p="http://schemas.openxmlformats.org/presentationml/2006/main">
  <p:tag name="KSO_WM_DIAGRAM_VIRTUALLY_FRAME" val="{&quot;height&quot;:421,&quot;left&quot;:380,&quot;top&quot;:100,&quot;width&quot;:410}"/>
</p:tagLst>
</file>

<file path=ppt/tags/tag19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0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1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2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3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4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5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6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7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8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29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30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31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32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33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34.xml><?xml version="1.0" encoding="utf-8"?>
<p:tagLst xmlns:p="http://schemas.openxmlformats.org/presentationml/2006/main">
  <p:tag name="KSO_WM_DIAGRAM_VIRTUALLY_FRAME" val="{&quot;height&quot;:280,&quot;left&quot;:70,&quot;top&quot;:120,&quot;width&quot;:1140}"/>
</p:tagLst>
</file>

<file path=ppt/tags/tag35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36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37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38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39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0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1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2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3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4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5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6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7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8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49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50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51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52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53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54.xml><?xml version="1.0" encoding="utf-8"?>
<p:tagLst xmlns:p="http://schemas.openxmlformats.org/presentationml/2006/main">
  <p:tag name="KSO_WM_DIAGRAM_VIRTUALLY_FRAME" val="{&quot;height&quot;:280,&quot;left&quot;:70,&quot;top&quot;:120,&quot;width&quot;:1120}"/>
</p:tagLst>
</file>

<file path=ppt/tags/tag55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56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57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58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59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0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1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2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3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4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5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6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7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8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69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70.xml><?xml version="1.0" encoding="utf-8"?>
<p:tagLst xmlns:p="http://schemas.openxmlformats.org/presentationml/2006/main">
  <p:tag name="KSO_WM_DIAGRAM_VIRTUALLY_FRAME" val="{&quot;height&quot;:505,&quot;left&quot;:70,&quot;top&quot;:120,&quot;width&quot;:1140}"/>
</p:tagLst>
</file>

<file path=ppt/tags/tag71.xml><?xml version="1.0" encoding="utf-8"?>
<p:tagLst xmlns:p="http://schemas.openxmlformats.org/presentationml/2006/main">
  <p:tag name="commondata" val="eyJoZGlkIjoiZjhkZjkzODc3MmQyYWM1ZDM4N2NiM2UzNDA4NDkxOWI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7638</Words>
  <Application>WPS 演示</Application>
  <PresentationFormat>On-screen Show (16:9)</PresentationFormat>
  <Paragraphs>744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Quattrocento Sans</vt:lpstr>
      <vt:lpstr>Segoe Print</vt:lpstr>
      <vt:lpstr>Quattrocento Sans</vt:lpstr>
      <vt:lpstr>Quattrocento Sans</vt:lpstr>
      <vt:lpstr>Liter</vt:lpstr>
      <vt:lpstr>Liter</vt:lpstr>
      <vt:lpstr>Liter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FlowNote 知识-任务闭环协作平台 - 软件工程课程设计项目展示</dc:title>
  <dc:creator>Kimi</dc:creator>
  <dc:subject>FlowNote 知识-任务闭环协作平台 - 软件工程课程设计项目展示</dc:subject>
  <cp:lastModifiedBy>WPS_1730629869</cp:lastModifiedBy>
  <cp:revision>3</cp:revision>
  <dcterms:created xsi:type="dcterms:W3CDTF">2026-07-02T21:58:00Z</dcterms:created>
  <dcterms:modified xsi:type="dcterms:W3CDTF">2026-07-03T07:47:16Z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{"Label":"FlowNote 知识-任务闭环协作平台 - 软件工程课程设计项目展示","ContentProducer":"001191110108MACG2KBH8F10000","ProduceID":"19f24c6e-2792-8925-8000-000057d90737","ReservedCode1":"","ContentPropagator":"001191110108MACG2KBH8F20000","PropagateID":"19f24c47-a0b2-8c54-8000-09781f7c9fc3","ReservedCode2":""}</vt:lpwstr>
  </property>
  <property fmtid="{D5CDD505-2E9C-101B-9397-08002B2CF9AE}" pid="3" name="ICV">
    <vt:lpwstr>7356EDD89ECF4CD0B2A9A9F6F7F9F526_12</vt:lpwstr>
  </property>
  <property fmtid="{D5CDD505-2E9C-101B-9397-08002B2CF9AE}" pid="4" name="KSOProductBuildVer">
    <vt:lpwstr>2052-12.1.0.18276</vt:lpwstr>
  </property>
</Properties>
</file>